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3"/>
  </p:notesMasterIdLst>
  <p:sldIdLst>
    <p:sldId id="256" r:id="rId5"/>
    <p:sldId id="257" r:id="rId6"/>
    <p:sldId id="258" r:id="rId7"/>
    <p:sldId id="259" r:id="rId8"/>
    <p:sldId id="260" r:id="rId9"/>
    <p:sldId id="261" r:id="rId10"/>
    <p:sldId id="262" r:id="rId11"/>
    <p:sldId id="263"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FC2D7C-C3A2-4048-B828-72D981CC0056}" v="82" dt="2025-09-25T05:57:04.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287" autoAdjust="0"/>
  </p:normalViewPr>
  <p:slideViewPr>
    <p:cSldViewPr snapToGrid="0">
      <p:cViewPr varScale="1">
        <p:scale>
          <a:sx n="62" d="100"/>
          <a:sy n="62" d="100"/>
        </p:scale>
        <p:origin x="5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C816A-985C-453E-8E46-C6CB7C5FAF97}" type="datetimeFigureOut">
              <a:rPr kumimoji="1" lang="ja-JP" altLang="en-US" smtClean="0"/>
              <a:t>2026/2/9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36BAD4-4589-4B87-AB98-FEDC7DD506C2}" type="slidenum">
              <a:rPr kumimoji="1" lang="ja-JP" altLang="en-US" smtClean="0"/>
              <a:t>‹#›</a:t>
            </a:fld>
            <a:endParaRPr kumimoji="1" lang="ja-JP" altLang="en-US"/>
          </a:p>
        </p:txBody>
      </p:sp>
    </p:spTree>
    <p:extLst>
      <p:ext uri="{BB962C8B-B14F-4D97-AF65-F5344CB8AC3E}">
        <p14:creationId xmlns:p14="http://schemas.microsoft.com/office/powerpoint/2010/main" val="48535025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1</a:t>
            </a:fld>
            <a:endParaRPr kumimoji="1" lang="ja-JP" altLang="en-US"/>
          </a:p>
        </p:txBody>
      </p:sp>
    </p:spTree>
    <p:extLst>
      <p:ext uri="{BB962C8B-B14F-4D97-AF65-F5344CB8AC3E}">
        <p14:creationId xmlns:p14="http://schemas.microsoft.com/office/powerpoint/2010/main" val="723053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対話履歴を記憶として保持する手法</a:t>
            </a:r>
            <a:endParaRPr kumimoji="1" lang="en-US" altLang="ja-JP" dirty="0"/>
          </a:p>
          <a:p>
            <a:r>
              <a:rPr kumimoji="1" lang="ja-JP" altLang="en-US" dirty="0"/>
              <a:t>単なる参照のためのコンテキストや情報源として</a:t>
            </a:r>
            <a:endParaRPr kumimoji="1" lang="en-US" altLang="ja-JP" dirty="0"/>
          </a:p>
          <a:p>
            <a:endParaRPr kumimoji="1" lang="en-US" altLang="ja-JP" dirty="0"/>
          </a:p>
          <a:p>
            <a:r>
              <a:rPr kumimoji="1" lang="ja-JP" altLang="en-US" dirty="0"/>
              <a:t>対話との関わり：評価として対話を採用する</a:t>
            </a:r>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2</a:t>
            </a:fld>
            <a:endParaRPr kumimoji="1" lang="ja-JP" altLang="en-US"/>
          </a:p>
        </p:txBody>
      </p:sp>
    </p:spTree>
    <p:extLst>
      <p:ext uri="{BB962C8B-B14F-4D97-AF65-F5344CB8AC3E}">
        <p14:creationId xmlns:p14="http://schemas.microsoft.com/office/powerpoint/2010/main" val="2386750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3</a:t>
            </a:fld>
            <a:endParaRPr kumimoji="1" lang="ja-JP" altLang="en-US"/>
          </a:p>
        </p:txBody>
      </p:sp>
    </p:spTree>
    <p:extLst>
      <p:ext uri="{BB962C8B-B14F-4D97-AF65-F5344CB8AC3E}">
        <p14:creationId xmlns:p14="http://schemas.microsoft.com/office/powerpoint/2010/main" val="3427545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図の調整</a:t>
            </a:r>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4</a:t>
            </a:fld>
            <a:endParaRPr kumimoji="1" lang="ja-JP" altLang="en-US"/>
          </a:p>
        </p:txBody>
      </p:sp>
    </p:spTree>
    <p:extLst>
      <p:ext uri="{BB962C8B-B14F-4D97-AF65-F5344CB8AC3E}">
        <p14:creationId xmlns:p14="http://schemas.microsoft.com/office/powerpoint/2010/main" val="499081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プラットフォームを自分で作ったことを口頭で</a:t>
            </a:r>
            <a:endParaRPr kumimoji="1" lang="en-US" altLang="ja-JP" dirty="0"/>
          </a:p>
          <a:p>
            <a:endParaRPr kumimoji="1" lang="en-US" altLang="ja-JP" dirty="0"/>
          </a:p>
          <a:p>
            <a:r>
              <a:rPr kumimoji="1" lang="ja-JP" altLang="en-US" dirty="0"/>
              <a:t>図の文字が読めない→各部分をアニメーションで拡大する</a:t>
            </a:r>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5</a:t>
            </a:fld>
            <a:endParaRPr kumimoji="1" lang="ja-JP" altLang="en-US"/>
          </a:p>
        </p:txBody>
      </p:sp>
    </p:spTree>
    <p:extLst>
      <p:ext uri="{BB962C8B-B14F-4D97-AF65-F5344CB8AC3E}">
        <p14:creationId xmlns:p14="http://schemas.microsoft.com/office/powerpoint/2010/main" val="416737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6</a:t>
            </a:fld>
            <a:endParaRPr kumimoji="1" lang="ja-JP" altLang="en-US"/>
          </a:p>
        </p:txBody>
      </p:sp>
    </p:spTree>
    <p:extLst>
      <p:ext uri="{BB962C8B-B14F-4D97-AF65-F5344CB8AC3E}">
        <p14:creationId xmlns:p14="http://schemas.microsoft.com/office/powerpoint/2010/main" val="3687573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7</a:t>
            </a:fld>
            <a:endParaRPr kumimoji="1" lang="ja-JP" altLang="en-US"/>
          </a:p>
        </p:txBody>
      </p:sp>
    </p:spTree>
    <p:extLst>
      <p:ext uri="{BB962C8B-B14F-4D97-AF65-F5344CB8AC3E}">
        <p14:creationId xmlns:p14="http://schemas.microsoft.com/office/powerpoint/2010/main" val="2529682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036BAD4-4589-4B87-AB98-FEDC7DD506C2}" type="slidenum">
              <a:rPr kumimoji="1" lang="ja-JP" altLang="en-US" smtClean="0"/>
              <a:t>8</a:t>
            </a:fld>
            <a:endParaRPr kumimoji="1" lang="ja-JP" altLang="en-US"/>
          </a:p>
        </p:txBody>
      </p:sp>
    </p:spTree>
    <p:extLst>
      <p:ext uri="{BB962C8B-B14F-4D97-AF65-F5344CB8AC3E}">
        <p14:creationId xmlns:p14="http://schemas.microsoft.com/office/powerpoint/2010/main" val="30230040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9BD08A6-3DC7-4B86-A22D-DA5BDE2F8338}"/>
              </a:ext>
            </a:extLst>
          </p:cNvPr>
          <p:cNvSpPr/>
          <p:nvPr/>
        </p:nvSpPr>
        <p:spPr>
          <a:xfrm>
            <a:off x="0" y="6562165"/>
            <a:ext cx="12192000" cy="295835"/>
          </a:xfrm>
          <a:prstGeom prst="rect">
            <a:avLst/>
          </a:prstGeom>
          <a:gradFill flip="none" rotWithShape="0">
            <a:gsLst>
              <a:gs pos="100000">
                <a:srgbClr val="17288B"/>
              </a:gs>
              <a:gs pos="0">
                <a:srgbClr val="17288B"/>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Picture 2" descr="Gyazo">
            <a:extLst>
              <a:ext uri="{FF2B5EF4-FFF2-40B4-BE49-F238E27FC236}">
                <a16:creationId xmlns:a16="http://schemas.microsoft.com/office/drawing/2014/main" id="{61958B73-D6D1-4195-BCB8-8E45AE0F71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11" y="6570722"/>
            <a:ext cx="990600" cy="287275"/>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AE622875-1F6D-4AFA-8BF2-4E8772BB95F9}"/>
              </a:ext>
            </a:extLst>
          </p:cNvPr>
          <p:cNvSpPr>
            <a:spLocks noGrp="1"/>
          </p:cNvSpPr>
          <p:nvPr>
            <p:ph type="ctrTitle"/>
          </p:nvPr>
        </p:nvSpPr>
        <p:spPr>
          <a:xfrm>
            <a:off x="327003" y="1122363"/>
            <a:ext cx="11511751" cy="2387600"/>
          </a:xfrm>
        </p:spPr>
        <p:txBody>
          <a:bodyPr anchor="b"/>
          <a:lstStyle>
            <a:lvl1pPr algn="ctr">
              <a:defRPr sz="6000">
                <a:latin typeface="Meiryo UI" panose="020B0604030504040204" pitchFamily="50" charset="-128"/>
                <a:ea typeface="Meiryo UI" panose="020B0604030504040204" pitchFamily="50" charset="-128"/>
              </a:defRPr>
            </a:lvl1pPr>
          </a:lstStyle>
          <a:p>
            <a:r>
              <a:rPr kumimoji="1" lang="ja-JP" altLang="en-US"/>
              <a:t>マスター タイトルの書式設定</a:t>
            </a:r>
            <a:endParaRPr kumimoji="1" lang="ja-JP" altLang="en-US" dirty="0"/>
          </a:p>
        </p:txBody>
      </p:sp>
      <p:sp>
        <p:nvSpPr>
          <p:cNvPr id="3" name="字幕 2">
            <a:extLst>
              <a:ext uri="{FF2B5EF4-FFF2-40B4-BE49-F238E27FC236}">
                <a16:creationId xmlns:a16="http://schemas.microsoft.com/office/drawing/2014/main" id="{D9340C12-2351-4D18-B45E-A9D2CB26D53A}"/>
              </a:ext>
            </a:extLst>
          </p:cNvPr>
          <p:cNvSpPr>
            <a:spLocks noGrp="1"/>
          </p:cNvSpPr>
          <p:nvPr>
            <p:ph type="subTitle" idx="1"/>
          </p:nvPr>
        </p:nvSpPr>
        <p:spPr>
          <a:xfrm>
            <a:off x="327002" y="3602038"/>
            <a:ext cx="11511751" cy="1655762"/>
          </a:xfrm>
        </p:spPr>
        <p:txBody>
          <a:bodyPr/>
          <a:lstStyle>
            <a:lvl1pPr marL="0" indent="0" algn="ctr">
              <a:buNone/>
              <a:defRPr sz="2400">
                <a:latin typeface="Meiryo UI" panose="020B0604030504040204" pitchFamily="50" charset="-128"/>
                <a:ea typeface="Meiryo UI"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sp>
        <p:nvSpPr>
          <p:cNvPr id="4" name="日付プレースホルダー 3">
            <a:extLst>
              <a:ext uri="{FF2B5EF4-FFF2-40B4-BE49-F238E27FC236}">
                <a16:creationId xmlns:a16="http://schemas.microsoft.com/office/drawing/2014/main" id="{9527CE73-2BF9-4445-BE2E-964541A96B15}"/>
              </a:ext>
            </a:extLst>
          </p:cNvPr>
          <p:cNvSpPr>
            <a:spLocks noGrp="1"/>
          </p:cNvSpPr>
          <p:nvPr>
            <p:ph type="dt" sz="half" idx="10"/>
          </p:nvPr>
        </p:nvSpPr>
        <p:spPr>
          <a:xfrm>
            <a:off x="1465727" y="6570722"/>
            <a:ext cx="2743200" cy="267102"/>
          </a:xfrm>
        </p:spPr>
        <p:txBody>
          <a:bodyPr/>
          <a:lstStyle>
            <a:lvl1pPr>
              <a:defRPr b="1">
                <a:latin typeface="Meiryo UI" panose="020B0604030504040204" pitchFamily="50" charset="-128"/>
                <a:ea typeface="Meiryo UI" panose="020B0604030504040204" pitchFamily="50" charset="-128"/>
              </a:defRPr>
            </a:lvl1pPr>
          </a:lstStyle>
          <a:p>
            <a:fld id="{F54E7575-5197-4C8E-A84E-65BBD50DEE3D}" type="datetimeFigureOut">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5C99E976-C036-4871-83C8-78508CCA9D3E}"/>
              </a:ext>
            </a:extLst>
          </p:cNvPr>
          <p:cNvSpPr>
            <a:spLocks noGrp="1"/>
          </p:cNvSpPr>
          <p:nvPr>
            <p:ph type="ftr" sz="quarter" idx="11"/>
          </p:nvPr>
        </p:nvSpPr>
        <p:spPr>
          <a:xfrm>
            <a:off x="4038600" y="6570722"/>
            <a:ext cx="4114800" cy="267102"/>
          </a:xfrm>
        </p:spPr>
        <p:txBody>
          <a:bodyPr/>
          <a:lstStyle>
            <a:lvl1pPr>
              <a:defRPr>
                <a:latin typeface="Meiryo UI" panose="020B0604030504040204" pitchFamily="50" charset="-128"/>
                <a:ea typeface="Meiryo UI" panose="020B0604030504040204" pitchFamily="50" charset="-128"/>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B431113-BD5D-40B4-850A-C007E7B6FBBE}"/>
              </a:ext>
            </a:extLst>
          </p:cNvPr>
          <p:cNvSpPr>
            <a:spLocks noGrp="1"/>
          </p:cNvSpPr>
          <p:nvPr>
            <p:ph type="sldNum" sz="quarter" idx="12"/>
          </p:nvPr>
        </p:nvSpPr>
        <p:spPr>
          <a:xfrm>
            <a:off x="9034183" y="6570722"/>
            <a:ext cx="2743200" cy="261410"/>
          </a:xfrm>
        </p:spPr>
        <p:txBody>
          <a:bodyPr/>
          <a:lstStyle>
            <a:lvl1pPr>
              <a:defRPr sz="1600" b="1">
                <a:solidFill>
                  <a:schemeClr val="bg1"/>
                </a:solidFill>
                <a:latin typeface="Meiryo UI" panose="020B0604030504040204" pitchFamily="50" charset="-128"/>
                <a:ea typeface="Meiryo UI" panose="020B0604030504040204" pitchFamily="50" charset="-128"/>
              </a:defRPr>
            </a:lvl1pPr>
          </a:lstStyle>
          <a:p>
            <a:fld id="{7EB49AB5-66C2-45C0-AA2E-C6D687269C23}" type="slidenum">
              <a:rPr kumimoji="1" lang="ja-JP" altLang="en-US" smtClean="0"/>
              <a:t>‹#›</a:t>
            </a:fld>
            <a:endParaRPr kumimoji="1" lang="ja-JP" altLang="en-US"/>
          </a:p>
        </p:txBody>
      </p:sp>
      <p:pic>
        <p:nvPicPr>
          <p:cNvPr id="13" name="図 12">
            <a:extLst>
              <a:ext uri="{FF2B5EF4-FFF2-40B4-BE49-F238E27FC236}">
                <a16:creationId xmlns:a16="http://schemas.microsoft.com/office/drawing/2014/main" id="{5E5889AD-9EE8-44CC-8BBF-102604EF7039}"/>
              </a:ext>
            </a:extLst>
          </p:cNvPr>
          <p:cNvPicPr>
            <a:picLocks noChangeAspect="1"/>
          </p:cNvPicPr>
          <p:nvPr/>
        </p:nvPicPr>
        <p:blipFill>
          <a:blip r:embed="rId3"/>
          <a:stretch>
            <a:fillRect/>
          </a:stretch>
        </p:blipFill>
        <p:spPr>
          <a:xfrm>
            <a:off x="10284995" y="25868"/>
            <a:ext cx="1852863" cy="1207631"/>
          </a:xfrm>
          <a:prstGeom prst="rect">
            <a:avLst/>
          </a:prstGeom>
        </p:spPr>
      </p:pic>
    </p:spTree>
    <p:extLst>
      <p:ext uri="{BB962C8B-B14F-4D97-AF65-F5344CB8AC3E}">
        <p14:creationId xmlns:p14="http://schemas.microsoft.com/office/powerpoint/2010/main" val="304655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9ABA5A-5CF8-42B8-B062-27110EF1E54B}"/>
              </a:ext>
            </a:extLst>
          </p:cNvPr>
          <p:cNvSpPr>
            <a:spLocks noGrp="1"/>
          </p:cNvSpPr>
          <p:nvPr>
            <p:ph type="title"/>
          </p:nvPr>
        </p:nvSpPr>
        <p:spPr>
          <a:xfrm>
            <a:off x="339115" y="240632"/>
            <a:ext cx="10076567" cy="1056356"/>
          </a:xfrm>
        </p:spPr>
        <p:txBody>
          <a:bodyPr>
            <a:normAutofit/>
          </a:bodyPr>
          <a:lstStyle>
            <a:lvl1pPr>
              <a:defRPr sz="5400">
                <a:latin typeface="Meiryo UI" panose="020B0604030504040204" pitchFamily="50" charset="-128"/>
                <a:ea typeface="Meiryo UI" panose="020B0604030504040204" pitchFamily="50" charset="-128"/>
              </a:defRPr>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906F8E98-64BD-4BE3-B1C8-DA3039D5D662}"/>
              </a:ext>
            </a:extLst>
          </p:cNvPr>
          <p:cNvSpPr>
            <a:spLocks noGrp="1"/>
          </p:cNvSpPr>
          <p:nvPr>
            <p:ph idx="1"/>
          </p:nvPr>
        </p:nvSpPr>
        <p:spPr>
          <a:xfrm>
            <a:off x="339115" y="1452311"/>
            <a:ext cx="11505696" cy="4996933"/>
          </a:xfrm>
        </p:spPr>
        <p:txBody>
          <a:bodyPr>
            <a:normAutofit/>
          </a:bodyPr>
          <a:lstStyle>
            <a:lvl1pPr>
              <a:defRPr sz="4000">
                <a:latin typeface="Meiryo UI" panose="020B0604030504040204" pitchFamily="50" charset="-128"/>
                <a:ea typeface="Meiryo UI" panose="020B0604030504040204" pitchFamily="50" charset="-128"/>
              </a:defRPr>
            </a:lvl1pPr>
            <a:lvl2pPr>
              <a:defRPr sz="3600">
                <a:latin typeface="Meiryo UI" panose="020B0604030504040204" pitchFamily="50" charset="-128"/>
                <a:ea typeface="Meiryo UI" panose="020B0604030504040204" pitchFamily="50" charset="-128"/>
              </a:defRPr>
            </a:lvl2pPr>
            <a:lvl3pPr>
              <a:defRPr sz="3200">
                <a:latin typeface="Meiryo UI" panose="020B0604030504040204" pitchFamily="50" charset="-128"/>
                <a:ea typeface="Meiryo UI" panose="020B0604030504040204" pitchFamily="50" charset="-128"/>
              </a:defRPr>
            </a:lvl3pPr>
            <a:lvl4pPr>
              <a:defRPr sz="2800">
                <a:latin typeface="Meiryo UI" panose="020B0604030504040204" pitchFamily="50" charset="-128"/>
                <a:ea typeface="Meiryo UI" panose="020B0604030504040204" pitchFamily="50" charset="-128"/>
              </a:defRPr>
            </a:lvl4pPr>
            <a:lvl5pPr>
              <a:defRPr sz="2800">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16" name="正方形/長方形 15">
            <a:extLst>
              <a:ext uri="{FF2B5EF4-FFF2-40B4-BE49-F238E27FC236}">
                <a16:creationId xmlns:a16="http://schemas.microsoft.com/office/drawing/2014/main" id="{C1C9AB56-BE8E-4858-BC71-5EC7BD9DB829}"/>
              </a:ext>
            </a:extLst>
          </p:cNvPr>
          <p:cNvSpPr/>
          <p:nvPr/>
        </p:nvSpPr>
        <p:spPr>
          <a:xfrm>
            <a:off x="0" y="6562165"/>
            <a:ext cx="12192000" cy="295835"/>
          </a:xfrm>
          <a:prstGeom prst="rect">
            <a:avLst/>
          </a:prstGeom>
          <a:gradFill flip="none" rotWithShape="0">
            <a:gsLst>
              <a:gs pos="100000">
                <a:srgbClr val="17288B"/>
              </a:gs>
              <a:gs pos="0">
                <a:srgbClr val="17288B"/>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Picture 2" descr="Gyazo">
            <a:extLst>
              <a:ext uri="{FF2B5EF4-FFF2-40B4-BE49-F238E27FC236}">
                <a16:creationId xmlns:a16="http://schemas.microsoft.com/office/drawing/2014/main" id="{B8CA2174-6BBE-4F47-8153-6EF27805F0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511" y="6570722"/>
            <a:ext cx="990600" cy="287275"/>
          </a:xfrm>
          <a:prstGeom prst="rect">
            <a:avLst/>
          </a:prstGeom>
          <a:noFill/>
          <a:extLst>
            <a:ext uri="{909E8E84-426E-40DD-AFC4-6F175D3DCCD1}">
              <a14:hiddenFill xmlns:a14="http://schemas.microsoft.com/office/drawing/2010/main">
                <a:solidFill>
                  <a:srgbClr val="FFFFFF"/>
                </a:solidFill>
              </a14:hiddenFill>
            </a:ext>
          </a:extLst>
        </p:spPr>
      </p:pic>
      <p:sp>
        <p:nvSpPr>
          <p:cNvPr id="18" name="日付プレースホルダー 3">
            <a:extLst>
              <a:ext uri="{FF2B5EF4-FFF2-40B4-BE49-F238E27FC236}">
                <a16:creationId xmlns:a16="http://schemas.microsoft.com/office/drawing/2014/main" id="{C4FF6A33-1017-49C0-A8C3-AC032D956D14}"/>
              </a:ext>
            </a:extLst>
          </p:cNvPr>
          <p:cNvSpPr>
            <a:spLocks noGrp="1"/>
          </p:cNvSpPr>
          <p:nvPr>
            <p:ph type="dt" sz="half" idx="10"/>
          </p:nvPr>
        </p:nvSpPr>
        <p:spPr>
          <a:xfrm>
            <a:off x="1465727" y="6570722"/>
            <a:ext cx="2743200" cy="267102"/>
          </a:xfrm>
        </p:spPr>
        <p:txBody>
          <a:bodyPr/>
          <a:lstStyle>
            <a:lvl1pPr>
              <a:defRPr>
                <a:latin typeface="Meiryo UI" panose="020B0604030504040204" pitchFamily="50" charset="-128"/>
                <a:ea typeface="Meiryo UI" panose="020B0604030504040204" pitchFamily="50" charset="-128"/>
              </a:defRPr>
            </a:lvl1pPr>
          </a:lstStyle>
          <a:p>
            <a:fld id="{F54E7575-5197-4C8E-A84E-65BBD50DEE3D}" type="datetimeFigureOut">
              <a:rPr kumimoji="1" lang="ja-JP" altLang="en-US" smtClean="0"/>
              <a:t>2026/2/9</a:t>
            </a:fld>
            <a:endParaRPr kumimoji="1" lang="ja-JP" altLang="en-US"/>
          </a:p>
        </p:txBody>
      </p:sp>
      <p:sp>
        <p:nvSpPr>
          <p:cNvPr id="19" name="フッター プレースホルダー 4">
            <a:extLst>
              <a:ext uri="{FF2B5EF4-FFF2-40B4-BE49-F238E27FC236}">
                <a16:creationId xmlns:a16="http://schemas.microsoft.com/office/drawing/2014/main" id="{04FC0C14-8205-426E-B5D6-ED4E719E62DE}"/>
              </a:ext>
            </a:extLst>
          </p:cNvPr>
          <p:cNvSpPr>
            <a:spLocks noGrp="1"/>
          </p:cNvSpPr>
          <p:nvPr>
            <p:ph type="ftr" sz="quarter" idx="11"/>
          </p:nvPr>
        </p:nvSpPr>
        <p:spPr>
          <a:xfrm>
            <a:off x="4038600" y="6570722"/>
            <a:ext cx="4114800" cy="267102"/>
          </a:xfrm>
        </p:spPr>
        <p:txBody>
          <a:bodyPr/>
          <a:lstStyle>
            <a:lvl1pPr>
              <a:defRPr>
                <a:latin typeface="Meiryo UI" panose="020B0604030504040204" pitchFamily="50" charset="-128"/>
                <a:ea typeface="Meiryo UI" panose="020B0604030504040204" pitchFamily="50" charset="-128"/>
              </a:defRPr>
            </a:lvl1pPr>
          </a:lstStyle>
          <a:p>
            <a:endParaRPr kumimoji="1" lang="ja-JP" altLang="en-US"/>
          </a:p>
        </p:txBody>
      </p:sp>
      <p:sp>
        <p:nvSpPr>
          <p:cNvPr id="20" name="スライド番号プレースホルダー 5">
            <a:extLst>
              <a:ext uri="{FF2B5EF4-FFF2-40B4-BE49-F238E27FC236}">
                <a16:creationId xmlns:a16="http://schemas.microsoft.com/office/drawing/2014/main" id="{FE598626-9D15-484A-82CB-81E752D26A7A}"/>
              </a:ext>
            </a:extLst>
          </p:cNvPr>
          <p:cNvSpPr>
            <a:spLocks noGrp="1"/>
          </p:cNvSpPr>
          <p:nvPr>
            <p:ph type="sldNum" sz="quarter" idx="12"/>
          </p:nvPr>
        </p:nvSpPr>
        <p:spPr>
          <a:xfrm>
            <a:off x="9034183" y="6570722"/>
            <a:ext cx="2743200" cy="261410"/>
          </a:xfrm>
        </p:spPr>
        <p:txBody>
          <a:bodyPr/>
          <a:lstStyle>
            <a:lvl1pPr>
              <a:defRPr sz="1600" b="1">
                <a:solidFill>
                  <a:schemeClr val="bg1"/>
                </a:solidFill>
                <a:latin typeface="Meiryo UI" panose="020B0604030504040204" pitchFamily="50" charset="-128"/>
                <a:ea typeface="Meiryo UI" panose="020B0604030504040204" pitchFamily="50" charset="-128"/>
              </a:defRPr>
            </a:lvl1pPr>
          </a:lstStyle>
          <a:p>
            <a:fld id="{7EB49AB5-66C2-45C0-AA2E-C6D687269C23}" type="slidenum">
              <a:rPr kumimoji="1" lang="ja-JP" altLang="en-US" smtClean="0"/>
              <a:t>‹#›</a:t>
            </a:fld>
            <a:endParaRPr kumimoji="1" lang="ja-JP" altLang="en-US"/>
          </a:p>
        </p:txBody>
      </p:sp>
      <p:pic>
        <p:nvPicPr>
          <p:cNvPr id="10" name="図 9">
            <a:extLst>
              <a:ext uri="{FF2B5EF4-FFF2-40B4-BE49-F238E27FC236}">
                <a16:creationId xmlns:a16="http://schemas.microsoft.com/office/drawing/2014/main" id="{E311C820-9D15-4F60-A78B-93ACFB774C43}"/>
              </a:ext>
            </a:extLst>
          </p:cNvPr>
          <p:cNvPicPr>
            <a:picLocks noChangeAspect="1"/>
          </p:cNvPicPr>
          <p:nvPr/>
        </p:nvPicPr>
        <p:blipFill>
          <a:blip r:embed="rId3"/>
          <a:stretch>
            <a:fillRect/>
          </a:stretch>
        </p:blipFill>
        <p:spPr>
          <a:xfrm>
            <a:off x="10284995" y="25868"/>
            <a:ext cx="1852863" cy="1207631"/>
          </a:xfrm>
          <a:prstGeom prst="rect">
            <a:avLst/>
          </a:prstGeom>
        </p:spPr>
      </p:pic>
    </p:spTree>
    <p:extLst>
      <p:ext uri="{BB962C8B-B14F-4D97-AF65-F5344CB8AC3E}">
        <p14:creationId xmlns:p14="http://schemas.microsoft.com/office/powerpoint/2010/main" val="2432873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C71F756-6231-4B0A-BF98-A1BAA929208E}"/>
              </a:ext>
            </a:extLst>
          </p:cNvPr>
          <p:cNvSpPr/>
          <p:nvPr/>
        </p:nvSpPr>
        <p:spPr>
          <a:xfrm>
            <a:off x="0" y="6548718"/>
            <a:ext cx="12192000" cy="309282"/>
          </a:xfrm>
          <a:prstGeom prst="rect">
            <a:avLst/>
          </a:prstGeom>
          <a:gradFill flip="none" rotWithShape="0">
            <a:gsLst>
              <a:gs pos="20000">
                <a:srgbClr val="17288B"/>
              </a:gs>
              <a:gs pos="0">
                <a:srgbClr val="17288B"/>
              </a:gs>
              <a:gs pos="77000">
                <a:schemeClr val="bg1"/>
              </a:gs>
              <a:gs pos="100000">
                <a:schemeClr val="bg1"/>
              </a:gs>
            </a:gsLst>
            <a:lin ang="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Picture 2" descr="Gyazo">
            <a:extLst>
              <a:ext uri="{FF2B5EF4-FFF2-40B4-BE49-F238E27FC236}">
                <a16:creationId xmlns:a16="http://schemas.microsoft.com/office/drawing/2014/main" id="{A466F816-C2F1-4D80-859E-8CD2D600E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28" y="6551876"/>
            <a:ext cx="1055595" cy="306123"/>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a:extLst>
              <a:ext uri="{FF2B5EF4-FFF2-40B4-BE49-F238E27FC236}">
                <a16:creationId xmlns:a16="http://schemas.microsoft.com/office/drawing/2014/main" id="{5DC6011C-4F49-4D2B-B5B6-A8AF752FEBF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3CADA4E-7535-4AEC-AC01-3FFFC55D7C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00466EF-1EAD-473D-B993-03C8DD265CF1}"/>
              </a:ext>
            </a:extLst>
          </p:cNvPr>
          <p:cNvSpPr>
            <a:spLocks noGrp="1"/>
          </p:cNvSpPr>
          <p:nvPr>
            <p:ph type="dt" sz="half" idx="10"/>
          </p:nvPr>
        </p:nvSpPr>
        <p:spPr/>
        <p:txBody>
          <a:bodyPr/>
          <a:lstStyle/>
          <a:p>
            <a:fld id="{F54E7575-5197-4C8E-A84E-65BBD50DEE3D}" type="datetimeFigureOut">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8A1CB5FC-8E55-4016-9031-E9C5BD2FE26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5E4BFB5-C330-4F85-91FA-26429CF52F62}"/>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3549340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7BDBC1-6043-4282-816C-8FE0E1F3CB0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D46D79A-7BA4-4A81-85DC-37E7EF5688C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DF45481-83B8-4645-8BE6-0B2D7448B89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8674C95-AA2F-423D-A104-52AF04165B6B}"/>
              </a:ext>
            </a:extLst>
          </p:cNvPr>
          <p:cNvSpPr>
            <a:spLocks noGrp="1"/>
          </p:cNvSpPr>
          <p:nvPr>
            <p:ph type="dt" sz="half" idx="10"/>
          </p:nvPr>
        </p:nvSpPr>
        <p:spPr/>
        <p:txBody>
          <a:bodyPr/>
          <a:lstStyle/>
          <a:p>
            <a:fld id="{F54E7575-5197-4C8E-A84E-65BBD50DEE3D}" type="datetimeFigureOut">
              <a:rPr kumimoji="1" lang="ja-JP" altLang="en-US" smtClean="0"/>
              <a:t>2026/2/9</a:t>
            </a:fld>
            <a:endParaRPr kumimoji="1" lang="ja-JP" altLang="en-US"/>
          </a:p>
        </p:txBody>
      </p:sp>
      <p:sp>
        <p:nvSpPr>
          <p:cNvPr id="6" name="フッター プレースホルダー 5">
            <a:extLst>
              <a:ext uri="{FF2B5EF4-FFF2-40B4-BE49-F238E27FC236}">
                <a16:creationId xmlns:a16="http://schemas.microsoft.com/office/drawing/2014/main" id="{0ADEA436-5CC6-47B7-ACE9-2074150C1B1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E848BA6-E7B2-4153-B549-DD1B6DCFB5F4}"/>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3110637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CBC86A-FBF0-46DB-914F-E2D9407A6BA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E8BAB87-D992-4B98-AC59-9C5C3EA31C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99BB824-4B3C-4662-ACE2-0A423E280BF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FDCBE0F-F76E-4B43-9C39-F6609B2DCE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7F629D0-B0B8-423A-A928-6DC562BCA42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E756AB2-62EB-4290-977A-C16848AF43E0}"/>
              </a:ext>
            </a:extLst>
          </p:cNvPr>
          <p:cNvSpPr>
            <a:spLocks noGrp="1"/>
          </p:cNvSpPr>
          <p:nvPr>
            <p:ph type="dt" sz="half" idx="10"/>
          </p:nvPr>
        </p:nvSpPr>
        <p:spPr/>
        <p:txBody>
          <a:bodyPr/>
          <a:lstStyle/>
          <a:p>
            <a:fld id="{F54E7575-5197-4C8E-A84E-65BBD50DEE3D}" type="datetimeFigureOut">
              <a:rPr kumimoji="1" lang="ja-JP" altLang="en-US" smtClean="0"/>
              <a:t>2026/2/9</a:t>
            </a:fld>
            <a:endParaRPr kumimoji="1" lang="ja-JP" altLang="en-US"/>
          </a:p>
        </p:txBody>
      </p:sp>
      <p:sp>
        <p:nvSpPr>
          <p:cNvPr id="8" name="フッター プレースホルダー 7">
            <a:extLst>
              <a:ext uri="{FF2B5EF4-FFF2-40B4-BE49-F238E27FC236}">
                <a16:creationId xmlns:a16="http://schemas.microsoft.com/office/drawing/2014/main" id="{B53EC815-12EE-4FF3-8CCC-F52A10510B2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602B5DF-BECF-4BDC-8093-BD4FA55A46AE}"/>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314018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C820B73-56FD-491B-BB98-1A9E2BBEFE5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5DCBBF5-0A8F-4CB9-A1EE-A3DCE5E4439F}"/>
              </a:ext>
            </a:extLst>
          </p:cNvPr>
          <p:cNvSpPr>
            <a:spLocks noGrp="1"/>
          </p:cNvSpPr>
          <p:nvPr>
            <p:ph type="dt" sz="half" idx="10"/>
          </p:nvPr>
        </p:nvSpPr>
        <p:spPr/>
        <p:txBody>
          <a:bodyPr/>
          <a:lstStyle/>
          <a:p>
            <a:fld id="{F54E7575-5197-4C8E-A84E-65BBD50DEE3D}" type="datetimeFigureOut">
              <a:rPr kumimoji="1" lang="ja-JP" altLang="en-US" smtClean="0"/>
              <a:t>2026/2/9</a:t>
            </a:fld>
            <a:endParaRPr kumimoji="1" lang="ja-JP" altLang="en-US"/>
          </a:p>
        </p:txBody>
      </p:sp>
      <p:sp>
        <p:nvSpPr>
          <p:cNvPr id="4" name="フッター プレースホルダー 3">
            <a:extLst>
              <a:ext uri="{FF2B5EF4-FFF2-40B4-BE49-F238E27FC236}">
                <a16:creationId xmlns:a16="http://schemas.microsoft.com/office/drawing/2014/main" id="{CCC3576D-B990-45E7-989D-8DFB2332E29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AAD170B-A3A8-41E3-A94E-29096FE45BDD}"/>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3707850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F3F6C20-44B1-438E-9432-7A38F15DF9A1}"/>
              </a:ext>
            </a:extLst>
          </p:cNvPr>
          <p:cNvSpPr>
            <a:spLocks noGrp="1"/>
          </p:cNvSpPr>
          <p:nvPr>
            <p:ph type="dt" sz="half" idx="10"/>
          </p:nvPr>
        </p:nvSpPr>
        <p:spPr/>
        <p:txBody>
          <a:bodyPr/>
          <a:lstStyle/>
          <a:p>
            <a:fld id="{F54E7575-5197-4C8E-A84E-65BBD50DEE3D}" type="datetimeFigureOut">
              <a:rPr kumimoji="1" lang="ja-JP" altLang="en-US" smtClean="0"/>
              <a:t>2026/2/9</a:t>
            </a:fld>
            <a:endParaRPr kumimoji="1" lang="ja-JP" altLang="en-US"/>
          </a:p>
        </p:txBody>
      </p:sp>
      <p:sp>
        <p:nvSpPr>
          <p:cNvPr id="3" name="フッター プレースホルダー 2">
            <a:extLst>
              <a:ext uri="{FF2B5EF4-FFF2-40B4-BE49-F238E27FC236}">
                <a16:creationId xmlns:a16="http://schemas.microsoft.com/office/drawing/2014/main" id="{810706DE-A2CE-4A65-A6B9-4C745E71290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AA22529-6E7E-4B52-B4F8-CE0CB74C1C33}"/>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681179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92662B-416E-4438-88DB-AE9FC71DF73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7E0F11D-255A-45FD-9EE9-D255B90DAE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273D100-C6F1-4427-AEC6-E7BDF31CB7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F2DD054-4E2B-4A19-A4C5-DB522263F89F}"/>
              </a:ext>
            </a:extLst>
          </p:cNvPr>
          <p:cNvSpPr>
            <a:spLocks noGrp="1"/>
          </p:cNvSpPr>
          <p:nvPr>
            <p:ph type="dt" sz="half" idx="10"/>
          </p:nvPr>
        </p:nvSpPr>
        <p:spPr/>
        <p:txBody>
          <a:bodyPr/>
          <a:lstStyle/>
          <a:p>
            <a:fld id="{F54E7575-5197-4C8E-A84E-65BBD50DEE3D}" type="datetimeFigureOut">
              <a:rPr kumimoji="1" lang="ja-JP" altLang="en-US" smtClean="0"/>
              <a:t>2026/2/9</a:t>
            </a:fld>
            <a:endParaRPr kumimoji="1" lang="ja-JP" altLang="en-US"/>
          </a:p>
        </p:txBody>
      </p:sp>
      <p:sp>
        <p:nvSpPr>
          <p:cNvPr id="6" name="フッター プレースホルダー 5">
            <a:extLst>
              <a:ext uri="{FF2B5EF4-FFF2-40B4-BE49-F238E27FC236}">
                <a16:creationId xmlns:a16="http://schemas.microsoft.com/office/drawing/2014/main" id="{49C16000-C49D-4D17-A0EC-8BB3A1749C2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BA934FC-CB11-4DA9-BBC5-F2EB31F703DA}"/>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4232469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82DC6E-BB03-4CF2-BC25-0EFEB858716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67669F5-D3C0-474E-B12B-AA87BCD717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85E1667E-14E1-4AB7-ACBA-087EB401E6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5F31BAF-F8F5-4E72-932C-A66A53C8ABB4}"/>
              </a:ext>
            </a:extLst>
          </p:cNvPr>
          <p:cNvSpPr>
            <a:spLocks noGrp="1"/>
          </p:cNvSpPr>
          <p:nvPr>
            <p:ph type="dt" sz="half" idx="10"/>
          </p:nvPr>
        </p:nvSpPr>
        <p:spPr/>
        <p:txBody>
          <a:bodyPr/>
          <a:lstStyle/>
          <a:p>
            <a:fld id="{F54E7575-5197-4C8E-A84E-65BBD50DEE3D}" type="datetimeFigureOut">
              <a:rPr kumimoji="1" lang="ja-JP" altLang="en-US" smtClean="0"/>
              <a:t>2026/2/9</a:t>
            </a:fld>
            <a:endParaRPr kumimoji="1" lang="ja-JP" altLang="en-US"/>
          </a:p>
        </p:txBody>
      </p:sp>
      <p:sp>
        <p:nvSpPr>
          <p:cNvPr id="6" name="フッター プレースホルダー 5">
            <a:extLst>
              <a:ext uri="{FF2B5EF4-FFF2-40B4-BE49-F238E27FC236}">
                <a16:creationId xmlns:a16="http://schemas.microsoft.com/office/drawing/2014/main" id="{17062473-FCC1-4D2A-837F-6E0B00C8CAB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1466D37-59E1-456A-B066-8601A7A30EA6}"/>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51464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01E4A8-0ACA-4962-A552-EE6BA8E7E71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ADBEF6F-014C-4D06-9CF1-1A8C3D767F3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F59B114-49B2-488F-A43B-E6CC11D229BA}"/>
              </a:ext>
            </a:extLst>
          </p:cNvPr>
          <p:cNvSpPr>
            <a:spLocks noGrp="1"/>
          </p:cNvSpPr>
          <p:nvPr>
            <p:ph type="dt" sz="half" idx="10"/>
          </p:nvPr>
        </p:nvSpPr>
        <p:spPr/>
        <p:txBody>
          <a:bodyPr/>
          <a:lstStyle/>
          <a:p>
            <a:fld id="{F54E7575-5197-4C8E-A84E-65BBD50DEE3D}" type="datetimeFigureOut">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F861D3DF-4D05-460F-B77D-5B7D725F3F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C9C7E01-4C4C-4AA4-848A-DBB9727A156A}"/>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2750704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634F9E5-C727-422B-BF89-5C4FE7707DD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4A7967B-F814-4A6F-B7AA-200F57BEC3F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95991A6-CBCF-4915-9032-0E9AB7301375}"/>
              </a:ext>
            </a:extLst>
          </p:cNvPr>
          <p:cNvSpPr>
            <a:spLocks noGrp="1"/>
          </p:cNvSpPr>
          <p:nvPr>
            <p:ph type="dt" sz="half" idx="10"/>
          </p:nvPr>
        </p:nvSpPr>
        <p:spPr/>
        <p:txBody>
          <a:bodyPr/>
          <a:lstStyle/>
          <a:p>
            <a:fld id="{F54E7575-5197-4C8E-A84E-65BBD50DEE3D}" type="datetimeFigureOut">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65BEB774-743E-44E9-B23E-3763F0330C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2E2F836-B7D9-4D72-877E-3635EAB4B3C6}"/>
              </a:ext>
            </a:extLst>
          </p:cNvPr>
          <p:cNvSpPr>
            <a:spLocks noGrp="1"/>
          </p:cNvSpPr>
          <p:nvPr>
            <p:ph type="sldNum" sz="quarter" idx="12"/>
          </p:nvPr>
        </p:nvSpPr>
        <p:spPr/>
        <p:txBody>
          <a:body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2952078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62A4216-ACD2-4CD9-95AF-4E4D992354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5DF8D1E-75FE-4E20-B6A1-B7E8345983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92AEE8A-122A-4F13-8FC3-DDC4BB9D4E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eiryo UI" panose="020B0604030504040204" pitchFamily="50" charset="-128"/>
                <a:ea typeface="Meiryo UI" panose="020B0604030504040204" pitchFamily="50" charset="-128"/>
              </a:defRPr>
            </a:lvl1pPr>
          </a:lstStyle>
          <a:p>
            <a:fld id="{F54E7575-5197-4C8E-A84E-65BBD50DEE3D}" type="datetimeFigureOut">
              <a:rPr kumimoji="1" lang="ja-JP" altLang="en-US" smtClean="0"/>
              <a:t>2026/2/9</a:t>
            </a:fld>
            <a:endParaRPr kumimoji="1" lang="ja-JP" altLang="en-US"/>
          </a:p>
        </p:txBody>
      </p:sp>
      <p:sp>
        <p:nvSpPr>
          <p:cNvPr id="5" name="フッター プレースホルダー 4">
            <a:extLst>
              <a:ext uri="{FF2B5EF4-FFF2-40B4-BE49-F238E27FC236}">
                <a16:creationId xmlns:a16="http://schemas.microsoft.com/office/drawing/2014/main" id="{9EFC47F7-7376-4565-9515-513F652181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eiryo UI" panose="020B0604030504040204" pitchFamily="50" charset="-128"/>
                <a:ea typeface="Meiryo UI" panose="020B0604030504040204" pitchFamily="50" charset="-128"/>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7F9B4A-FEF6-41FC-A212-626E8A396B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eiryo UI" panose="020B0604030504040204" pitchFamily="50" charset="-128"/>
                <a:ea typeface="Meiryo UI" panose="020B0604030504040204" pitchFamily="50" charset="-128"/>
              </a:defRPr>
            </a:lvl1pPr>
          </a:lstStyle>
          <a:p>
            <a:fld id="{7EB49AB5-66C2-45C0-AA2E-C6D687269C23}" type="slidenum">
              <a:rPr kumimoji="1" lang="ja-JP" altLang="en-US" smtClean="0"/>
              <a:t>‹#›</a:t>
            </a:fld>
            <a:endParaRPr kumimoji="1" lang="ja-JP" altLang="en-US"/>
          </a:p>
        </p:txBody>
      </p:sp>
    </p:spTree>
    <p:extLst>
      <p:ext uri="{BB962C8B-B14F-4D97-AF65-F5344CB8AC3E}">
        <p14:creationId xmlns:p14="http://schemas.microsoft.com/office/powerpoint/2010/main" val="3230353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5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36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BF46E8-5FB7-77D3-A1B7-97F0F33C413A}"/>
              </a:ext>
            </a:extLst>
          </p:cNvPr>
          <p:cNvSpPr>
            <a:spLocks noGrp="1"/>
          </p:cNvSpPr>
          <p:nvPr>
            <p:ph type="ctrTitle"/>
          </p:nvPr>
        </p:nvSpPr>
        <p:spPr/>
        <p:txBody>
          <a:bodyPr>
            <a:normAutofit/>
          </a:bodyPr>
          <a:lstStyle/>
          <a:p>
            <a:r>
              <a:rPr lang="ja-JP" altLang="en-US" b="1" dirty="0"/>
              <a:t>人生体験の物語を与えることで</a:t>
            </a:r>
            <a:r>
              <a:rPr lang="en-US" altLang="ja-JP" b="1" dirty="0"/>
              <a:t>LLM</a:t>
            </a:r>
            <a:r>
              <a:rPr lang="ja-JP" altLang="en-US" b="1" dirty="0"/>
              <a:t>に主観や性格は生まれるか</a:t>
            </a:r>
            <a:endParaRPr kumimoji="1" lang="ja-JP" altLang="en-US" b="1" dirty="0"/>
          </a:p>
        </p:txBody>
      </p:sp>
      <p:sp>
        <p:nvSpPr>
          <p:cNvPr id="3" name="字幕 2">
            <a:extLst>
              <a:ext uri="{FF2B5EF4-FFF2-40B4-BE49-F238E27FC236}">
                <a16:creationId xmlns:a16="http://schemas.microsoft.com/office/drawing/2014/main" id="{9FB46CFC-C3E3-A0CA-CFC8-5C9B6206B253}"/>
              </a:ext>
            </a:extLst>
          </p:cNvPr>
          <p:cNvSpPr>
            <a:spLocks noGrp="1"/>
          </p:cNvSpPr>
          <p:nvPr>
            <p:ph type="subTitle" idx="1"/>
          </p:nvPr>
        </p:nvSpPr>
        <p:spPr>
          <a:xfrm>
            <a:off x="327002" y="4079875"/>
            <a:ext cx="11511751" cy="1655762"/>
          </a:xfrm>
        </p:spPr>
        <p:txBody>
          <a:bodyPr>
            <a:normAutofit/>
          </a:bodyPr>
          <a:lstStyle/>
          <a:p>
            <a:r>
              <a:rPr lang="ja-JP" altLang="en-US" sz="3200" dirty="0"/>
              <a:t>電気通信大学　稲葉研究室</a:t>
            </a:r>
            <a:endParaRPr lang="en-US" altLang="ja-JP" sz="3200" dirty="0"/>
          </a:p>
          <a:p>
            <a:r>
              <a:rPr kumimoji="1" lang="ja-JP" altLang="en-US" sz="3600" dirty="0"/>
              <a:t>深見　真奈</a:t>
            </a:r>
          </a:p>
        </p:txBody>
      </p:sp>
    </p:spTree>
    <p:extLst>
      <p:ext uri="{BB962C8B-B14F-4D97-AF65-F5344CB8AC3E}">
        <p14:creationId xmlns:p14="http://schemas.microsoft.com/office/powerpoint/2010/main" val="1819912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612674-C62E-9CE2-37DC-F8662789C5DB}"/>
              </a:ext>
            </a:extLst>
          </p:cNvPr>
          <p:cNvSpPr>
            <a:spLocks noGrp="1"/>
          </p:cNvSpPr>
          <p:nvPr>
            <p:ph type="title"/>
          </p:nvPr>
        </p:nvSpPr>
        <p:spPr/>
        <p:txBody>
          <a:bodyPr/>
          <a:lstStyle/>
          <a:p>
            <a:r>
              <a:rPr lang="ja-JP" altLang="en-US" dirty="0"/>
              <a:t>背景</a:t>
            </a:r>
            <a:endParaRPr kumimoji="1" lang="ja-JP" altLang="en-US" dirty="0"/>
          </a:p>
        </p:txBody>
      </p:sp>
      <p:sp>
        <p:nvSpPr>
          <p:cNvPr id="3" name="コンテンツ プレースホルダー 2">
            <a:extLst>
              <a:ext uri="{FF2B5EF4-FFF2-40B4-BE49-F238E27FC236}">
                <a16:creationId xmlns:a16="http://schemas.microsoft.com/office/drawing/2014/main" id="{A05DCD55-40CA-DF2D-609F-3A3BD29EDC5F}"/>
              </a:ext>
            </a:extLst>
          </p:cNvPr>
          <p:cNvSpPr>
            <a:spLocks noGrp="1"/>
          </p:cNvSpPr>
          <p:nvPr>
            <p:ph idx="1"/>
          </p:nvPr>
        </p:nvSpPr>
        <p:spPr/>
        <p:txBody>
          <a:bodyPr>
            <a:normAutofit/>
          </a:bodyPr>
          <a:lstStyle/>
          <a:p>
            <a:r>
              <a:rPr lang="ja-JP" altLang="en-US" sz="3200" dirty="0"/>
              <a:t>現在の</a:t>
            </a:r>
            <a:r>
              <a:rPr kumimoji="1" lang="ja-JP" altLang="en-US" sz="3200" dirty="0"/>
              <a:t>ロールプレイング手法ではキャラクター</a:t>
            </a:r>
            <a:r>
              <a:rPr lang="ja-JP" altLang="en-US" sz="3200" dirty="0"/>
              <a:t>のペルソナは事前に定義</a:t>
            </a:r>
            <a:endParaRPr lang="en-US" altLang="ja-JP" sz="2800" dirty="0"/>
          </a:p>
          <a:p>
            <a:pPr lvl="1"/>
            <a:endParaRPr lang="en-US" altLang="ja-JP" sz="2800" dirty="0"/>
          </a:p>
          <a:p>
            <a:r>
              <a:rPr lang="ja-JP" altLang="en-US" sz="3200" dirty="0"/>
              <a:t>人の価値観や性格は様々な人生体験を通じて変化し続ける</a:t>
            </a:r>
            <a:endParaRPr lang="en-US" altLang="ja-JP" sz="3200" dirty="0"/>
          </a:p>
          <a:p>
            <a:pPr lvl="1"/>
            <a:r>
              <a:rPr lang="en-US" altLang="ja-JP" sz="2800" dirty="0"/>
              <a:t>LLM</a:t>
            </a:r>
            <a:r>
              <a:rPr lang="ja-JP" altLang="en-US" sz="2800" dirty="0"/>
              <a:t>における価値観の変化については未検証</a:t>
            </a:r>
            <a:endParaRPr lang="en-US" altLang="ja-JP" sz="2800" dirty="0"/>
          </a:p>
          <a:p>
            <a:pPr lvl="1"/>
            <a:r>
              <a:rPr lang="ja-JP" altLang="en-US" sz="2800" dirty="0"/>
              <a:t>生成される応答に説得力や人間らしさが生まれる</a:t>
            </a:r>
            <a:endParaRPr lang="en-US" altLang="ja-JP" sz="2800" dirty="0"/>
          </a:p>
          <a:p>
            <a:pPr marL="457200" lvl="1" indent="0">
              <a:buNone/>
            </a:pPr>
            <a:endParaRPr lang="en-US" altLang="ja-JP" sz="3200" dirty="0"/>
          </a:p>
          <a:p>
            <a:pPr>
              <a:buClr>
                <a:schemeClr val="tx1"/>
              </a:buClr>
            </a:pPr>
            <a:r>
              <a:rPr lang="en-US" altLang="ja-JP" sz="3200" dirty="0">
                <a:solidFill>
                  <a:srgbClr val="FF0000"/>
                </a:solidFill>
              </a:rPr>
              <a:t>LLM</a:t>
            </a:r>
            <a:r>
              <a:rPr lang="ja-JP" altLang="en-US" sz="3200" dirty="0">
                <a:solidFill>
                  <a:srgbClr val="FF0000"/>
                </a:solidFill>
              </a:rPr>
              <a:t>は人生体験を通じて自らの性格を生み出し，変容させることが</a:t>
            </a:r>
            <a:br>
              <a:rPr lang="en-US" altLang="ja-JP" sz="3200" dirty="0">
                <a:solidFill>
                  <a:srgbClr val="FF0000"/>
                </a:solidFill>
              </a:rPr>
            </a:br>
            <a:r>
              <a:rPr lang="ja-JP" altLang="en-US" sz="3200" dirty="0">
                <a:solidFill>
                  <a:srgbClr val="FF0000"/>
                </a:solidFill>
              </a:rPr>
              <a:t>できるのか</a:t>
            </a:r>
            <a:endParaRPr lang="en-US" altLang="ja-JP" sz="3200" dirty="0">
              <a:solidFill>
                <a:srgbClr val="FF0000"/>
              </a:solidFill>
            </a:endParaRPr>
          </a:p>
          <a:p>
            <a:pPr lvl="1"/>
            <a:r>
              <a:rPr lang="ja-JP" altLang="en-US" sz="2800" dirty="0"/>
              <a:t>人生グラフを用いて人生体験の収集を行う</a:t>
            </a:r>
            <a:endParaRPr lang="en-US" altLang="ja-JP" sz="2800" dirty="0"/>
          </a:p>
        </p:txBody>
      </p:sp>
    </p:spTree>
    <p:extLst>
      <p:ext uri="{BB962C8B-B14F-4D97-AF65-F5344CB8AC3E}">
        <p14:creationId xmlns:p14="http://schemas.microsoft.com/office/powerpoint/2010/main" val="1897735825"/>
      </p:ext>
    </p:extLst>
  </p:cSld>
  <p:clrMapOvr>
    <a:masterClrMapping/>
  </p:clrMapOvr>
  <mc:AlternateContent xmlns:mc="http://schemas.openxmlformats.org/markup-compatibility/2006" xmlns:p14="http://schemas.microsoft.com/office/powerpoint/2010/main">
    <mc:Choice Requires="p14">
      <p:transition spd="slow" p14:dur="2000" advTm="481"/>
    </mc:Choice>
    <mc:Fallback xmlns="">
      <p:transition spd="slow" advTm="48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2B1AE8-F5A6-41D5-9AA5-4B950001ACAE}"/>
              </a:ext>
            </a:extLst>
          </p:cNvPr>
          <p:cNvSpPr>
            <a:spLocks noGrp="1"/>
          </p:cNvSpPr>
          <p:nvPr>
            <p:ph type="title"/>
          </p:nvPr>
        </p:nvSpPr>
        <p:spPr/>
        <p:txBody>
          <a:bodyPr/>
          <a:lstStyle/>
          <a:p>
            <a:r>
              <a:rPr kumimoji="1" lang="ja-JP" altLang="en-US" dirty="0"/>
              <a:t>人生グラフ</a:t>
            </a:r>
          </a:p>
        </p:txBody>
      </p:sp>
      <p:sp>
        <p:nvSpPr>
          <p:cNvPr id="3" name="コンテンツ プレースホルダー 2">
            <a:extLst>
              <a:ext uri="{FF2B5EF4-FFF2-40B4-BE49-F238E27FC236}">
                <a16:creationId xmlns:a16="http://schemas.microsoft.com/office/drawing/2014/main" id="{0E9ACA58-D057-5BC6-FEAA-45A5DC44CC6E}"/>
              </a:ext>
            </a:extLst>
          </p:cNvPr>
          <p:cNvSpPr>
            <a:spLocks noGrp="1"/>
          </p:cNvSpPr>
          <p:nvPr>
            <p:ph idx="1"/>
          </p:nvPr>
        </p:nvSpPr>
        <p:spPr>
          <a:xfrm>
            <a:off x="339115" y="2515794"/>
            <a:ext cx="11505696" cy="1117505"/>
          </a:xfrm>
        </p:spPr>
        <p:txBody>
          <a:bodyPr>
            <a:normAutofit/>
          </a:bodyPr>
          <a:lstStyle/>
          <a:p>
            <a:r>
              <a:rPr lang="ja-JP" altLang="en-US" sz="3200" dirty="0"/>
              <a:t>アイデンティティの再構築を伴う「転換点」や「運命的な瞬間」の特定を可能にする</a:t>
            </a:r>
            <a:r>
              <a:rPr lang="en-US" altLang="ja-JP" sz="2800" dirty="0"/>
              <a:t>[Dogg et al, 2018]</a:t>
            </a:r>
            <a:endParaRPr lang="en-US" altLang="ja-JP" sz="1600" dirty="0"/>
          </a:p>
          <a:p>
            <a:endParaRPr kumimoji="1" lang="en-US" altLang="ja-JP" sz="3200" dirty="0"/>
          </a:p>
        </p:txBody>
      </p:sp>
      <p:pic>
        <p:nvPicPr>
          <p:cNvPr id="5" name="図 4" descr="グラフ, 折れ線グラフ&#10;&#10;AI 生成コンテンツは誤りを含む可能性があります。">
            <a:extLst>
              <a:ext uri="{FF2B5EF4-FFF2-40B4-BE49-F238E27FC236}">
                <a16:creationId xmlns:a16="http://schemas.microsoft.com/office/drawing/2014/main" id="{53E26D39-2722-BF8E-D075-5DBB28E61D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5246" y="3218104"/>
            <a:ext cx="4176753" cy="2386715"/>
          </a:xfrm>
          <a:prstGeom prst="rect">
            <a:avLst/>
          </a:prstGeom>
        </p:spPr>
      </p:pic>
      <p:sp>
        <p:nvSpPr>
          <p:cNvPr id="6" name="コンテンツ プレースホルダー 2">
            <a:extLst>
              <a:ext uri="{FF2B5EF4-FFF2-40B4-BE49-F238E27FC236}">
                <a16:creationId xmlns:a16="http://schemas.microsoft.com/office/drawing/2014/main" id="{FB504BF3-E79F-0FFC-9F71-0493F5BEE0A2}"/>
              </a:ext>
            </a:extLst>
          </p:cNvPr>
          <p:cNvSpPr txBox="1">
            <a:spLocks/>
          </p:cNvSpPr>
          <p:nvPr/>
        </p:nvSpPr>
        <p:spPr>
          <a:xfrm>
            <a:off x="339115" y="5604817"/>
            <a:ext cx="11505696" cy="13997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36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400" dirty="0"/>
              <a:t>Jenny Dagg and Jane Gray. Using reflexive lifelines in biographical interviews to aid the collection, </a:t>
            </a:r>
            <a:r>
              <a:rPr lang="en-US" altLang="ja-JP" sz="1400" dirty="0" err="1"/>
              <a:t>visualisation</a:t>
            </a:r>
            <a:r>
              <a:rPr lang="en-US" altLang="ja-JP" sz="1400" dirty="0"/>
              <a:t> and analysis of resilience. Contemporary Social Science: Journal of the Academy of Social Sciences, Vol. 14, 04 2018.</a:t>
            </a:r>
          </a:p>
          <a:p>
            <a:r>
              <a:rPr lang="en-US" altLang="ja-JP" sz="1400" dirty="0"/>
              <a:t>Nicholas Bremner. Time for timelines: The take-home timeline as a tool for exploring complex life histories. International Journal of Qualitative Methods, Vol. 19, 2020.</a:t>
            </a:r>
          </a:p>
        </p:txBody>
      </p:sp>
      <p:sp>
        <p:nvSpPr>
          <p:cNvPr id="7" name="コンテンツ プレースホルダー 2">
            <a:extLst>
              <a:ext uri="{FF2B5EF4-FFF2-40B4-BE49-F238E27FC236}">
                <a16:creationId xmlns:a16="http://schemas.microsoft.com/office/drawing/2014/main" id="{A0CF75D9-E87B-F59C-FA27-57BF6FB1D6F9}"/>
              </a:ext>
            </a:extLst>
          </p:cNvPr>
          <p:cNvSpPr txBox="1">
            <a:spLocks/>
          </p:cNvSpPr>
          <p:nvPr/>
        </p:nvSpPr>
        <p:spPr>
          <a:xfrm>
            <a:off x="339115" y="3778407"/>
            <a:ext cx="7676131" cy="11175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36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3200" dirty="0"/>
              <a:t>自宅で時間制限なく取り組むことでより正確で豊かな体験が記述される</a:t>
            </a:r>
            <a:r>
              <a:rPr lang="en-US" altLang="ja-JP" sz="2800" dirty="0"/>
              <a:t>[Bremner, 2020]</a:t>
            </a:r>
          </a:p>
        </p:txBody>
      </p:sp>
      <p:sp>
        <p:nvSpPr>
          <p:cNvPr id="8" name="コンテンツ プレースホルダー 2">
            <a:extLst>
              <a:ext uri="{FF2B5EF4-FFF2-40B4-BE49-F238E27FC236}">
                <a16:creationId xmlns:a16="http://schemas.microsoft.com/office/drawing/2014/main" id="{6B20D77A-D0B6-264E-9F4C-E9247672F776}"/>
              </a:ext>
            </a:extLst>
          </p:cNvPr>
          <p:cNvSpPr txBox="1">
            <a:spLocks/>
          </p:cNvSpPr>
          <p:nvPr/>
        </p:nvSpPr>
        <p:spPr>
          <a:xfrm>
            <a:off x="339115" y="1253181"/>
            <a:ext cx="11505696" cy="14142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36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3200" dirty="0"/>
              <a:t>自身の体験が人生にどのような影響をもたらしたかを幸福度という尺度を用いて可視化する自己分析手法</a:t>
            </a:r>
            <a:endParaRPr lang="en-US" altLang="ja-JP" sz="2800" dirty="0"/>
          </a:p>
          <a:p>
            <a:pPr marL="0" indent="0">
              <a:buNone/>
            </a:pPr>
            <a:endParaRPr lang="en-US" altLang="ja-JP" sz="3200" dirty="0"/>
          </a:p>
        </p:txBody>
      </p:sp>
    </p:spTree>
    <p:extLst>
      <p:ext uri="{BB962C8B-B14F-4D97-AF65-F5344CB8AC3E}">
        <p14:creationId xmlns:p14="http://schemas.microsoft.com/office/powerpoint/2010/main" val="3766580955"/>
      </p:ext>
    </p:extLst>
  </p:cSld>
  <p:clrMapOvr>
    <a:masterClrMapping/>
  </p:clrMapOvr>
  <mc:AlternateContent xmlns:mc="http://schemas.openxmlformats.org/markup-compatibility/2006" xmlns:p14="http://schemas.microsoft.com/office/powerpoint/2010/main">
    <mc:Choice Requires="p14">
      <p:transition spd="slow" p14:dur="2000" advTm="227"/>
    </mc:Choice>
    <mc:Fallback xmlns="">
      <p:transition spd="slow" advTm="22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B2FC00-E45C-12B8-BC58-AC3951C5D3E7}"/>
              </a:ext>
            </a:extLst>
          </p:cNvPr>
          <p:cNvSpPr>
            <a:spLocks noGrp="1"/>
          </p:cNvSpPr>
          <p:nvPr>
            <p:ph type="title"/>
          </p:nvPr>
        </p:nvSpPr>
        <p:spPr/>
        <p:txBody>
          <a:bodyPr>
            <a:normAutofit/>
          </a:bodyPr>
          <a:lstStyle/>
          <a:p>
            <a:r>
              <a:rPr kumimoji="1" lang="ja-JP" altLang="en-US" dirty="0"/>
              <a:t>実験デザイン</a:t>
            </a:r>
          </a:p>
        </p:txBody>
      </p:sp>
      <p:sp>
        <p:nvSpPr>
          <p:cNvPr id="3" name="コンテンツ プレースホルダー 2">
            <a:extLst>
              <a:ext uri="{FF2B5EF4-FFF2-40B4-BE49-F238E27FC236}">
                <a16:creationId xmlns:a16="http://schemas.microsoft.com/office/drawing/2014/main" id="{A3560A08-FE8B-8F6D-6FFC-DD851E8D4BB6}"/>
              </a:ext>
            </a:extLst>
          </p:cNvPr>
          <p:cNvSpPr>
            <a:spLocks noGrp="1"/>
          </p:cNvSpPr>
          <p:nvPr>
            <p:ph idx="1"/>
          </p:nvPr>
        </p:nvSpPr>
        <p:spPr>
          <a:xfrm>
            <a:off x="339115" y="1452311"/>
            <a:ext cx="6976085" cy="5165057"/>
          </a:xfrm>
        </p:spPr>
        <p:txBody>
          <a:bodyPr>
            <a:normAutofit/>
          </a:bodyPr>
          <a:lstStyle/>
          <a:p>
            <a:r>
              <a:rPr lang="ja-JP" altLang="en-US" sz="3200" dirty="0"/>
              <a:t>目的</a:t>
            </a:r>
            <a:endParaRPr lang="en-US" altLang="ja-JP" sz="3200" dirty="0"/>
          </a:p>
          <a:p>
            <a:pPr lvl="1"/>
            <a:r>
              <a:rPr lang="en-US" altLang="ja-JP" sz="2800" dirty="0"/>
              <a:t>LLM</a:t>
            </a:r>
            <a:r>
              <a:rPr lang="ja-JP" altLang="en-US" sz="2800" dirty="0"/>
              <a:t>に人生体験を与え，</a:t>
            </a:r>
            <a:r>
              <a:rPr lang="en-US" altLang="ja-JP" sz="2800" dirty="0"/>
              <a:t>LLM</a:t>
            </a:r>
            <a:r>
              <a:rPr lang="ja-JP" altLang="en-US" sz="2800" dirty="0"/>
              <a:t>の性格特性の変化や感情表現の違いを測定</a:t>
            </a:r>
            <a:endParaRPr lang="en-US" altLang="ja-JP" sz="2800" dirty="0"/>
          </a:p>
          <a:p>
            <a:r>
              <a:rPr lang="ja-JP" altLang="en-US" sz="3200" dirty="0"/>
              <a:t>被験者を集めてデータを収集</a:t>
            </a:r>
            <a:endParaRPr lang="en-US" altLang="ja-JP" sz="3200" dirty="0"/>
          </a:p>
          <a:p>
            <a:pPr lvl="1"/>
            <a:r>
              <a:rPr lang="ja-JP" altLang="en-US" sz="2800" dirty="0"/>
              <a:t>年齢・性別・職業</a:t>
            </a:r>
            <a:endParaRPr lang="en-US" altLang="ja-JP" sz="2800" dirty="0"/>
          </a:p>
          <a:p>
            <a:pPr lvl="1"/>
            <a:r>
              <a:rPr lang="ja-JP" altLang="en-US" sz="2800" dirty="0"/>
              <a:t>人生グラフ</a:t>
            </a:r>
            <a:endParaRPr lang="en-US" altLang="ja-JP" sz="2400" dirty="0"/>
          </a:p>
          <a:p>
            <a:pPr lvl="1"/>
            <a:r>
              <a:rPr lang="en-US" altLang="ja-JP" sz="2800" dirty="0"/>
              <a:t>BFI-2</a:t>
            </a:r>
            <a:r>
              <a:rPr lang="ja-JP" altLang="en-US" sz="2800" dirty="0"/>
              <a:t>テスト</a:t>
            </a:r>
            <a:endParaRPr lang="en-US" altLang="ja-JP" sz="2800" dirty="0"/>
          </a:p>
          <a:p>
            <a:r>
              <a:rPr lang="ja-JP" altLang="en-US" sz="3200" dirty="0"/>
              <a:t>分析方法</a:t>
            </a:r>
            <a:endParaRPr lang="en-US" altLang="ja-JP" sz="3200" dirty="0"/>
          </a:p>
          <a:p>
            <a:pPr lvl="1"/>
            <a:r>
              <a:rPr lang="ja-JP" altLang="en-US" sz="2800" dirty="0"/>
              <a:t>人生体験を与えた</a:t>
            </a:r>
            <a:r>
              <a:rPr lang="en-US" altLang="ja-JP" sz="2800" dirty="0"/>
              <a:t>LLM</a:t>
            </a:r>
            <a:r>
              <a:rPr lang="ja-JP" altLang="en-US" sz="2800" dirty="0"/>
              <a:t>の性格特性，</a:t>
            </a:r>
            <a:br>
              <a:rPr lang="en-US" altLang="ja-JP" sz="2800" dirty="0"/>
            </a:br>
            <a:r>
              <a:rPr lang="ja-JP" altLang="en-US" sz="2800" dirty="0"/>
              <a:t>転換点での感情や思考の変化</a:t>
            </a:r>
            <a:endParaRPr lang="en-US" altLang="ja-JP" sz="2800" dirty="0"/>
          </a:p>
          <a:p>
            <a:pPr lvl="1"/>
            <a:endParaRPr lang="en-US" altLang="ja-JP" sz="2800" dirty="0"/>
          </a:p>
        </p:txBody>
      </p:sp>
      <p:pic>
        <p:nvPicPr>
          <p:cNvPr id="10" name="図 9" descr="グラフィカル ユーザー インターフェイス, アプリケーション&#10;&#10;AI 生成コンテンツは誤りを含む可能性があります。">
            <a:extLst>
              <a:ext uri="{FF2B5EF4-FFF2-40B4-BE49-F238E27FC236}">
                <a16:creationId xmlns:a16="http://schemas.microsoft.com/office/drawing/2014/main" id="{028698AF-7A14-ED52-A510-8040D0B79F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5580" y="1452311"/>
            <a:ext cx="4946419" cy="2448802"/>
          </a:xfrm>
          <a:prstGeom prst="rect">
            <a:avLst/>
          </a:prstGeom>
        </p:spPr>
      </p:pic>
      <p:pic>
        <p:nvPicPr>
          <p:cNvPr id="12" name="図 11" descr="グラフ, 折れ線グラフ&#10;&#10;AI 生成コンテンツは誤りを含む可能性があります。">
            <a:extLst>
              <a:ext uri="{FF2B5EF4-FFF2-40B4-BE49-F238E27FC236}">
                <a16:creationId xmlns:a16="http://schemas.microsoft.com/office/drawing/2014/main" id="{BF0C8DC4-623F-192C-C462-4C966A0E43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5581" y="3901113"/>
            <a:ext cx="4946419" cy="2448803"/>
          </a:xfrm>
          <a:prstGeom prst="rect">
            <a:avLst/>
          </a:prstGeom>
        </p:spPr>
      </p:pic>
    </p:spTree>
    <p:extLst>
      <p:ext uri="{BB962C8B-B14F-4D97-AF65-F5344CB8AC3E}">
        <p14:creationId xmlns:p14="http://schemas.microsoft.com/office/powerpoint/2010/main" val="1354515869"/>
      </p:ext>
    </p:extLst>
  </p:cSld>
  <p:clrMapOvr>
    <a:masterClrMapping/>
  </p:clrMapOvr>
  <mc:AlternateContent xmlns:mc="http://schemas.openxmlformats.org/markup-compatibility/2006" xmlns:p14="http://schemas.microsoft.com/office/powerpoint/2010/main">
    <mc:Choice Requires="p14">
      <p:transition spd="slow" p14:dur="2000" advTm="178"/>
    </mc:Choice>
    <mc:Fallback xmlns="">
      <p:transition spd="slow" advTm="17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018CD6-8698-5FCD-6013-E3DF465C9E40}"/>
              </a:ext>
            </a:extLst>
          </p:cNvPr>
          <p:cNvSpPr>
            <a:spLocks noGrp="1"/>
          </p:cNvSpPr>
          <p:nvPr>
            <p:ph type="title"/>
          </p:nvPr>
        </p:nvSpPr>
        <p:spPr/>
        <p:txBody>
          <a:bodyPr/>
          <a:lstStyle/>
          <a:p>
            <a:r>
              <a:rPr lang="ja-JP" altLang="en-US" dirty="0"/>
              <a:t>データ収集手順</a:t>
            </a:r>
            <a:endParaRPr kumimoji="1" lang="ja-JP" altLang="en-US" dirty="0"/>
          </a:p>
        </p:txBody>
      </p:sp>
      <p:sp>
        <p:nvSpPr>
          <p:cNvPr id="3" name="コンテンツ プレースホルダー 2">
            <a:extLst>
              <a:ext uri="{FF2B5EF4-FFF2-40B4-BE49-F238E27FC236}">
                <a16:creationId xmlns:a16="http://schemas.microsoft.com/office/drawing/2014/main" id="{F67CC0EA-59D9-B58F-12BB-8D329456A4D7}"/>
              </a:ext>
            </a:extLst>
          </p:cNvPr>
          <p:cNvSpPr>
            <a:spLocks noGrp="1"/>
          </p:cNvSpPr>
          <p:nvPr>
            <p:ph idx="1"/>
          </p:nvPr>
        </p:nvSpPr>
        <p:spPr>
          <a:xfrm>
            <a:off x="339114" y="1452311"/>
            <a:ext cx="11509985" cy="4996933"/>
          </a:xfrm>
        </p:spPr>
        <p:txBody>
          <a:bodyPr>
            <a:normAutofit/>
          </a:bodyPr>
          <a:lstStyle/>
          <a:p>
            <a:r>
              <a:rPr kumimoji="1" lang="ja-JP" altLang="en-US" sz="3200" dirty="0"/>
              <a:t>人生グラフ作成の補助として「自分史」の作成を組み合わせる</a:t>
            </a:r>
            <a:endParaRPr kumimoji="1" lang="en-US" altLang="ja-JP" sz="3200" dirty="0"/>
          </a:p>
          <a:p>
            <a:pPr lvl="1"/>
            <a:r>
              <a:rPr lang="ja-JP" altLang="en-US" sz="2800" dirty="0"/>
              <a:t>人生体験を列挙し表を作成する手法</a:t>
            </a:r>
            <a:endParaRPr lang="en-US" altLang="ja-JP" sz="2800" dirty="0"/>
          </a:p>
          <a:p>
            <a:endParaRPr kumimoji="1" lang="en-US" altLang="ja-JP" sz="3200" dirty="0">
              <a:solidFill>
                <a:srgbClr val="FF0000"/>
              </a:solidFill>
            </a:endParaRPr>
          </a:p>
          <a:p>
            <a:r>
              <a:rPr kumimoji="1" lang="ja-JP" altLang="en-US" sz="3200" dirty="0"/>
              <a:t>自分史の作成</a:t>
            </a:r>
            <a:endParaRPr kumimoji="1" lang="en-US" altLang="ja-JP" sz="3200" dirty="0"/>
          </a:p>
          <a:p>
            <a:pPr lvl="1">
              <a:buClr>
                <a:schemeClr val="tx1"/>
              </a:buClr>
            </a:pPr>
            <a:r>
              <a:rPr kumimoji="1" lang="ja-JP" altLang="en-US" sz="2800" dirty="0">
                <a:solidFill>
                  <a:srgbClr val="FF0000"/>
                </a:solidFill>
              </a:rPr>
              <a:t>登録フォーム</a:t>
            </a:r>
            <a:r>
              <a:rPr kumimoji="1" lang="ja-JP" altLang="en-US" sz="2800" dirty="0"/>
              <a:t>に年齢，体験エピソード，幸福度を記入</a:t>
            </a:r>
            <a:endParaRPr kumimoji="1" lang="en-US" altLang="ja-JP" sz="2800" dirty="0"/>
          </a:p>
          <a:p>
            <a:pPr lvl="2"/>
            <a:r>
              <a:rPr lang="ja-JP" altLang="en-US" sz="2400" dirty="0"/>
              <a:t>エピソードには感情や考え方の変化を含めるよう指示</a:t>
            </a:r>
            <a:endParaRPr lang="en-US" altLang="ja-JP" sz="2400" dirty="0"/>
          </a:p>
          <a:p>
            <a:pPr lvl="2"/>
            <a:r>
              <a:rPr kumimoji="1" lang="ja-JP" altLang="en-US" sz="2400" dirty="0"/>
              <a:t>エピソードの記入例を提示</a:t>
            </a:r>
            <a:endParaRPr lang="en-US" altLang="ja-JP" sz="2400" dirty="0"/>
          </a:p>
          <a:p>
            <a:pPr lvl="1"/>
            <a:r>
              <a:rPr lang="ja-JP" altLang="en-US" sz="2800" dirty="0"/>
              <a:t>登録された内容を</a:t>
            </a:r>
            <a:r>
              <a:rPr lang="ja-JP" altLang="en-US" sz="2800" dirty="0">
                <a:solidFill>
                  <a:srgbClr val="0070C0"/>
                </a:solidFill>
              </a:rPr>
              <a:t>一覧表</a:t>
            </a:r>
            <a:r>
              <a:rPr lang="ja-JP" altLang="en-US" sz="2800" dirty="0"/>
              <a:t>にしていく</a:t>
            </a:r>
            <a:endParaRPr lang="en-US" altLang="ja-JP" sz="2800" dirty="0"/>
          </a:p>
        </p:txBody>
      </p:sp>
      <p:grpSp>
        <p:nvGrpSpPr>
          <p:cNvPr id="15" name="グループ化 14">
            <a:extLst>
              <a:ext uri="{FF2B5EF4-FFF2-40B4-BE49-F238E27FC236}">
                <a16:creationId xmlns:a16="http://schemas.microsoft.com/office/drawing/2014/main" id="{437DC435-5B37-BB7C-1C52-F9CB9C4D1279}"/>
              </a:ext>
            </a:extLst>
          </p:cNvPr>
          <p:cNvGrpSpPr/>
          <p:nvPr/>
        </p:nvGrpSpPr>
        <p:grpSpPr>
          <a:xfrm>
            <a:off x="7895638" y="4432365"/>
            <a:ext cx="4310744" cy="2134102"/>
            <a:chOff x="7881257" y="4417070"/>
            <a:chExt cx="4310744" cy="2134102"/>
          </a:xfrm>
        </p:grpSpPr>
        <p:pic>
          <p:nvPicPr>
            <p:cNvPr id="5" name="図 4" descr="グラフィカル ユーザー インターフェイス, アプリケーション&#10;&#10;AI 生成コンテンツは誤りを含む可能性があります。">
              <a:extLst>
                <a:ext uri="{FF2B5EF4-FFF2-40B4-BE49-F238E27FC236}">
                  <a16:creationId xmlns:a16="http://schemas.microsoft.com/office/drawing/2014/main" id="{49D132C0-54F1-727A-2D0A-CEBFD15C40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81257" y="4417070"/>
              <a:ext cx="4310744" cy="2134102"/>
            </a:xfrm>
            <a:prstGeom prst="rect">
              <a:avLst/>
            </a:prstGeom>
          </p:spPr>
        </p:pic>
        <p:sp>
          <p:nvSpPr>
            <p:cNvPr id="7" name="四角形: 角を丸くする 6">
              <a:extLst>
                <a:ext uri="{FF2B5EF4-FFF2-40B4-BE49-F238E27FC236}">
                  <a16:creationId xmlns:a16="http://schemas.microsoft.com/office/drawing/2014/main" id="{10D67CFD-9D04-38AF-4075-E92BEE4D04E6}"/>
                </a:ext>
              </a:extLst>
            </p:cNvPr>
            <p:cNvSpPr/>
            <p:nvPr/>
          </p:nvSpPr>
          <p:spPr>
            <a:xfrm>
              <a:off x="8033657" y="4547694"/>
              <a:ext cx="1952173" cy="2003477"/>
            </a:xfrm>
            <a:prstGeom prst="round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ja-JP" altLang="en-US"/>
            </a:p>
          </p:txBody>
        </p:sp>
        <p:sp>
          <p:nvSpPr>
            <p:cNvPr id="8" name="四角形: 角を丸くする 7">
              <a:extLst>
                <a:ext uri="{FF2B5EF4-FFF2-40B4-BE49-F238E27FC236}">
                  <a16:creationId xmlns:a16="http://schemas.microsoft.com/office/drawing/2014/main" id="{46C3FCC7-9E06-AA51-E9A6-C55C93226783}"/>
                </a:ext>
              </a:extLst>
            </p:cNvPr>
            <p:cNvSpPr/>
            <p:nvPr/>
          </p:nvSpPr>
          <p:spPr>
            <a:xfrm>
              <a:off x="10029369" y="4547695"/>
              <a:ext cx="1952174" cy="1272534"/>
            </a:xfrm>
            <a:prstGeom prst="roundRect">
              <a:avLst/>
            </a:prstGeom>
            <a:noFill/>
            <a:ln w="5715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ja-JP" altLang="en-US"/>
            </a:p>
          </p:txBody>
        </p:sp>
      </p:grpSp>
      <p:pic>
        <p:nvPicPr>
          <p:cNvPr id="18" name="図 17" descr="グラフィカル ユーザー インターフェイス, アプリケーション&#10;&#10;AI 生成コンテンツは誤りを含む可能性があります。">
            <a:extLst>
              <a:ext uri="{FF2B5EF4-FFF2-40B4-BE49-F238E27FC236}">
                <a16:creationId xmlns:a16="http://schemas.microsoft.com/office/drawing/2014/main" id="{36E4555D-CE8F-D057-FA5C-D9C91CF33C8A}"/>
              </a:ext>
            </a:extLst>
          </p:cNvPr>
          <p:cNvPicPr>
            <a:picLocks noChangeAspect="1"/>
          </p:cNvPicPr>
          <p:nvPr/>
        </p:nvPicPr>
        <p:blipFill>
          <a:blip r:embed="rId4">
            <a:extLst>
              <a:ext uri="{28A0092B-C50C-407E-A947-70E740481C1C}">
                <a14:useLocalDpi xmlns:a14="http://schemas.microsoft.com/office/drawing/2010/main" val="0"/>
              </a:ext>
            </a:extLst>
          </a:blip>
          <a:srcRect l="2782" t="7572" r="51296" b="-38"/>
          <a:stretch>
            <a:fillRect/>
          </a:stretch>
        </p:blipFill>
        <p:spPr>
          <a:xfrm>
            <a:off x="6593301" y="985324"/>
            <a:ext cx="5598699" cy="5581142"/>
          </a:xfrm>
          <a:prstGeom prst="rect">
            <a:avLst/>
          </a:prstGeom>
        </p:spPr>
      </p:pic>
      <p:pic>
        <p:nvPicPr>
          <p:cNvPr id="20" name="図 19" descr="グラフィカル ユーザー インターフェイス, アプリケーション&#10;&#10;AI 生成コンテンツは誤りを含む可能性があります。">
            <a:extLst>
              <a:ext uri="{FF2B5EF4-FFF2-40B4-BE49-F238E27FC236}">
                <a16:creationId xmlns:a16="http://schemas.microsoft.com/office/drawing/2014/main" id="{4BDA572B-7708-7577-093D-591D74DD5BE8}"/>
              </a:ext>
            </a:extLst>
          </p:cNvPr>
          <p:cNvPicPr>
            <a:picLocks noChangeAspect="1"/>
          </p:cNvPicPr>
          <p:nvPr/>
        </p:nvPicPr>
        <p:blipFill>
          <a:blip r:embed="rId4">
            <a:extLst>
              <a:ext uri="{28A0092B-C50C-407E-A947-70E740481C1C}">
                <a14:useLocalDpi xmlns:a14="http://schemas.microsoft.com/office/drawing/2010/main" val="0"/>
              </a:ext>
            </a:extLst>
          </a:blip>
          <a:srcRect l="48703" t="7534" r="5377" b="30194"/>
          <a:stretch>
            <a:fillRect/>
          </a:stretch>
        </p:blipFill>
        <p:spPr>
          <a:xfrm>
            <a:off x="6607683" y="2807761"/>
            <a:ext cx="5598699" cy="3758706"/>
          </a:xfrm>
          <a:prstGeom prst="rect">
            <a:avLst/>
          </a:prstGeom>
        </p:spPr>
      </p:pic>
    </p:spTree>
    <p:custDataLst>
      <p:tags r:id="rId1"/>
    </p:custDataLst>
    <p:extLst>
      <p:ext uri="{BB962C8B-B14F-4D97-AF65-F5344CB8AC3E}">
        <p14:creationId xmlns:p14="http://schemas.microsoft.com/office/powerpoint/2010/main" val="622934155"/>
      </p:ext>
    </p:extLst>
  </p:cSld>
  <p:clrMapOvr>
    <a:masterClrMapping/>
  </p:clrMapOvr>
  <mc:AlternateContent xmlns:mc="http://schemas.openxmlformats.org/markup-compatibility/2006" xmlns:p14="http://schemas.microsoft.com/office/powerpoint/2010/main">
    <mc:Choice Requires="p14">
      <p:transition spd="slow" p14:dur="2000" advTm="1529"/>
    </mc:Choice>
    <mc:Fallback xmlns="">
      <p:transition spd="slow" advTm="152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18"/>
                                        </p:tgtEl>
                                        <p:attrNameLst>
                                          <p:attrName>ppt_x</p:attrName>
                                        </p:attrNameLst>
                                      </p:cBhvr>
                                      <p:tavLst>
                                        <p:tav tm="0">
                                          <p:val>
                                            <p:strVal val="ppt_x"/>
                                          </p:val>
                                        </p:tav>
                                        <p:tav tm="100000">
                                          <p:val>
                                            <p:strVal val="ppt_x"/>
                                          </p:val>
                                        </p:tav>
                                      </p:tavLst>
                                    </p:anim>
                                    <p:anim calcmode="lin" valueType="num">
                                      <p:cBhvr additive="base">
                                        <p:cTn id="13" dur="500"/>
                                        <p:tgtEl>
                                          <p:spTgt spid="18"/>
                                        </p:tgtEl>
                                        <p:attrNameLst>
                                          <p:attrName>ppt_y</p:attrName>
                                        </p:attrNameLst>
                                      </p:cBhvr>
                                      <p:tavLst>
                                        <p:tav tm="0">
                                          <p:val>
                                            <p:strVal val="ppt_y"/>
                                          </p:val>
                                        </p:tav>
                                        <p:tav tm="100000">
                                          <p:val>
                                            <p:strVal val="1+ppt_h/2"/>
                                          </p:val>
                                        </p:tav>
                                      </p:tavLst>
                                    </p:anim>
                                    <p:set>
                                      <p:cBhvr>
                                        <p:cTn id="14" dur="1" fill="hold">
                                          <p:stCondLst>
                                            <p:cond delay="499"/>
                                          </p:stCondLst>
                                        </p:cTn>
                                        <p:tgtEl>
                                          <p:spTgt spid="1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nodeType="clickEffect">
                                  <p:stCondLst>
                                    <p:cond delay="0"/>
                                  </p:stCondLst>
                                  <p:childTnLst>
                                    <p:anim calcmode="lin" valueType="num">
                                      <p:cBhvr additive="base">
                                        <p:cTn id="24" dur="500"/>
                                        <p:tgtEl>
                                          <p:spTgt spid="20"/>
                                        </p:tgtEl>
                                        <p:attrNameLst>
                                          <p:attrName>ppt_x</p:attrName>
                                        </p:attrNameLst>
                                      </p:cBhvr>
                                      <p:tavLst>
                                        <p:tav tm="0">
                                          <p:val>
                                            <p:strVal val="ppt_x"/>
                                          </p:val>
                                        </p:tav>
                                        <p:tav tm="100000">
                                          <p:val>
                                            <p:strVal val="ppt_x"/>
                                          </p:val>
                                        </p:tav>
                                      </p:tavLst>
                                    </p:anim>
                                    <p:anim calcmode="lin" valueType="num">
                                      <p:cBhvr additive="base">
                                        <p:cTn id="25" dur="500"/>
                                        <p:tgtEl>
                                          <p:spTgt spid="20"/>
                                        </p:tgtEl>
                                        <p:attrNameLst>
                                          <p:attrName>ppt_y</p:attrName>
                                        </p:attrNameLst>
                                      </p:cBhvr>
                                      <p:tavLst>
                                        <p:tav tm="0">
                                          <p:val>
                                            <p:strVal val="ppt_y"/>
                                          </p:val>
                                        </p:tav>
                                        <p:tav tm="100000">
                                          <p:val>
                                            <p:strVal val="1+ppt_h/2"/>
                                          </p:val>
                                        </p:tav>
                                      </p:tavLst>
                                    </p:anim>
                                    <p:set>
                                      <p:cBhvr>
                                        <p:cTn id="26"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C224D7-3A97-369D-72D4-DD80E62A306E}"/>
              </a:ext>
            </a:extLst>
          </p:cNvPr>
          <p:cNvSpPr>
            <a:spLocks noGrp="1"/>
          </p:cNvSpPr>
          <p:nvPr>
            <p:ph type="title"/>
          </p:nvPr>
        </p:nvSpPr>
        <p:spPr/>
        <p:txBody>
          <a:bodyPr/>
          <a:lstStyle/>
          <a:p>
            <a:r>
              <a:rPr lang="ja-JP" altLang="en-US" dirty="0"/>
              <a:t>データ収集手順</a:t>
            </a:r>
            <a:endParaRPr kumimoji="1" lang="ja-JP" altLang="en-US" dirty="0"/>
          </a:p>
        </p:txBody>
      </p:sp>
      <p:sp>
        <p:nvSpPr>
          <p:cNvPr id="3" name="コンテンツ プレースホルダー 2">
            <a:extLst>
              <a:ext uri="{FF2B5EF4-FFF2-40B4-BE49-F238E27FC236}">
                <a16:creationId xmlns:a16="http://schemas.microsoft.com/office/drawing/2014/main" id="{36F35603-18DF-6D5A-6AC3-C2FB7E9CC3DD}"/>
              </a:ext>
            </a:extLst>
          </p:cNvPr>
          <p:cNvSpPr>
            <a:spLocks noGrp="1"/>
          </p:cNvSpPr>
          <p:nvPr>
            <p:ph idx="1"/>
          </p:nvPr>
        </p:nvSpPr>
        <p:spPr>
          <a:xfrm>
            <a:off x="339115" y="1452311"/>
            <a:ext cx="7511297" cy="4996933"/>
          </a:xfrm>
        </p:spPr>
        <p:txBody>
          <a:bodyPr/>
          <a:lstStyle/>
          <a:p>
            <a:pPr>
              <a:buClr>
                <a:schemeClr val="tx1"/>
              </a:buClr>
            </a:pPr>
            <a:r>
              <a:rPr lang="ja-JP" altLang="en-US" sz="3200" dirty="0">
                <a:solidFill>
                  <a:srgbClr val="FF0000"/>
                </a:solidFill>
              </a:rPr>
              <a:t>人生グラフの描画</a:t>
            </a:r>
            <a:endParaRPr lang="en-US" altLang="ja-JP" sz="3200" dirty="0">
              <a:solidFill>
                <a:srgbClr val="FF0000"/>
              </a:solidFill>
            </a:endParaRPr>
          </a:p>
          <a:p>
            <a:pPr lvl="1"/>
            <a:r>
              <a:rPr lang="ja-JP" altLang="en-US" sz="2800" dirty="0"/>
              <a:t>横軸が年齢，縦軸が出来事に対する幸福度</a:t>
            </a:r>
            <a:endParaRPr lang="en-US" altLang="ja-JP" sz="2800" dirty="0"/>
          </a:p>
          <a:p>
            <a:pPr lvl="2"/>
            <a:r>
              <a:rPr lang="ja-JP" altLang="en-US" sz="2400" dirty="0">
                <a:solidFill>
                  <a:schemeClr val="accent1"/>
                </a:solidFill>
              </a:rPr>
              <a:t>一覧表</a:t>
            </a:r>
            <a:r>
              <a:rPr lang="ja-JP" altLang="en-US" sz="2400" dirty="0"/>
              <a:t>の内容をリアルタイムに反映</a:t>
            </a:r>
            <a:endParaRPr lang="en-US" altLang="ja-JP" sz="2000" dirty="0"/>
          </a:p>
          <a:p>
            <a:pPr lvl="1"/>
            <a:r>
              <a:rPr lang="ja-JP" altLang="en-US" sz="2800" dirty="0"/>
              <a:t>一覧表を編集することでグラフのバランスを調整</a:t>
            </a:r>
            <a:endParaRPr lang="en-US" altLang="ja-JP" sz="2800" dirty="0"/>
          </a:p>
          <a:p>
            <a:pPr lvl="2"/>
            <a:r>
              <a:rPr lang="ja-JP" altLang="en-US" sz="2400" dirty="0"/>
              <a:t>どの体験が一番重要だったかという自己内省</a:t>
            </a:r>
            <a:endParaRPr lang="en-US" altLang="ja-JP" sz="2400" dirty="0"/>
          </a:p>
          <a:p>
            <a:pPr lvl="2"/>
            <a:endParaRPr lang="en-US" altLang="ja-JP" sz="2400" dirty="0"/>
          </a:p>
          <a:p>
            <a:r>
              <a:rPr lang="en-US" altLang="ja-JP" sz="3200" dirty="0"/>
              <a:t>BFI-2</a:t>
            </a:r>
            <a:r>
              <a:rPr lang="ja-JP" altLang="en-US" sz="3200" dirty="0"/>
              <a:t>テストの受験</a:t>
            </a:r>
            <a:endParaRPr lang="en-US" altLang="ja-JP" sz="3200" dirty="0"/>
          </a:p>
          <a:p>
            <a:pPr lvl="1"/>
            <a:r>
              <a:rPr lang="ja-JP" altLang="en-US" sz="2800" dirty="0"/>
              <a:t>外向性，協調性，勤勉性，神経症傾向，開放性の</a:t>
            </a:r>
            <a:r>
              <a:rPr lang="en-US" altLang="ja-JP" sz="2800" dirty="0"/>
              <a:t>5</a:t>
            </a:r>
            <a:r>
              <a:rPr lang="ja-JP" altLang="en-US" sz="2800" dirty="0"/>
              <a:t>つのドメイン</a:t>
            </a:r>
            <a:endParaRPr lang="en-US" altLang="ja-JP" sz="2800" dirty="0"/>
          </a:p>
          <a:p>
            <a:pPr lvl="1"/>
            <a:r>
              <a:rPr lang="en-US" altLang="ja-JP" sz="2800" dirty="0"/>
              <a:t>60</a:t>
            </a:r>
            <a:r>
              <a:rPr lang="ja-JP" altLang="en-US" sz="2800" dirty="0"/>
              <a:t>の質問項目</a:t>
            </a:r>
            <a:endParaRPr lang="en-US" altLang="ja-JP" sz="2800" dirty="0"/>
          </a:p>
        </p:txBody>
      </p:sp>
      <p:grpSp>
        <p:nvGrpSpPr>
          <p:cNvPr id="12" name="グループ化 11">
            <a:extLst>
              <a:ext uri="{FF2B5EF4-FFF2-40B4-BE49-F238E27FC236}">
                <a16:creationId xmlns:a16="http://schemas.microsoft.com/office/drawing/2014/main" id="{D2D94B0A-C220-31AE-1218-2C795ACF9DE0}"/>
              </a:ext>
            </a:extLst>
          </p:cNvPr>
          <p:cNvGrpSpPr/>
          <p:nvPr/>
        </p:nvGrpSpPr>
        <p:grpSpPr>
          <a:xfrm>
            <a:off x="7939312" y="4489881"/>
            <a:ext cx="4180114" cy="2069431"/>
            <a:chOff x="7953829" y="4481739"/>
            <a:chExt cx="4180114" cy="2069431"/>
          </a:xfrm>
        </p:grpSpPr>
        <p:pic>
          <p:nvPicPr>
            <p:cNvPr id="13" name="図 12" descr="グラフ, 折れ線グラフ&#10;&#10;AI 生成コンテンツは誤りを含む可能性があります。">
              <a:extLst>
                <a:ext uri="{FF2B5EF4-FFF2-40B4-BE49-F238E27FC236}">
                  <a16:creationId xmlns:a16="http://schemas.microsoft.com/office/drawing/2014/main" id="{9EB08E30-5642-C029-EBE7-20D1637BE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3829" y="4481739"/>
              <a:ext cx="4180114" cy="2069431"/>
            </a:xfrm>
            <a:prstGeom prst="rect">
              <a:avLst/>
            </a:prstGeom>
          </p:spPr>
        </p:pic>
        <p:sp>
          <p:nvSpPr>
            <p:cNvPr id="14" name="四角形: 角を丸くする 13">
              <a:extLst>
                <a:ext uri="{FF2B5EF4-FFF2-40B4-BE49-F238E27FC236}">
                  <a16:creationId xmlns:a16="http://schemas.microsoft.com/office/drawing/2014/main" id="{EA3695D3-4229-E09A-E79A-025AFF238466}"/>
                </a:ext>
              </a:extLst>
            </p:cNvPr>
            <p:cNvSpPr/>
            <p:nvPr/>
          </p:nvSpPr>
          <p:spPr>
            <a:xfrm>
              <a:off x="7979230" y="4536741"/>
              <a:ext cx="4082142" cy="1912504"/>
            </a:xfrm>
            <a:prstGeom prst="round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grpSp>
      <p:grpSp>
        <p:nvGrpSpPr>
          <p:cNvPr id="4" name="グループ化 3">
            <a:extLst>
              <a:ext uri="{FF2B5EF4-FFF2-40B4-BE49-F238E27FC236}">
                <a16:creationId xmlns:a16="http://schemas.microsoft.com/office/drawing/2014/main" id="{DFD52583-0D92-E30E-9889-6C78AEAFFE5C}"/>
              </a:ext>
            </a:extLst>
          </p:cNvPr>
          <p:cNvGrpSpPr/>
          <p:nvPr/>
        </p:nvGrpSpPr>
        <p:grpSpPr>
          <a:xfrm>
            <a:off x="7850412" y="2355779"/>
            <a:ext cx="4310744" cy="2134102"/>
            <a:chOff x="7881257" y="4417070"/>
            <a:chExt cx="4310744" cy="2134102"/>
          </a:xfrm>
        </p:grpSpPr>
        <p:pic>
          <p:nvPicPr>
            <p:cNvPr id="5" name="図 4" descr="グラフィカル ユーザー インターフェイス, アプリケーション&#10;&#10;AI 生成コンテンツは誤りを含む可能性があります。">
              <a:extLst>
                <a:ext uri="{FF2B5EF4-FFF2-40B4-BE49-F238E27FC236}">
                  <a16:creationId xmlns:a16="http://schemas.microsoft.com/office/drawing/2014/main" id="{82366F00-29CE-55EF-B550-D2DE641232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81257" y="4417070"/>
              <a:ext cx="4310744" cy="2134102"/>
            </a:xfrm>
            <a:prstGeom prst="rect">
              <a:avLst/>
            </a:prstGeom>
          </p:spPr>
        </p:pic>
        <p:sp>
          <p:nvSpPr>
            <p:cNvPr id="8" name="四角形: 角を丸くする 7">
              <a:extLst>
                <a:ext uri="{FF2B5EF4-FFF2-40B4-BE49-F238E27FC236}">
                  <a16:creationId xmlns:a16="http://schemas.microsoft.com/office/drawing/2014/main" id="{5F342228-B189-BE02-FCE4-BB0EF6DF8108}"/>
                </a:ext>
              </a:extLst>
            </p:cNvPr>
            <p:cNvSpPr/>
            <p:nvPr/>
          </p:nvSpPr>
          <p:spPr>
            <a:xfrm>
              <a:off x="10029369" y="4547695"/>
              <a:ext cx="1952174" cy="1272534"/>
            </a:xfrm>
            <a:prstGeom prst="roundRect">
              <a:avLst/>
            </a:prstGeom>
            <a:noFill/>
            <a:ln w="5715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ja-JP" altLang="en-US"/>
            </a:p>
          </p:txBody>
        </p:sp>
      </p:grpSp>
    </p:spTree>
    <p:extLst>
      <p:ext uri="{BB962C8B-B14F-4D97-AF65-F5344CB8AC3E}">
        <p14:creationId xmlns:p14="http://schemas.microsoft.com/office/powerpoint/2010/main" val="3241237835"/>
      </p:ext>
    </p:extLst>
  </p:cSld>
  <p:clrMapOvr>
    <a:masterClrMapping/>
  </p:clrMapOvr>
  <mc:AlternateContent xmlns:mc="http://schemas.openxmlformats.org/markup-compatibility/2006" xmlns:p14="http://schemas.microsoft.com/office/powerpoint/2010/main">
    <mc:Choice Requires="p14">
      <p:transition spd="slow" p14:dur="2000" advTm="161"/>
    </mc:Choice>
    <mc:Fallback xmlns="">
      <p:transition spd="slow" advTm="16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FBE3AB-5A24-1F6E-01EF-04B580725F33}"/>
              </a:ext>
            </a:extLst>
          </p:cNvPr>
          <p:cNvSpPr>
            <a:spLocks noGrp="1"/>
          </p:cNvSpPr>
          <p:nvPr>
            <p:ph type="title"/>
          </p:nvPr>
        </p:nvSpPr>
        <p:spPr/>
        <p:txBody>
          <a:bodyPr/>
          <a:lstStyle/>
          <a:p>
            <a:r>
              <a:rPr kumimoji="1" lang="ja-JP" altLang="en-US" dirty="0"/>
              <a:t>分析方法</a:t>
            </a:r>
          </a:p>
        </p:txBody>
      </p:sp>
      <p:sp>
        <p:nvSpPr>
          <p:cNvPr id="3" name="コンテンツ プレースホルダー 2">
            <a:extLst>
              <a:ext uri="{FF2B5EF4-FFF2-40B4-BE49-F238E27FC236}">
                <a16:creationId xmlns:a16="http://schemas.microsoft.com/office/drawing/2014/main" id="{E314DB26-FA72-69CB-D28D-EC3DD0986FB6}"/>
              </a:ext>
            </a:extLst>
          </p:cNvPr>
          <p:cNvSpPr>
            <a:spLocks noGrp="1"/>
          </p:cNvSpPr>
          <p:nvPr>
            <p:ph idx="1"/>
          </p:nvPr>
        </p:nvSpPr>
        <p:spPr>
          <a:xfrm>
            <a:off x="339115" y="1452312"/>
            <a:ext cx="11505696" cy="1601676"/>
          </a:xfrm>
        </p:spPr>
        <p:txBody>
          <a:bodyPr/>
          <a:lstStyle/>
          <a:p>
            <a:r>
              <a:rPr kumimoji="1" lang="en-US" altLang="ja-JP" sz="3200" dirty="0"/>
              <a:t>LLM</a:t>
            </a:r>
            <a:r>
              <a:rPr kumimoji="1" lang="ja-JP" altLang="en-US" sz="3200" dirty="0"/>
              <a:t>に人生体験を与えた後</a:t>
            </a:r>
            <a:r>
              <a:rPr kumimoji="1" lang="en-US" altLang="ja-JP" sz="3200" dirty="0"/>
              <a:t>BFI-2</a:t>
            </a:r>
            <a:r>
              <a:rPr kumimoji="1" lang="ja-JP" altLang="en-US" sz="3200" dirty="0"/>
              <a:t>テストを受験</a:t>
            </a:r>
            <a:r>
              <a:rPr lang="ja-JP" altLang="en-US" sz="3200" dirty="0"/>
              <a:t>させる</a:t>
            </a:r>
            <a:endParaRPr kumimoji="1" lang="en-US" altLang="ja-JP" sz="3200" dirty="0"/>
          </a:p>
          <a:p>
            <a:pPr lvl="1"/>
            <a:r>
              <a:rPr lang="ja-JP" altLang="en-US" sz="2800" dirty="0"/>
              <a:t>複数回の受験での回答の一貫性</a:t>
            </a:r>
            <a:endParaRPr lang="en-US" altLang="ja-JP" sz="2800" dirty="0"/>
          </a:p>
          <a:p>
            <a:pPr lvl="1"/>
            <a:r>
              <a:rPr lang="en-US" altLang="ja-JP" sz="2800" dirty="0"/>
              <a:t>LLM</a:t>
            </a:r>
            <a:r>
              <a:rPr lang="ja-JP" altLang="en-US" sz="2800" dirty="0"/>
              <a:t>の性格特性と体験提供者の性格特性の一致度</a:t>
            </a:r>
            <a:endParaRPr lang="en-US" altLang="ja-JP" sz="2800" dirty="0"/>
          </a:p>
          <a:p>
            <a:pPr lvl="1"/>
            <a:endParaRPr lang="en-US" altLang="ja-JP" sz="2800" dirty="0"/>
          </a:p>
        </p:txBody>
      </p:sp>
      <p:pic>
        <p:nvPicPr>
          <p:cNvPr id="5" name="図 4" descr="グラフ, 折れ線グラフ&#10;&#10;AI 生成コンテンツは誤りを含む可能性があります。">
            <a:extLst>
              <a:ext uri="{FF2B5EF4-FFF2-40B4-BE49-F238E27FC236}">
                <a16:creationId xmlns:a16="http://schemas.microsoft.com/office/drawing/2014/main" id="{1D69DEDD-AFE3-E0E9-C42A-481F15892E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0771" y="3804013"/>
            <a:ext cx="4806950" cy="2746829"/>
          </a:xfrm>
          <a:prstGeom prst="rect">
            <a:avLst/>
          </a:prstGeom>
        </p:spPr>
      </p:pic>
      <p:sp>
        <p:nvSpPr>
          <p:cNvPr id="6" name="楕円 5">
            <a:extLst>
              <a:ext uri="{FF2B5EF4-FFF2-40B4-BE49-F238E27FC236}">
                <a16:creationId xmlns:a16="http://schemas.microsoft.com/office/drawing/2014/main" id="{B16F9166-015B-04BC-836B-2FBA58262D13}"/>
              </a:ext>
            </a:extLst>
          </p:cNvPr>
          <p:cNvSpPr/>
          <p:nvPr/>
        </p:nvSpPr>
        <p:spPr>
          <a:xfrm>
            <a:off x="9945650" y="4430486"/>
            <a:ext cx="337457" cy="370114"/>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F9B88DF5-80FA-B150-DC72-1F43E49782FA}"/>
              </a:ext>
            </a:extLst>
          </p:cNvPr>
          <p:cNvSpPr/>
          <p:nvPr/>
        </p:nvSpPr>
        <p:spPr>
          <a:xfrm>
            <a:off x="10816507" y="5606143"/>
            <a:ext cx="337457" cy="370114"/>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D502E2CA-2366-DA01-4643-14D149C80B1F}"/>
              </a:ext>
            </a:extLst>
          </p:cNvPr>
          <p:cNvSpPr/>
          <p:nvPr/>
        </p:nvSpPr>
        <p:spPr>
          <a:xfrm>
            <a:off x="9776921" y="5166541"/>
            <a:ext cx="337457" cy="370114"/>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a:p>
        </p:txBody>
      </p:sp>
      <p:sp>
        <p:nvSpPr>
          <p:cNvPr id="11" name="コンテンツ プレースホルダー 2">
            <a:extLst>
              <a:ext uri="{FF2B5EF4-FFF2-40B4-BE49-F238E27FC236}">
                <a16:creationId xmlns:a16="http://schemas.microsoft.com/office/drawing/2014/main" id="{060985E4-8B50-25C5-99A1-4671AD6430F8}"/>
              </a:ext>
            </a:extLst>
          </p:cNvPr>
          <p:cNvSpPr txBox="1">
            <a:spLocks/>
          </p:cNvSpPr>
          <p:nvPr/>
        </p:nvSpPr>
        <p:spPr>
          <a:xfrm>
            <a:off x="339114" y="3209312"/>
            <a:ext cx="7114981" cy="19572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4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36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3200" dirty="0"/>
              <a:t>大きな転機となる出来事での変化</a:t>
            </a:r>
            <a:endParaRPr lang="en-US" altLang="ja-JP" sz="3200" dirty="0"/>
          </a:p>
          <a:p>
            <a:pPr lvl="1"/>
            <a:r>
              <a:rPr lang="ja-JP" altLang="en-US" sz="2800" dirty="0"/>
              <a:t>人生グラフのピークとなる体験での感情や</a:t>
            </a:r>
            <a:br>
              <a:rPr lang="en-US" altLang="ja-JP" sz="2800" dirty="0"/>
            </a:br>
            <a:r>
              <a:rPr lang="ja-JP" altLang="en-US" sz="2800" dirty="0"/>
              <a:t>思考の変化</a:t>
            </a:r>
            <a:endParaRPr lang="en-US" altLang="ja-JP" sz="2800" dirty="0"/>
          </a:p>
        </p:txBody>
      </p:sp>
    </p:spTree>
    <p:extLst>
      <p:ext uri="{BB962C8B-B14F-4D97-AF65-F5344CB8AC3E}">
        <p14:creationId xmlns:p14="http://schemas.microsoft.com/office/powerpoint/2010/main" val="2257622917"/>
      </p:ext>
    </p:extLst>
  </p:cSld>
  <p:clrMapOvr>
    <a:masterClrMapping/>
  </p:clrMapOvr>
  <mc:AlternateContent xmlns:mc="http://schemas.openxmlformats.org/markup-compatibility/2006" xmlns:p14="http://schemas.microsoft.com/office/powerpoint/2010/main">
    <mc:Choice Requires="p14">
      <p:transition spd="slow" p14:dur="2000" advTm="161"/>
    </mc:Choice>
    <mc:Fallback xmlns="">
      <p:transition spd="slow" advTm="16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A27642-25EC-B35B-DFE0-A3336474E12B}"/>
              </a:ext>
            </a:extLst>
          </p:cNvPr>
          <p:cNvSpPr>
            <a:spLocks noGrp="1"/>
          </p:cNvSpPr>
          <p:nvPr>
            <p:ph type="title"/>
          </p:nvPr>
        </p:nvSpPr>
        <p:spPr/>
        <p:txBody>
          <a:bodyPr/>
          <a:lstStyle/>
          <a:p>
            <a:r>
              <a:rPr kumimoji="1" lang="ja-JP" altLang="en-US" dirty="0"/>
              <a:t>まとめ</a:t>
            </a:r>
          </a:p>
        </p:txBody>
      </p:sp>
      <p:sp>
        <p:nvSpPr>
          <p:cNvPr id="3" name="コンテンツ プレースホルダー 2">
            <a:extLst>
              <a:ext uri="{FF2B5EF4-FFF2-40B4-BE49-F238E27FC236}">
                <a16:creationId xmlns:a16="http://schemas.microsoft.com/office/drawing/2014/main" id="{AA534970-8D89-E274-E083-FB709DE9E901}"/>
              </a:ext>
            </a:extLst>
          </p:cNvPr>
          <p:cNvSpPr>
            <a:spLocks noGrp="1"/>
          </p:cNvSpPr>
          <p:nvPr>
            <p:ph idx="1"/>
          </p:nvPr>
        </p:nvSpPr>
        <p:spPr/>
        <p:txBody>
          <a:bodyPr/>
          <a:lstStyle/>
          <a:p>
            <a:r>
              <a:rPr kumimoji="1" lang="ja-JP" altLang="en-US" dirty="0"/>
              <a:t>データを収集するためのプラットフォームを構築</a:t>
            </a:r>
            <a:endParaRPr kumimoji="1" lang="en-US" altLang="ja-JP" dirty="0"/>
          </a:p>
          <a:p>
            <a:pPr lvl="1"/>
            <a:r>
              <a:rPr lang="ja-JP" altLang="en-US" dirty="0"/>
              <a:t>人生グラフ，性格特性</a:t>
            </a:r>
            <a:endParaRPr kumimoji="1" lang="en-US" altLang="ja-JP" dirty="0"/>
          </a:p>
          <a:p>
            <a:endParaRPr kumimoji="1" lang="en-US" altLang="ja-JP" dirty="0"/>
          </a:p>
          <a:p>
            <a:pPr>
              <a:buClr>
                <a:schemeClr val="tx1"/>
              </a:buClr>
            </a:pPr>
            <a:r>
              <a:rPr kumimoji="1" lang="ja-JP" altLang="en-US" dirty="0">
                <a:solidFill>
                  <a:srgbClr val="FF0000"/>
                </a:solidFill>
              </a:rPr>
              <a:t>今後の展望</a:t>
            </a:r>
            <a:endParaRPr kumimoji="1" lang="en-US" altLang="ja-JP" dirty="0">
              <a:solidFill>
                <a:srgbClr val="FF0000"/>
              </a:solidFill>
            </a:endParaRPr>
          </a:p>
          <a:p>
            <a:pPr lvl="1"/>
            <a:r>
              <a:rPr kumimoji="1" lang="ja-JP" altLang="en-US" dirty="0"/>
              <a:t>構築したプラットフォームを用いたデータの収集</a:t>
            </a:r>
            <a:r>
              <a:rPr lang="ja-JP" altLang="en-US" dirty="0"/>
              <a:t>と分析</a:t>
            </a:r>
            <a:endParaRPr kumimoji="1" lang="en-US" altLang="ja-JP" dirty="0"/>
          </a:p>
        </p:txBody>
      </p:sp>
    </p:spTree>
    <p:extLst>
      <p:ext uri="{BB962C8B-B14F-4D97-AF65-F5344CB8AC3E}">
        <p14:creationId xmlns:p14="http://schemas.microsoft.com/office/powerpoint/2010/main" val="11507279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2|0.1|0.6"/>
</p:tagLst>
</file>

<file path=ppt/theme/theme1.xml><?xml version="1.0" encoding="utf-8"?>
<a:theme xmlns:a="http://schemas.openxmlformats.org/drawingml/2006/main" name="スライドテンプレートv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ユーザー定義 3">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3C3CF217828E6042B0093F254B016BAC" ma:contentTypeVersion="8" ma:contentTypeDescription="新しいドキュメントを作成します。" ma:contentTypeScope="" ma:versionID="356846234a5a745d4d4fa178ae67ce0c">
  <xsd:schema xmlns:xsd="http://www.w3.org/2001/XMLSchema" xmlns:xs="http://www.w3.org/2001/XMLSchema" xmlns:p="http://schemas.microsoft.com/office/2006/metadata/properties" xmlns:ns3="eba0f049-8b39-4824-86b1-9f396ac78175" targetNamespace="http://schemas.microsoft.com/office/2006/metadata/properties" ma:root="true" ma:fieldsID="51a02b64f5a98bb4f00377f85fe5b238" ns3:_="">
    <xsd:import namespace="eba0f049-8b39-4824-86b1-9f396ac7817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SearchProperties" minOccurs="0"/>
                <xsd:element ref="ns3:MediaServiceObjectDetectorVersion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a0f049-8b39-4824-86b1-9f396ac7817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_activity" ma:index="14" nillable="true" ma:displayName="_activity" ma:hidden="true" ma:internalName="_activity">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ba0f049-8b39-4824-86b1-9f396ac78175" xsi:nil="true"/>
  </documentManagement>
</p:properties>
</file>

<file path=customXml/itemProps1.xml><?xml version="1.0" encoding="utf-8"?>
<ds:datastoreItem xmlns:ds="http://schemas.openxmlformats.org/officeDocument/2006/customXml" ds:itemID="{9F466F44-862D-4F97-953A-712A235B3838}">
  <ds:schemaRefs>
    <ds:schemaRef ds:uri="http://schemas.microsoft.com/sharepoint/v3/contenttype/forms"/>
  </ds:schemaRefs>
</ds:datastoreItem>
</file>

<file path=customXml/itemProps2.xml><?xml version="1.0" encoding="utf-8"?>
<ds:datastoreItem xmlns:ds="http://schemas.openxmlformats.org/officeDocument/2006/customXml" ds:itemID="{746598E4-6FB2-483F-8790-8C31838AD2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a0f049-8b39-4824-86b1-9f396ac781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B94748-61F7-4FB2-8036-61CEED3398EC}">
  <ds:schemaRefs>
    <ds:schemaRef ds:uri="http://schemas.microsoft.com/office/2006/documentManagement/types"/>
    <ds:schemaRef ds:uri="eba0f049-8b39-4824-86b1-9f396ac78175"/>
    <ds:schemaRef ds:uri="http://purl.org/dc/elements/1.1/"/>
    <ds:schemaRef ds:uri="http://schemas.microsoft.com/office/2006/metadata/properties"/>
    <ds:schemaRef ds:uri="http://purl.org/dc/terms/"/>
    <ds:schemaRef ds:uri="http://schemas.microsoft.com/office/infopath/2007/PartnerControls"/>
    <ds:schemaRef ds:uri="http://www.w3.org/XML/1998/namespace"/>
    <ds:schemaRef ds:uri="http://purl.org/dc/dcmitype/"/>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スライドテンプレートv3</Template>
  <TotalTime>4446</TotalTime>
  <Words>591</Words>
  <Application>Microsoft Office PowerPoint</Application>
  <PresentationFormat>ワイド画面</PresentationFormat>
  <Paragraphs>74</Paragraphs>
  <Slides>8</Slides>
  <Notes>8</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Meiryo UI</vt:lpstr>
      <vt:lpstr>游ゴシック</vt:lpstr>
      <vt:lpstr>Arial</vt:lpstr>
      <vt:lpstr>スライドテンプレートv3</vt:lpstr>
      <vt:lpstr>人生体験の物語を与えることでLLMに主観や性格は生まれるか</vt:lpstr>
      <vt:lpstr>背景</vt:lpstr>
      <vt:lpstr>人生グラフ</vt:lpstr>
      <vt:lpstr>実験デザイン</vt:lpstr>
      <vt:lpstr>データ収集手順</vt:lpstr>
      <vt:lpstr>データ収集手順</vt:lpstr>
      <vt:lpstr>分析方法</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f2210543</dc:creator>
  <cp:lastModifiedBy>f2210543</cp:lastModifiedBy>
  <cp:revision>2</cp:revision>
  <cp:lastPrinted>2025-09-25T13:51:22Z</cp:lastPrinted>
  <dcterms:created xsi:type="dcterms:W3CDTF">2025-09-22T08:22:16Z</dcterms:created>
  <dcterms:modified xsi:type="dcterms:W3CDTF">2026-02-09T03:41:37Z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0x0101003C3CF217828E6042B0093F254B016BAC</vt:lpwstr>
  </property>
</Properties>
</file>