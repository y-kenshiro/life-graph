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 r:id="rId5"/>
    <p:sldId id="257" r:id="rId6"/>
    <p:sldId id="258" r:id="rId7"/>
    <p:sldId id="259" r:id="rId8"/>
    <p:sldId id="260" r:id="rId9"/>
    <p:sldId id="261" r:id="rId10"/>
    <p:sldId id="264" r:id="rId11"/>
    <p:sldId id="273" r:id="rId12"/>
    <p:sldId id="262" r:id="rId13"/>
    <p:sldId id="269" r:id="rId14"/>
    <p:sldId id="266" r:id="rId15"/>
    <p:sldId id="270" r:id="rId16"/>
    <p:sldId id="271" r:id="rId17"/>
    <p:sldId id="272" r:id="rId18"/>
    <p:sldId id="263"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7"/>
    <a:srgbClr val="FFE8CB"/>
    <a:srgbClr val="4472C4"/>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287" autoAdjust="0"/>
  </p:normalViewPr>
  <p:slideViewPr>
    <p:cSldViewPr snapToGrid="0">
      <p:cViewPr varScale="1">
        <p:scale>
          <a:sx n="67" d="100"/>
          <a:sy n="67" d="100"/>
        </p:scale>
        <p:origin x="644" y="48"/>
      </p:cViewPr>
      <p:guideLst/>
    </p:cSldViewPr>
  </p:slideViewPr>
  <p:notesTextViewPr>
    <p:cViewPr>
      <p:scale>
        <a:sx n="33" d="100"/>
        <a:sy n="33"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C816A-985C-453E-8E46-C6CB7C5FAF97}" type="datetimeFigureOut">
              <a:rPr kumimoji="1" lang="ja-JP" altLang="en-US" smtClean="0"/>
              <a:t>2026/2/7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6BAD4-4589-4B87-AB98-FEDC7DD506C2}" type="slidenum">
              <a:rPr kumimoji="1" lang="ja-JP" altLang="en-US" smtClean="0"/>
              <a:t>‹#›</a:t>
            </a:fld>
            <a:endParaRPr kumimoji="1" lang="ja-JP" altLang="en-US"/>
          </a:p>
        </p:txBody>
      </p:sp>
    </p:spTree>
    <p:extLst>
      <p:ext uri="{BB962C8B-B14F-4D97-AF65-F5344CB8AC3E}">
        <p14:creationId xmlns:p14="http://schemas.microsoft.com/office/powerpoint/2010/main" val="48535025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1</a:t>
            </a:fld>
            <a:endParaRPr kumimoji="1" lang="ja-JP" altLang="en-US"/>
          </a:p>
        </p:txBody>
      </p:sp>
    </p:spTree>
    <p:extLst>
      <p:ext uri="{BB962C8B-B14F-4D97-AF65-F5344CB8AC3E}">
        <p14:creationId xmlns:p14="http://schemas.microsoft.com/office/powerpoint/2010/main" val="723053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2</a:t>
            </a:fld>
            <a:endParaRPr kumimoji="1" lang="ja-JP" altLang="en-US"/>
          </a:p>
        </p:txBody>
      </p:sp>
    </p:spTree>
    <p:extLst>
      <p:ext uri="{BB962C8B-B14F-4D97-AF65-F5344CB8AC3E}">
        <p14:creationId xmlns:p14="http://schemas.microsoft.com/office/powerpoint/2010/main" val="2386750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3</a:t>
            </a:fld>
            <a:endParaRPr kumimoji="1" lang="ja-JP" altLang="en-US"/>
          </a:p>
        </p:txBody>
      </p:sp>
    </p:spTree>
    <p:extLst>
      <p:ext uri="{BB962C8B-B14F-4D97-AF65-F5344CB8AC3E}">
        <p14:creationId xmlns:p14="http://schemas.microsoft.com/office/powerpoint/2010/main" val="342754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4</a:t>
            </a:fld>
            <a:endParaRPr kumimoji="1" lang="ja-JP" altLang="en-US"/>
          </a:p>
        </p:txBody>
      </p:sp>
    </p:spTree>
    <p:extLst>
      <p:ext uri="{BB962C8B-B14F-4D97-AF65-F5344CB8AC3E}">
        <p14:creationId xmlns:p14="http://schemas.microsoft.com/office/powerpoint/2010/main" val="49908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5</a:t>
            </a:fld>
            <a:endParaRPr kumimoji="1" lang="ja-JP" altLang="en-US"/>
          </a:p>
        </p:txBody>
      </p:sp>
    </p:spTree>
    <p:extLst>
      <p:ext uri="{BB962C8B-B14F-4D97-AF65-F5344CB8AC3E}">
        <p14:creationId xmlns:p14="http://schemas.microsoft.com/office/powerpoint/2010/main" val="416737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6</a:t>
            </a:fld>
            <a:endParaRPr kumimoji="1" lang="ja-JP" altLang="en-US"/>
          </a:p>
        </p:txBody>
      </p:sp>
    </p:spTree>
    <p:extLst>
      <p:ext uri="{BB962C8B-B14F-4D97-AF65-F5344CB8AC3E}">
        <p14:creationId xmlns:p14="http://schemas.microsoft.com/office/powerpoint/2010/main" val="368757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687A-4784-4936-119B-5FB84A3C97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90B399-A70F-69E9-7D33-96F272EA2E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DD3616-F9EF-DD29-1E5A-DFCE5B933DF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EA06141-4C13-443F-F9CC-8692652B22AB}"/>
              </a:ext>
            </a:extLst>
          </p:cNvPr>
          <p:cNvSpPr>
            <a:spLocks noGrp="1"/>
          </p:cNvSpPr>
          <p:nvPr>
            <p:ph type="sldNum" sz="quarter" idx="5"/>
          </p:nvPr>
        </p:nvSpPr>
        <p:spPr/>
        <p:txBody>
          <a:bodyPr/>
          <a:lstStyle/>
          <a:p>
            <a:fld id="{4036BAD4-4589-4B87-AB98-FEDC7DD506C2}" type="slidenum">
              <a:rPr kumimoji="1" lang="ja-JP" altLang="en-US" smtClean="0"/>
              <a:t>7</a:t>
            </a:fld>
            <a:endParaRPr kumimoji="1" lang="ja-JP" altLang="en-US"/>
          </a:p>
        </p:txBody>
      </p:sp>
    </p:spTree>
    <p:extLst>
      <p:ext uri="{BB962C8B-B14F-4D97-AF65-F5344CB8AC3E}">
        <p14:creationId xmlns:p14="http://schemas.microsoft.com/office/powerpoint/2010/main" val="2314676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BA96C-E00B-D778-CE2A-F48F7754DE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6E41A9-EB56-16CB-BA4C-5071CD1ACF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3A94A9-2A93-55CA-274F-D4407D0A264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934B245-B831-A05A-880D-8AE43253567E}"/>
              </a:ext>
            </a:extLst>
          </p:cNvPr>
          <p:cNvSpPr>
            <a:spLocks noGrp="1"/>
          </p:cNvSpPr>
          <p:nvPr>
            <p:ph type="sldNum" sz="quarter" idx="5"/>
          </p:nvPr>
        </p:nvSpPr>
        <p:spPr/>
        <p:txBody>
          <a:bodyPr/>
          <a:lstStyle/>
          <a:p>
            <a:fld id="{4036BAD4-4589-4B87-AB98-FEDC7DD506C2}" type="slidenum">
              <a:rPr kumimoji="1" lang="ja-JP" altLang="en-US" smtClean="0"/>
              <a:t>8</a:t>
            </a:fld>
            <a:endParaRPr kumimoji="1" lang="ja-JP" altLang="en-US"/>
          </a:p>
        </p:txBody>
      </p:sp>
    </p:spTree>
    <p:extLst>
      <p:ext uri="{BB962C8B-B14F-4D97-AF65-F5344CB8AC3E}">
        <p14:creationId xmlns:p14="http://schemas.microsoft.com/office/powerpoint/2010/main" val="1968790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9</a:t>
            </a:fld>
            <a:endParaRPr kumimoji="1" lang="ja-JP" altLang="en-US"/>
          </a:p>
        </p:txBody>
      </p:sp>
    </p:spTree>
    <p:extLst>
      <p:ext uri="{BB962C8B-B14F-4D97-AF65-F5344CB8AC3E}">
        <p14:creationId xmlns:p14="http://schemas.microsoft.com/office/powerpoint/2010/main" val="252968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F5659-A10C-C8BF-5791-182A829C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BA2F43-F934-F0C8-7D05-1C45CDA61E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700727-7B46-A555-03A4-380D95DE69D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5058719-6049-60A5-1A73-B488D0E5C89D}"/>
              </a:ext>
            </a:extLst>
          </p:cNvPr>
          <p:cNvSpPr>
            <a:spLocks noGrp="1"/>
          </p:cNvSpPr>
          <p:nvPr>
            <p:ph type="sldNum" sz="quarter" idx="5"/>
          </p:nvPr>
        </p:nvSpPr>
        <p:spPr/>
        <p:txBody>
          <a:bodyPr/>
          <a:lstStyle/>
          <a:p>
            <a:fld id="{4036BAD4-4589-4B87-AB98-FEDC7DD506C2}" type="slidenum">
              <a:rPr kumimoji="1" lang="ja-JP" altLang="en-US" smtClean="0"/>
              <a:t>10</a:t>
            </a:fld>
            <a:endParaRPr kumimoji="1" lang="ja-JP" altLang="en-US"/>
          </a:p>
        </p:txBody>
      </p:sp>
    </p:spTree>
    <p:extLst>
      <p:ext uri="{BB962C8B-B14F-4D97-AF65-F5344CB8AC3E}">
        <p14:creationId xmlns:p14="http://schemas.microsoft.com/office/powerpoint/2010/main" val="365101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太字→赤字にする</a:t>
            </a:r>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11</a:t>
            </a:fld>
            <a:endParaRPr kumimoji="1" lang="ja-JP" altLang="en-US"/>
          </a:p>
        </p:txBody>
      </p:sp>
    </p:spTree>
    <p:extLst>
      <p:ext uri="{BB962C8B-B14F-4D97-AF65-F5344CB8AC3E}">
        <p14:creationId xmlns:p14="http://schemas.microsoft.com/office/powerpoint/2010/main" val="4232455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598B7-8266-8EDE-F643-B0B6C99929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66C445-0CC3-E4EC-403A-9103B091244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C16CBB-DBDC-4629-5105-69B6848B353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776406E-6C77-7E9D-0E92-5BFDE6A339E0}"/>
              </a:ext>
            </a:extLst>
          </p:cNvPr>
          <p:cNvSpPr>
            <a:spLocks noGrp="1"/>
          </p:cNvSpPr>
          <p:nvPr>
            <p:ph type="sldNum" sz="quarter" idx="5"/>
          </p:nvPr>
        </p:nvSpPr>
        <p:spPr/>
        <p:txBody>
          <a:bodyPr/>
          <a:lstStyle/>
          <a:p>
            <a:fld id="{4036BAD4-4589-4B87-AB98-FEDC7DD506C2}" type="slidenum">
              <a:rPr kumimoji="1" lang="ja-JP" altLang="en-US" smtClean="0"/>
              <a:t>12</a:t>
            </a:fld>
            <a:endParaRPr kumimoji="1" lang="ja-JP" altLang="en-US"/>
          </a:p>
        </p:txBody>
      </p:sp>
    </p:spTree>
    <p:extLst>
      <p:ext uri="{BB962C8B-B14F-4D97-AF65-F5344CB8AC3E}">
        <p14:creationId xmlns:p14="http://schemas.microsoft.com/office/powerpoint/2010/main" val="1459686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AE53-37BD-7D8F-E76B-170B212927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A2B64B-CD49-60F0-25D8-58176DE470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A20CD8-81DD-2BA3-8E95-8071848F18D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96B3D80-D6B0-5394-35E1-09041A8435C3}"/>
              </a:ext>
            </a:extLst>
          </p:cNvPr>
          <p:cNvSpPr>
            <a:spLocks noGrp="1"/>
          </p:cNvSpPr>
          <p:nvPr>
            <p:ph type="sldNum" sz="quarter" idx="5"/>
          </p:nvPr>
        </p:nvSpPr>
        <p:spPr/>
        <p:txBody>
          <a:bodyPr/>
          <a:lstStyle/>
          <a:p>
            <a:fld id="{4036BAD4-4589-4B87-AB98-FEDC7DD506C2}" type="slidenum">
              <a:rPr kumimoji="1" lang="ja-JP" altLang="en-US" smtClean="0"/>
              <a:t>13</a:t>
            </a:fld>
            <a:endParaRPr kumimoji="1" lang="ja-JP" altLang="en-US"/>
          </a:p>
        </p:txBody>
      </p:sp>
    </p:spTree>
    <p:extLst>
      <p:ext uri="{BB962C8B-B14F-4D97-AF65-F5344CB8AC3E}">
        <p14:creationId xmlns:p14="http://schemas.microsoft.com/office/powerpoint/2010/main" val="2602671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関連研究について言う。</a:t>
            </a:r>
            <a:endParaRPr kumimoji="1" lang="en-US" altLang="ja-JP" dirty="0"/>
          </a:p>
          <a:p>
            <a:r>
              <a:rPr kumimoji="1" lang="en-US" altLang="ja-JP" dirty="0"/>
              <a:t>-&gt;</a:t>
            </a:r>
            <a:r>
              <a:rPr kumimoji="1" lang="ja-JP" altLang="en-US" dirty="0"/>
              <a:t>ペルソナを与える先行研究との違い・良さ</a:t>
            </a:r>
            <a:endParaRPr kumimoji="1" lang="en-US" altLang="ja-JP" dirty="0"/>
          </a:p>
          <a:p>
            <a:r>
              <a:rPr kumimoji="1" lang="en-US" altLang="ja-JP" dirty="0"/>
              <a:t>-&gt;</a:t>
            </a:r>
            <a:r>
              <a:rPr kumimoji="1" lang="ja-JP" altLang="en-US" dirty="0"/>
              <a:t>ユーザーとのやり取りの中でペルソナを構築していける</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14</a:t>
            </a:fld>
            <a:endParaRPr kumimoji="1" lang="ja-JP" altLang="en-US"/>
          </a:p>
        </p:txBody>
      </p:sp>
    </p:spTree>
    <p:extLst>
      <p:ext uri="{BB962C8B-B14F-4D97-AF65-F5344CB8AC3E}">
        <p14:creationId xmlns:p14="http://schemas.microsoft.com/office/powerpoint/2010/main" val="455138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15</a:t>
            </a:fld>
            <a:endParaRPr kumimoji="1" lang="ja-JP" altLang="en-US"/>
          </a:p>
        </p:txBody>
      </p:sp>
    </p:spTree>
    <p:extLst>
      <p:ext uri="{BB962C8B-B14F-4D97-AF65-F5344CB8AC3E}">
        <p14:creationId xmlns:p14="http://schemas.microsoft.com/office/powerpoint/2010/main" val="3023004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9BD08A6-3DC7-4B86-A22D-DA5BDE2F8338}"/>
              </a:ext>
            </a:extLst>
          </p:cNvPr>
          <p:cNvSpPr/>
          <p:nvPr/>
        </p:nvSpPr>
        <p:spPr>
          <a:xfrm>
            <a:off x="0" y="6562165"/>
            <a:ext cx="12192000" cy="295835"/>
          </a:xfrm>
          <a:prstGeom prst="rect">
            <a:avLst/>
          </a:prstGeom>
          <a:gradFill flip="none" rotWithShape="0">
            <a:gsLst>
              <a:gs pos="100000">
                <a:srgbClr val="17288B"/>
              </a:gs>
              <a:gs pos="0">
                <a:srgbClr val="17288B"/>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2" descr="Gyazo">
            <a:extLst>
              <a:ext uri="{FF2B5EF4-FFF2-40B4-BE49-F238E27FC236}">
                <a16:creationId xmlns:a16="http://schemas.microsoft.com/office/drawing/2014/main" id="{61958B73-D6D1-4195-BCB8-8E45AE0F7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1" y="6570722"/>
            <a:ext cx="990600" cy="287275"/>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AE622875-1F6D-4AFA-8BF2-4E8772BB95F9}"/>
              </a:ext>
            </a:extLst>
          </p:cNvPr>
          <p:cNvSpPr>
            <a:spLocks noGrp="1"/>
          </p:cNvSpPr>
          <p:nvPr>
            <p:ph type="ctrTitle"/>
          </p:nvPr>
        </p:nvSpPr>
        <p:spPr>
          <a:xfrm>
            <a:off x="327003" y="1122363"/>
            <a:ext cx="11511751" cy="2387600"/>
          </a:xfrm>
        </p:spPr>
        <p:txBody>
          <a:bodyPr anchor="b"/>
          <a:lstStyle>
            <a:lvl1pPr algn="ctr">
              <a:defRPr sz="6000">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D9340C12-2351-4D18-B45E-A9D2CB26D53A}"/>
              </a:ext>
            </a:extLst>
          </p:cNvPr>
          <p:cNvSpPr>
            <a:spLocks noGrp="1"/>
          </p:cNvSpPr>
          <p:nvPr>
            <p:ph type="subTitle" idx="1"/>
          </p:nvPr>
        </p:nvSpPr>
        <p:spPr>
          <a:xfrm>
            <a:off x="327002" y="3602038"/>
            <a:ext cx="11511751" cy="1655762"/>
          </a:xfrm>
        </p:spPr>
        <p:txBody>
          <a:bodyPr/>
          <a:lstStyle>
            <a:lvl1pPr marL="0" indent="0" algn="ctr">
              <a:buNone/>
              <a:defRPr sz="24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9527CE73-2BF9-4445-BE2E-964541A96B15}"/>
              </a:ext>
            </a:extLst>
          </p:cNvPr>
          <p:cNvSpPr>
            <a:spLocks noGrp="1"/>
          </p:cNvSpPr>
          <p:nvPr>
            <p:ph type="dt" sz="half" idx="10"/>
          </p:nvPr>
        </p:nvSpPr>
        <p:spPr>
          <a:xfrm>
            <a:off x="1465727" y="6570722"/>
            <a:ext cx="2743200" cy="267102"/>
          </a:xfrm>
        </p:spPr>
        <p:txBody>
          <a:bodyPr/>
          <a:lstStyle>
            <a:lvl1pPr>
              <a:defRPr b="1">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5C99E976-C036-4871-83C8-78508CCA9D3E}"/>
              </a:ext>
            </a:extLst>
          </p:cNvPr>
          <p:cNvSpPr>
            <a:spLocks noGrp="1"/>
          </p:cNvSpPr>
          <p:nvPr>
            <p:ph type="ftr" sz="quarter" idx="11"/>
          </p:nvPr>
        </p:nvSpPr>
        <p:spPr>
          <a:xfrm>
            <a:off x="4038600" y="6570722"/>
            <a:ext cx="4114800" cy="267102"/>
          </a:xfr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431113-BD5D-40B4-850A-C007E7B6FBBE}"/>
              </a:ext>
            </a:extLst>
          </p:cNvPr>
          <p:cNvSpPr>
            <a:spLocks noGrp="1"/>
          </p:cNvSpPr>
          <p:nvPr>
            <p:ph type="sldNum" sz="quarter" idx="12"/>
          </p:nvPr>
        </p:nvSpPr>
        <p:spPr>
          <a:xfrm>
            <a:off x="9034183" y="6570722"/>
            <a:ext cx="2743200" cy="261410"/>
          </a:xfrm>
        </p:spPr>
        <p:txBody>
          <a:bodyPr/>
          <a:lstStyle>
            <a:lvl1pPr>
              <a:defRPr sz="1600" b="1">
                <a:solidFill>
                  <a:schemeClr val="bg1"/>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pic>
        <p:nvPicPr>
          <p:cNvPr id="13" name="図 12">
            <a:extLst>
              <a:ext uri="{FF2B5EF4-FFF2-40B4-BE49-F238E27FC236}">
                <a16:creationId xmlns:a16="http://schemas.microsoft.com/office/drawing/2014/main" id="{5E5889AD-9EE8-44CC-8BBF-102604EF7039}"/>
              </a:ext>
            </a:extLst>
          </p:cNvPr>
          <p:cNvPicPr>
            <a:picLocks noChangeAspect="1"/>
          </p:cNvPicPr>
          <p:nvPr/>
        </p:nvPicPr>
        <p:blipFill>
          <a:blip r:embed="rId3"/>
          <a:stretch>
            <a:fillRect/>
          </a:stretch>
        </p:blipFill>
        <p:spPr>
          <a:xfrm>
            <a:off x="10284995" y="25868"/>
            <a:ext cx="1852863" cy="1207631"/>
          </a:xfrm>
          <a:prstGeom prst="rect">
            <a:avLst/>
          </a:prstGeom>
        </p:spPr>
      </p:pic>
    </p:spTree>
    <p:extLst>
      <p:ext uri="{BB962C8B-B14F-4D97-AF65-F5344CB8AC3E}">
        <p14:creationId xmlns:p14="http://schemas.microsoft.com/office/powerpoint/2010/main" val="304655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9ABA5A-5CF8-42B8-B062-27110EF1E54B}"/>
              </a:ext>
            </a:extLst>
          </p:cNvPr>
          <p:cNvSpPr>
            <a:spLocks noGrp="1"/>
          </p:cNvSpPr>
          <p:nvPr>
            <p:ph type="title"/>
          </p:nvPr>
        </p:nvSpPr>
        <p:spPr>
          <a:xfrm>
            <a:off x="339115" y="240632"/>
            <a:ext cx="10076567" cy="1056356"/>
          </a:xfrm>
        </p:spPr>
        <p:txBody>
          <a:bodyPr>
            <a:normAutofit/>
          </a:bodyPr>
          <a:lstStyle>
            <a:lvl1pPr>
              <a:defRPr sz="5400">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906F8E98-64BD-4BE3-B1C8-DA3039D5D662}"/>
              </a:ext>
            </a:extLst>
          </p:cNvPr>
          <p:cNvSpPr>
            <a:spLocks noGrp="1"/>
          </p:cNvSpPr>
          <p:nvPr>
            <p:ph idx="1"/>
          </p:nvPr>
        </p:nvSpPr>
        <p:spPr>
          <a:xfrm>
            <a:off x="339115" y="1452311"/>
            <a:ext cx="11505696" cy="4996933"/>
          </a:xfrm>
        </p:spPr>
        <p:txBody>
          <a:bodyPr>
            <a:normAutofit/>
          </a:bodyPr>
          <a:lstStyle>
            <a:lvl1pPr>
              <a:defRPr sz="4000">
                <a:latin typeface="Meiryo UI" panose="020B0604030504040204" pitchFamily="50" charset="-128"/>
                <a:ea typeface="Meiryo UI" panose="020B0604030504040204" pitchFamily="50" charset="-128"/>
              </a:defRPr>
            </a:lvl1pPr>
            <a:lvl2pPr>
              <a:defRPr sz="3600">
                <a:latin typeface="Meiryo UI" panose="020B0604030504040204" pitchFamily="50" charset="-128"/>
                <a:ea typeface="Meiryo UI" panose="020B0604030504040204" pitchFamily="50" charset="-128"/>
              </a:defRPr>
            </a:lvl2pPr>
            <a:lvl3pPr>
              <a:defRPr sz="3200">
                <a:latin typeface="Meiryo UI" panose="020B0604030504040204" pitchFamily="50" charset="-128"/>
                <a:ea typeface="Meiryo UI" panose="020B0604030504040204" pitchFamily="50" charset="-128"/>
              </a:defRPr>
            </a:lvl3pPr>
            <a:lvl4pPr>
              <a:defRPr sz="2800">
                <a:latin typeface="Meiryo UI" panose="020B0604030504040204" pitchFamily="50" charset="-128"/>
                <a:ea typeface="Meiryo UI" panose="020B0604030504040204" pitchFamily="50" charset="-128"/>
              </a:defRPr>
            </a:lvl4pPr>
            <a:lvl5pPr>
              <a:defRPr sz="2800">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6" name="正方形/長方形 15">
            <a:extLst>
              <a:ext uri="{FF2B5EF4-FFF2-40B4-BE49-F238E27FC236}">
                <a16:creationId xmlns:a16="http://schemas.microsoft.com/office/drawing/2014/main" id="{C1C9AB56-BE8E-4858-BC71-5EC7BD9DB829}"/>
              </a:ext>
            </a:extLst>
          </p:cNvPr>
          <p:cNvSpPr/>
          <p:nvPr/>
        </p:nvSpPr>
        <p:spPr>
          <a:xfrm>
            <a:off x="0" y="6562165"/>
            <a:ext cx="12192000" cy="295835"/>
          </a:xfrm>
          <a:prstGeom prst="rect">
            <a:avLst/>
          </a:prstGeom>
          <a:gradFill flip="none" rotWithShape="0">
            <a:gsLst>
              <a:gs pos="100000">
                <a:srgbClr val="17288B"/>
              </a:gs>
              <a:gs pos="0">
                <a:srgbClr val="17288B"/>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Picture 2" descr="Gyazo">
            <a:extLst>
              <a:ext uri="{FF2B5EF4-FFF2-40B4-BE49-F238E27FC236}">
                <a16:creationId xmlns:a16="http://schemas.microsoft.com/office/drawing/2014/main" id="{B8CA2174-6BBE-4F47-8153-6EF27805F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1" y="6570722"/>
            <a:ext cx="990600" cy="287275"/>
          </a:xfrm>
          <a:prstGeom prst="rect">
            <a:avLst/>
          </a:prstGeom>
          <a:noFill/>
          <a:extLst>
            <a:ext uri="{909E8E84-426E-40DD-AFC4-6F175D3DCCD1}">
              <a14:hiddenFill xmlns:a14="http://schemas.microsoft.com/office/drawing/2010/main">
                <a:solidFill>
                  <a:srgbClr val="FFFFFF"/>
                </a:solidFill>
              </a14:hiddenFill>
            </a:ext>
          </a:extLst>
        </p:spPr>
      </p:pic>
      <p:sp>
        <p:nvSpPr>
          <p:cNvPr id="18" name="日付プレースホルダー 3">
            <a:extLst>
              <a:ext uri="{FF2B5EF4-FFF2-40B4-BE49-F238E27FC236}">
                <a16:creationId xmlns:a16="http://schemas.microsoft.com/office/drawing/2014/main" id="{C4FF6A33-1017-49C0-A8C3-AC032D956D14}"/>
              </a:ext>
            </a:extLst>
          </p:cNvPr>
          <p:cNvSpPr>
            <a:spLocks noGrp="1"/>
          </p:cNvSpPr>
          <p:nvPr>
            <p:ph type="dt" sz="half" idx="10"/>
          </p:nvPr>
        </p:nvSpPr>
        <p:spPr>
          <a:xfrm>
            <a:off x="1465727" y="6570722"/>
            <a:ext cx="2743200" cy="267102"/>
          </a:xfrm>
        </p:spPr>
        <p:txBody>
          <a:bodyPr/>
          <a:lstStyle>
            <a:lvl1pPr>
              <a:defRPr>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2026/2/7</a:t>
            </a:fld>
            <a:endParaRPr kumimoji="1" lang="ja-JP" altLang="en-US"/>
          </a:p>
        </p:txBody>
      </p:sp>
      <p:sp>
        <p:nvSpPr>
          <p:cNvPr id="19" name="フッター プレースホルダー 4">
            <a:extLst>
              <a:ext uri="{FF2B5EF4-FFF2-40B4-BE49-F238E27FC236}">
                <a16:creationId xmlns:a16="http://schemas.microsoft.com/office/drawing/2014/main" id="{04FC0C14-8205-426E-B5D6-ED4E719E62DE}"/>
              </a:ext>
            </a:extLst>
          </p:cNvPr>
          <p:cNvSpPr>
            <a:spLocks noGrp="1"/>
          </p:cNvSpPr>
          <p:nvPr>
            <p:ph type="ftr" sz="quarter" idx="11"/>
          </p:nvPr>
        </p:nvSpPr>
        <p:spPr>
          <a:xfrm>
            <a:off x="4038600" y="6570722"/>
            <a:ext cx="4114800" cy="267102"/>
          </a:xfr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20" name="スライド番号プレースホルダー 5">
            <a:extLst>
              <a:ext uri="{FF2B5EF4-FFF2-40B4-BE49-F238E27FC236}">
                <a16:creationId xmlns:a16="http://schemas.microsoft.com/office/drawing/2014/main" id="{FE598626-9D15-484A-82CB-81E752D26A7A}"/>
              </a:ext>
            </a:extLst>
          </p:cNvPr>
          <p:cNvSpPr>
            <a:spLocks noGrp="1"/>
          </p:cNvSpPr>
          <p:nvPr>
            <p:ph type="sldNum" sz="quarter" idx="12"/>
          </p:nvPr>
        </p:nvSpPr>
        <p:spPr>
          <a:xfrm>
            <a:off x="9034183" y="6570722"/>
            <a:ext cx="2743200" cy="261410"/>
          </a:xfrm>
        </p:spPr>
        <p:txBody>
          <a:bodyPr/>
          <a:lstStyle>
            <a:lvl1pPr>
              <a:defRPr sz="1600" b="1">
                <a:solidFill>
                  <a:schemeClr val="bg1"/>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pic>
        <p:nvPicPr>
          <p:cNvPr id="10" name="図 9">
            <a:extLst>
              <a:ext uri="{FF2B5EF4-FFF2-40B4-BE49-F238E27FC236}">
                <a16:creationId xmlns:a16="http://schemas.microsoft.com/office/drawing/2014/main" id="{E311C820-9D15-4F60-A78B-93ACFB774C43}"/>
              </a:ext>
            </a:extLst>
          </p:cNvPr>
          <p:cNvPicPr>
            <a:picLocks noChangeAspect="1"/>
          </p:cNvPicPr>
          <p:nvPr/>
        </p:nvPicPr>
        <p:blipFill>
          <a:blip r:embed="rId3"/>
          <a:stretch>
            <a:fillRect/>
          </a:stretch>
        </p:blipFill>
        <p:spPr>
          <a:xfrm>
            <a:off x="10284995" y="25868"/>
            <a:ext cx="1852863" cy="1207631"/>
          </a:xfrm>
          <a:prstGeom prst="rect">
            <a:avLst/>
          </a:prstGeom>
        </p:spPr>
      </p:pic>
    </p:spTree>
    <p:extLst>
      <p:ext uri="{BB962C8B-B14F-4D97-AF65-F5344CB8AC3E}">
        <p14:creationId xmlns:p14="http://schemas.microsoft.com/office/powerpoint/2010/main" val="243287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71F756-6231-4B0A-BF98-A1BAA929208E}"/>
              </a:ext>
            </a:extLst>
          </p:cNvPr>
          <p:cNvSpPr/>
          <p:nvPr/>
        </p:nvSpPr>
        <p:spPr>
          <a:xfrm>
            <a:off x="0" y="6548718"/>
            <a:ext cx="12192000" cy="309282"/>
          </a:xfrm>
          <a:prstGeom prst="rect">
            <a:avLst/>
          </a:prstGeom>
          <a:gradFill flip="none" rotWithShape="0">
            <a:gsLst>
              <a:gs pos="20000">
                <a:srgbClr val="17288B"/>
              </a:gs>
              <a:gs pos="0">
                <a:srgbClr val="17288B"/>
              </a:gs>
              <a:gs pos="77000">
                <a:schemeClr val="bg1"/>
              </a:gs>
              <a:gs pos="100000">
                <a:schemeClr val="bg1"/>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Picture 2" descr="Gyazo">
            <a:extLst>
              <a:ext uri="{FF2B5EF4-FFF2-40B4-BE49-F238E27FC236}">
                <a16:creationId xmlns:a16="http://schemas.microsoft.com/office/drawing/2014/main" id="{A466F816-C2F1-4D80-859E-8CD2D600E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28" y="6551876"/>
            <a:ext cx="1055595" cy="306123"/>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5DC6011C-4F49-4D2B-B5B6-A8AF752FEB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3CADA4E-7535-4AEC-AC01-3FFFC55D7C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00466EF-1EAD-473D-B993-03C8DD265CF1}"/>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8A1CB5FC-8E55-4016-9031-E9C5BD2FE2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5E4BFB5-C330-4F85-91FA-26429CF52F62}"/>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549340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7BDBC1-6043-4282-816C-8FE0E1F3CB0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46D79A-7BA4-4A81-85DC-37E7EF5688C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DF45481-83B8-4645-8BE6-0B2D7448B89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8674C95-AA2F-423D-A104-52AF04165B6B}"/>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0ADEA436-5CC6-47B7-ACE9-2074150C1B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E848BA6-E7B2-4153-B549-DD1B6DCFB5F4}"/>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110637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CBC86A-FBF0-46DB-914F-E2D9407A6BA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8BAB87-D992-4B98-AC59-9C5C3EA31C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99BB824-4B3C-4662-ACE2-0A423E280BF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FDCBE0F-F76E-4B43-9C39-F6609B2DCE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7F629D0-B0B8-423A-A928-6DC562BCA42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E756AB2-62EB-4290-977A-C16848AF43E0}"/>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8" name="フッター プレースホルダー 7">
            <a:extLst>
              <a:ext uri="{FF2B5EF4-FFF2-40B4-BE49-F238E27FC236}">
                <a16:creationId xmlns:a16="http://schemas.microsoft.com/office/drawing/2014/main" id="{B53EC815-12EE-4FF3-8CCC-F52A10510B2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602B5DF-BECF-4BDC-8093-BD4FA55A46AE}"/>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14018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820B73-56FD-491B-BB98-1A9E2BBEFE5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5DCBBF5-0A8F-4CB9-A1EE-A3DCE5E4439F}"/>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4" name="フッター プレースホルダー 3">
            <a:extLst>
              <a:ext uri="{FF2B5EF4-FFF2-40B4-BE49-F238E27FC236}">
                <a16:creationId xmlns:a16="http://schemas.microsoft.com/office/drawing/2014/main" id="{CCC3576D-B990-45E7-989D-8DFB2332E29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AAD170B-A3A8-41E3-A94E-29096FE45BDD}"/>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70785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F3F6C20-44B1-438E-9432-7A38F15DF9A1}"/>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3" name="フッター プレースホルダー 2">
            <a:extLst>
              <a:ext uri="{FF2B5EF4-FFF2-40B4-BE49-F238E27FC236}">
                <a16:creationId xmlns:a16="http://schemas.microsoft.com/office/drawing/2014/main" id="{810706DE-A2CE-4A65-A6B9-4C745E71290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AA22529-6E7E-4B52-B4F8-CE0CB74C1C33}"/>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681179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92662B-416E-4438-88DB-AE9FC71DF73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E0F11D-255A-45FD-9EE9-D255B90DAE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73D100-C6F1-4427-AEC6-E7BDF31CB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2DD054-4E2B-4A19-A4C5-DB522263F89F}"/>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49C16000-C49D-4D17-A0EC-8BB3A1749C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BA934FC-CB11-4DA9-BBC5-F2EB31F703DA}"/>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4232469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82DC6E-BB03-4CF2-BC25-0EFEB85871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67669F5-D3C0-474E-B12B-AA87BCD717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85E1667E-14E1-4AB7-ACBA-087EB401E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F31BAF-F8F5-4E72-932C-A66A53C8ABB4}"/>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6" name="フッター プレースホルダー 5">
            <a:extLst>
              <a:ext uri="{FF2B5EF4-FFF2-40B4-BE49-F238E27FC236}">
                <a16:creationId xmlns:a16="http://schemas.microsoft.com/office/drawing/2014/main" id="{17062473-FCC1-4D2A-837F-6E0B00C8CA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1466D37-59E1-456A-B066-8601A7A30EA6}"/>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5146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1E4A8-0ACA-4962-A552-EE6BA8E7E71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BEF6F-014C-4D06-9CF1-1A8C3D767F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59B114-49B2-488F-A43B-E6CC11D229BA}"/>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F861D3DF-4D05-460F-B77D-5B7D725F3F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9C7E01-4C4C-4AA4-848A-DBB9727A156A}"/>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275070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634F9E5-C727-422B-BF89-5C4FE7707DD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4A7967B-F814-4A6F-B7AA-200F57BEC3F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5991A6-CBCF-4915-9032-0E9AB7301375}"/>
              </a:ext>
            </a:extLst>
          </p:cNvPr>
          <p:cNvSpPr>
            <a:spLocks noGrp="1"/>
          </p:cNvSpPr>
          <p:nvPr>
            <p:ph type="dt" sz="half" idx="10"/>
          </p:nvPr>
        </p:nvSpPr>
        <p:spPr/>
        <p:txBody>
          <a:bodyPr/>
          <a:lstStyle/>
          <a:p>
            <a:fld id="{F54E7575-5197-4C8E-A84E-65BBD50DEE3D}"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65BEB774-743E-44E9-B23E-3763F0330C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E2F836-B7D9-4D72-877E-3635EAB4B3C6}"/>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29520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62A4216-ACD2-4CD9-95AF-4E4D99235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5DF8D1E-75FE-4E20-B6A1-B7E8345983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2AEE8A-122A-4F13-8FC3-DDC4BB9D4E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2026/2/7</a:t>
            </a:fld>
            <a:endParaRPr kumimoji="1" lang="ja-JP" altLang="en-US"/>
          </a:p>
        </p:txBody>
      </p:sp>
      <p:sp>
        <p:nvSpPr>
          <p:cNvPr id="5" name="フッター プレースホルダー 4">
            <a:extLst>
              <a:ext uri="{FF2B5EF4-FFF2-40B4-BE49-F238E27FC236}">
                <a16:creationId xmlns:a16="http://schemas.microsoft.com/office/drawing/2014/main" id="{9EFC47F7-7376-4565-9515-513F652181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eiryo UI" panose="020B0604030504040204" pitchFamily="50" charset="-128"/>
                <a:ea typeface="Meiryo UI" panose="020B0604030504040204" pitchFamily="50" charset="-128"/>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7F9B4A-FEF6-41FC-A212-626E8A396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230353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5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BF46E8-5FB7-77D3-A1B7-97F0F33C413A}"/>
              </a:ext>
            </a:extLst>
          </p:cNvPr>
          <p:cNvSpPr>
            <a:spLocks noGrp="1"/>
          </p:cNvSpPr>
          <p:nvPr>
            <p:ph type="ctrTitle"/>
          </p:nvPr>
        </p:nvSpPr>
        <p:spPr/>
        <p:txBody>
          <a:bodyPr>
            <a:normAutofit/>
          </a:bodyPr>
          <a:lstStyle/>
          <a:p>
            <a:r>
              <a:rPr lang="ja-JP" altLang="en-US" b="1" dirty="0"/>
              <a:t>人生体験の物語を与えることで</a:t>
            </a:r>
            <a:br>
              <a:rPr lang="en-US" altLang="ja-JP" b="1" dirty="0"/>
            </a:br>
            <a:r>
              <a:rPr lang="en-US" altLang="ja-JP" b="1" dirty="0"/>
              <a:t>LLM</a:t>
            </a:r>
            <a:r>
              <a:rPr lang="ja-JP" altLang="en-US" b="1" dirty="0"/>
              <a:t>に性格や価値観は生まれるか</a:t>
            </a:r>
            <a:endParaRPr kumimoji="1" lang="ja-JP" altLang="en-US" b="1" dirty="0"/>
          </a:p>
        </p:txBody>
      </p:sp>
      <p:sp>
        <p:nvSpPr>
          <p:cNvPr id="3" name="字幕 2">
            <a:extLst>
              <a:ext uri="{FF2B5EF4-FFF2-40B4-BE49-F238E27FC236}">
                <a16:creationId xmlns:a16="http://schemas.microsoft.com/office/drawing/2014/main" id="{9FB46CFC-C3E3-A0CA-CFC8-5C9B6206B253}"/>
              </a:ext>
            </a:extLst>
          </p:cNvPr>
          <p:cNvSpPr>
            <a:spLocks noGrp="1"/>
          </p:cNvSpPr>
          <p:nvPr>
            <p:ph type="subTitle" idx="1"/>
          </p:nvPr>
        </p:nvSpPr>
        <p:spPr>
          <a:xfrm>
            <a:off x="327002" y="4079875"/>
            <a:ext cx="11511751" cy="1655762"/>
          </a:xfrm>
        </p:spPr>
        <p:txBody>
          <a:bodyPr>
            <a:normAutofit/>
          </a:bodyPr>
          <a:lstStyle/>
          <a:p>
            <a:r>
              <a:rPr lang="ja-JP" altLang="en-US" sz="3200" dirty="0"/>
              <a:t>電気通信大学　稲葉研究室</a:t>
            </a:r>
            <a:endParaRPr lang="en-US" altLang="ja-JP" sz="3200" dirty="0"/>
          </a:p>
          <a:p>
            <a:r>
              <a:rPr kumimoji="1" lang="ja-JP" altLang="en-US" sz="3600" dirty="0"/>
              <a:t>深見　真奈</a:t>
            </a:r>
          </a:p>
        </p:txBody>
      </p:sp>
    </p:spTree>
    <p:extLst>
      <p:ext uri="{BB962C8B-B14F-4D97-AF65-F5344CB8AC3E}">
        <p14:creationId xmlns:p14="http://schemas.microsoft.com/office/powerpoint/2010/main" val="1819912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612674-C62E-9CE2-37DC-F8662789C5DB}"/>
              </a:ext>
            </a:extLst>
          </p:cNvPr>
          <p:cNvSpPr>
            <a:spLocks noGrp="1"/>
          </p:cNvSpPr>
          <p:nvPr>
            <p:ph type="title"/>
          </p:nvPr>
        </p:nvSpPr>
        <p:spPr/>
        <p:txBody>
          <a:bodyPr/>
          <a:lstStyle/>
          <a:p>
            <a:r>
              <a:rPr lang="ja-JP" altLang="en-US" dirty="0"/>
              <a:t>背景</a:t>
            </a:r>
            <a:endParaRPr kumimoji="1" lang="ja-JP" altLang="en-US" dirty="0"/>
          </a:p>
        </p:txBody>
      </p:sp>
      <p:sp>
        <p:nvSpPr>
          <p:cNvPr id="3" name="コンテンツ プレースホルダー 2">
            <a:extLst>
              <a:ext uri="{FF2B5EF4-FFF2-40B4-BE49-F238E27FC236}">
                <a16:creationId xmlns:a16="http://schemas.microsoft.com/office/drawing/2014/main" id="{A05DCD55-40CA-DF2D-609F-3A3BD29EDC5F}"/>
              </a:ext>
            </a:extLst>
          </p:cNvPr>
          <p:cNvSpPr>
            <a:spLocks noGrp="1"/>
          </p:cNvSpPr>
          <p:nvPr>
            <p:ph idx="1"/>
          </p:nvPr>
        </p:nvSpPr>
        <p:spPr/>
        <p:txBody>
          <a:bodyPr>
            <a:normAutofit/>
          </a:bodyPr>
          <a:lstStyle/>
          <a:p>
            <a:pPr>
              <a:lnSpc>
                <a:spcPct val="100000"/>
              </a:lnSpc>
            </a:pPr>
            <a:r>
              <a:rPr lang="ja-JP" altLang="en-US" sz="3200" dirty="0"/>
              <a:t>現在の</a:t>
            </a:r>
            <a:r>
              <a:rPr lang="en-US" altLang="ja-JP" sz="3200" dirty="0"/>
              <a:t>LLM</a:t>
            </a:r>
            <a:r>
              <a:rPr lang="ja-JP" altLang="en-US" sz="3200" dirty="0"/>
              <a:t>の</a:t>
            </a:r>
            <a:r>
              <a:rPr kumimoji="1" lang="ja-JP" altLang="en-US" sz="3200" dirty="0"/>
              <a:t>ロールプレイング手法では</a:t>
            </a:r>
            <a:r>
              <a:rPr lang="ja-JP" altLang="en-US" sz="3200" dirty="0"/>
              <a:t>ペルソナは事前に定義</a:t>
            </a:r>
            <a:endParaRPr lang="en-US" altLang="ja-JP" sz="2800" dirty="0"/>
          </a:p>
          <a:p>
            <a:pPr lvl="1">
              <a:lnSpc>
                <a:spcPct val="100000"/>
              </a:lnSpc>
            </a:pPr>
            <a:endParaRPr lang="en-US" altLang="ja-JP" sz="2800" dirty="0"/>
          </a:p>
          <a:p>
            <a:pPr>
              <a:lnSpc>
                <a:spcPct val="100000"/>
              </a:lnSpc>
            </a:pPr>
            <a:r>
              <a:rPr lang="ja-JP" altLang="en-US" sz="3200" dirty="0"/>
              <a:t>人の性格や価値観は様々な人生体験を通じて変化し続ける</a:t>
            </a:r>
            <a:endParaRPr lang="en-US" altLang="ja-JP" sz="3200" dirty="0"/>
          </a:p>
          <a:p>
            <a:pPr lvl="1">
              <a:lnSpc>
                <a:spcPct val="100000"/>
              </a:lnSpc>
            </a:pPr>
            <a:r>
              <a:rPr lang="ja-JP" altLang="en-US" sz="2800" dirty="0"/>
              <a:t>経験を通じて自己を構築するというプロセスが人間らしさを</a:t>
            </a:r>
            <a:br>
              <a:rPr lang="en-US" altLang="ja-JP" sz="2800" dirty="0"/>
            </a:br>
            <a:r>
              <a:rPr lang="ja-JP" altLang="en-US" sz="2800" dirty="0"/>
              <a:t>向上させるのではないか</a:t>
            </a:r>
            <a:br>
              <a:rPr lang="en-US" altLang="ja-JP" sz="2800" dirty="0"/>
            </a:br>
            <a:endParaRPr lang="en-US" altLang="ja-JP" sz="2800" dirty="0"/>
          </a:p>
          <a:p>
            <a:pPr>
              <a:lnSpc>
                <a:spcPct val="100000"/>
              </a:lnSpc>
              <a:buClr>
                <a:schemeClr val="tx1"/>
              </a:buClr>
            </a:pPr>
            <a:r>
              <a:rPr lang="en-US" altLang="ja-JP" sz="3200" dirty="0">
                <a:solidFill>
                  <a:srgbClr val="FF0000"/>
                </a:solidFill>
              </a:rPr>
              <a:t>LLM</a:t>
            </a:r>
            <a:r>
              <a:rPr lang="ja-JP" altLang="en-US" sz="3200" dirty="0">
                <a:solidFill>
                  <a:srgbClr val="FF0000"/>
                </a:solidFill>
              </a:rPr>
              <a:t>は人生体験を通じて自らの性格や価値観を</a:t>
            </a:r>
            <a:br>
              <a:rPr lang="en-US" altLang="ja-JP" sz="3200" dirty="0">
                <a:solidFill>
                  <a:srgbClr val="FF0000"/>
                </a:solidFill>
              </a:rPr>
            </a:br>
            <a:r>
              <a:rPr lang="ja-JP" altLang="en-US" sz="3200" dirty="0">
                <a:solidFill>
                  <a:srgbClr val="FF0000"/>
                </a:solidFill>
              </a:rPr>
              <a:t>生み出すことができるのか</a:t>
            </a:r>
            <a:endParaRPr lang="en-US" altLang="ja-JP" sz="3200" dirty="0">
              <a:solidFill>
                <a:srgbClr val="FF0000"/>
              </a:solidFill>
            </a:endParaRPr>
          </a:p>
          <a:p>
            <a:pPr lvl="1">
              <a:lnSpc>
                <a:spcPct val="100000"/>
              </a:lnSpc>
            </a:pPr>
            <a:r>
              <a:rPr lang="ja-JP" altLang="en-US" sz="2800" dirty="0"/>
              <a:t>人生グラフを用いて人生体験の収集</a:t>
            </a:r>
            <a:endParaRPr lang="en-US" altLang="ja-JP" sz="2800" dirty="0"/>
          </a:p>
        </p:txBody>
      </p:sp>
    </p:spTree>
    <p:extLst>
      <p:ext uri="{BB962C8B-B14F-4D97-AF65-F5344CB8AC3E}">
        <p14:creationId xmlns:p14="http://schemas.microsoft.com/office/powerpoint/2010/main" val="1897735825"/>
      </p:ext>
    </p:extLst>
  </p:cSld>
  <p:clrMapOvr>
    <a:masterClrMapping/>
  </p:clrMapOvr>
  <mc:AlternateContent xmlns:mc="http://schemas.openxmlformats.org/markup-compatibility/2006" xmlns:p14="http://schemas.microsoft.com/office/powerpoint/2010/main">
    <mc:Choice Requires="p14">
      <p:transition spd="slow" p14:dur="2000" advTm="481"/>
    </mc:Choice>
    <mc:Fallback xmlns="">
      <p:transition spd="slow" advTm="48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2B1AE8-F5A6-41D5-9AA5-4B950001ACAE}"/>
              </a:ext>
            </a:extLst>
          </p:cNvPr>
          <p:cNvSpPr>
            <a:spLocks noGrp="1"/>
          </p:cNvSpPr>
          <p:nvPr>
            <p:ph type="title"/>
          </p:nvPr>
        </p:nvSpPr>
        <p:spPr/>
        <p:txBody>
          <a:bodyPr/>
          <a:lstStyle/>
          <a:p>
            <a:r>
              <a:rPr kumimoji="1" lang="ja-JP" altLang="en-US" dirty="0"/>
              <a:t>人生グラフ</a:t>
            </a:r>
          </a:p>
        </p:txBody>
      </p:sp>
      <p:sp>
        <p:nvSpPr>
          <p:cNvPr id="3" name="コンテンツ プレースホルダー 2">
            <a:extLst>
              <a:ext uri="{FF2B5EF4-FFF2-40B4-BE49-F238E27FC236}">
                <a16:creationId xmlns:a16="http://schemas.microsoft.com/office/drawing/2014/main" id="{0E9ACA58-D057-5BC6-FEAA-45A5DC44CC6E}"/>
              </a:ext>
            </a:extLst>
          </p:cNvPr>
          <p:cNvSpPr>
            <a:spLocks noGrp="1"/>
          </p:cNvSpPr>
          <p:nvPr>
            <p:ph idx="1"/>
          </p:nvPr>
        </p:nvSpPr>
        <p:spPr>
          <a:xfrm>
            <a:off x="339115" y="2515794"/>
            <a:ext cx="11505696" cy="1117505"/>
          </a:xfrm>
        </p:spPr>
        <p:txBody>
          <a:bodyPr>
            <a:normAutofit/>
          </a:bodyPr>
          <a:lstStyle/>
          <a:p>
            <a:pPr>
              <a:lnSpc>
                <a:spcPct val="100000"/>
              </a:lnSpc>
            </a:pPr>
            <a:r>
              <a:rPr lang="ja-JP" altLang="en-US" sz="3200" dirty="0"/>
              <a:t>アイデンティティの再構築を伴う「転換点」や「運命的な瞬間」の</a:t>
            </a:r>
            <a:br>
              <a:rPr lang="en-US" altLang="ja-JP" sz="3200" dirty="0"/>
            </a:br>
            <a:r>
              <a:rPr lang="ja-JP" altLang="en-US" sz="3200" dirty="0"/>
              <a:t>特定が可能</a:t>
            </a:r>
            <a:r>
              <a:rPr lang="en-US" altLang="ja-JP" sz="2800" dirty="0"/>
              <a:t>[Dogg et al, 2018]</a:t>
            </a:r>
            <a:endParaRPr kumimoji="1" lang="en-US" altLang="ja-JP" sz="3200"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53E26D39-2722-BF8E-D075-5DBB28E61D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5246" y="3218104"/>
            <a:ext cx="4176753" cy="2386715"/>
          </a:xfrm>
          <a:prstGeom prst="rect">
            <a:avLst/>
          </a:prstGeom>
        </p:spPr>
      </p:pic>
      <p:sp>
        <p:nvSpPr>
          <p:cNvPr id="6" name="コンテンツ プレースホルダー 2">
            <a:extLst>
              <a:ext uri="{FF2B5EF4-FFF2-40B4-BE49-F238E27FC236}">
                <a16:creationId xmlns:a16="http://schemas.microsoft.com/office/drawing/2014/main" id="{FB504BF3-E79F-0FFC-9F71-0493F5BEE0A2}"/>
              </a:ext>
            </a:extLst>
          </p:cNvPr>
          <p:cNvSpPr txBox="1">
            <a:spLocks/>
          </p:cNvSpPr>
          <p:nvPr/>
        </p:nvSpPr>
        <p:spPr>
          <a:xfrm>
            <a:off x="339115" y="5604817"/>
            <a:ext cx="11505696" cy="13997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400" dirty="0"/>
              <a:t>Jenny Dagg and Jane Gray. Using reflexive lifelines in biographical interviews to aid the collection, </a:t>
            </a:r>
            <a:r>
              <a:rPr lang="en-US" altLang="ja-JP" sz="1400" dirty="0" err="1"/>
              <a:t>visualisation</a:t>
            </a:r>
            <a:r>
              <a:rPr lang="en-US" altLang="ja-JP" sz="1400" dirty="0"/>
              <a:t> and analysis of resilience. Contemporary Social Science: Journal of the Academy of Social Sciences, Vol. 14, 04 2018.</a:t>
            </a:r>
          </a:p>
          <a:p>
            <a:r>
              <a:rPr lang="en-US" altLang="ja-JP" sz="1400" dirty="0"/>
              <a:t>Nicholas Bremner. Time for timelines: The take-home timeline as a tool for exploring complex life histories. International Journal of Qualitative Methods, Vol. 19, 2020.</a:t>
            </a:r>
          </a:p>
        </p:txBody>
      </p:sp>
      <p:sp>
        <p:nvSpPr>
          <p:cNvPr id="7" name="コンテンツ プレースホルダー 2">
            <a:extLst>
              <a:ext uri="{FF2B5EF4-FFF2-40B4-BE49-F238E27FC236}">
                <a16:creationId xmlns:a16="http://schemas.microsoft.com/office/drawing/2014/main" id="{A0CF75D9-E87B-F59C-FA27-57BF6FB1D6F9}"/>
              </a:ext>
            </a:extLst>
          </p:cNvPr>
          <p:cNvSpPr txBox="1">
            <a:spLocks/>
          </p:cNvSpPr>
          <p:nvPr/>
        </p:nvSpPr>
        <p:spPr>
          <a:xfrm>
            <a:off x="339115" y="3778407"/>
            <a:ext cx="7676131" cy="11175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sz="3200" dirty="0"/>
              <a:t>自宅で時間制限なく取り組むことでより正確で豊かな体験が収集可能</a:t>
            </a:r>
            <a:r>
              <a:rPr lang="en-US" altLang="ja-JP" sz="2800" dirty="0"/>
              <a:t>[Bremner, 2020]</a:t>
            </a:r>
          </a:p>
        </p:txBody>
      </p:sp>
      <p:sp>
        <p:nvSpPr>
          <p:cNvPr id="8" name="コンテンツ プレースホルダー 2">
            <a:extLst>
              <a:ext uri="{FF2B5EF4-FFF2-40B4-BE49-F238E27FC236}">
                <a16:creationId xmlns:a16="http://schemas.microsoft.com/office/drawing/2014/main" id="{6B20D77A-D0B6-264E-9F4C-E9247672F776}"/>
              </a:ext>
            </a:extLst>
          </p:cNvPr>
          <p:cNvSpPr txBox="1">
            <a:spLocks/>
          </p:cNvSpPr>
          <p:nvPr/>
        </p:nvSpPr>
        <p:spPr>
          <a:xfrm>
            <a:off x="339115" y="1253181"/>
            <a:ext cx="11505696" cy="14142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sz="3200" dirty="0"/>
              <a:t>自身の体験が人生にどのような影響をもたらしたかを幸福度という尺度を用いて可視化する自己分析手法</a:t>
            </a:r>
            <a:endParaRPr lang="en-US" altLang="ja-JP" sz="3200" dirty="0"/>
          </a:p>
        </p:txBody>
      </p:sp>
    </p:spTree>
    <p:extLst>
      <p:ext uri="{BB962C8B-B14F-4D97-AF65-F5344CB8AC3E}">
        <p14:creationId xmlns:p14="http://schemas.microsoft.com/office/powerpoint/2010/main" val="3766580955"/>
      </p:ext>
    </p:extLst>
  </p:cSld>
  <p:clrMapOvr>
    <a:masterClrMapping/>
  </p:clrMapOvr>
  <mc:AlternateContent xmlns:mc="http://schemas.openxmlformats.org/markup-compatibility/2006" xmlns:p14="http://schemas.microsoft.com/office/powerpoint/2010/main">
    <mc:Choice Requires="p14">
      <p:transition spd="slow" p14:dur="2000" advTm="227"/>
    </mc:Choice>
    <mc:Fallback xmlns="">
      <p:transition spd="slow" advTm="227"/>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B2FC00-E45C-12B8-BC58-AC3951C5D3E7}"/>
              </a:ext>
            </a:extLst>
          </p:cNvPr>
          <p:cNvSpPr>
            <a:spLocks noGrp="1"/>
          </p:cNvSpPr>
          <p:nvPr>
            <p:ph type="title"/>
          </p:nvPr>
        </p:nvSpPr>
        <p:spPr/>
        <p:txBody>
          <a:bodyPr>
            <a:normAutofit/>
          </a:bodyPr>
          <a:lstStyle/>
          <a:p>
            <a:r>
              <a:rPr kumimoji="1" lang="ja-JP" altLang="en-US" dirty="0"/>
              <a:t>実験デザイン</a:t>
            </a:r>
          </a:p>
        </p:txBody>
      </p:sp>
      <p:sp>
        <p:nvSpPr>
          <p:cNvPr id="3" name="コンテンツ プレースホルダー 2">
            <a:extLst>
              <a:ext uri="{FF2B5EF4-FFF2-40B4-BE49-F238E27FC236}">
                <a16:creationId xmlns:a16="http://schemas.microsoft.com/office/drawing/2014/main" id="{A3560A08-FE8B-8F6D-6FFC-DD851E8D4BB6}"/>
              </a:ext>
            </a:extLst>
          </p:cNvPr>
          <p:cNvSpPr>
            <a:spLocks noGrp="1"/>
          </p:cNvSpPr>
          <p:nvPr>
            <p:ph idx="1"/>
          </p:nvPr>
        </p:nvSpPr>
        <p:spPr>
          <a:xfrm>
            <a:off x="339115" y="1452311"/>
            <a:ext cx="6976085" cy="5165057"/>
          </a:xfrm>
        </p:spPr>
        <p:txBody>
          <a:bodyPr>
            <a:normAutofit/>
          </a:bodyPr>
          <a:lstStyle/>
          <a:p>
            <a:r>
              <a:rPr lang="ja-JP" altLang="en-US" sz="3200" dirty="0"/>
              <a:t>目的</a:t>
            </a:r>
            <a:endParaRPr lang="en-US" altLang="ja-JP" sz="3200" dirty="0"/>
          </a:p>
          <a:p>
            <a:pPr lvl="1"/>
            <a:r>
              <a:rPr lang="en-US" altLang="ja-JP" sz="2800" dirty="0"/>
              <a:t>LLM</a:t>
            </a:r>
            <a:r>
              <a:rPr lang="ja-JP" altLang="en-US" sz="2800" dirty="0"/>
              <a:t>に人生体験を与え，</a:t>
            </a:r>
            <a:r>
              <a:rPr lang="en-US" altLang="ja-JP" sz="2800" dirty="0"/>
              <a:t>LLM</a:t>
            </a:r>
            <a:r>
              <a:rPr lang="ja-JP" altLang="en-US" sz="2800" dirty="0"/>
              <a:t>の性格や</a:t>
            </a:r>
            <a:br>
              <a:rPr lang="en-US" altLang="ja-JP" sz="2800" dirty="0"/>
            </a:br>
            <a:r>
              <a:rPr lang="ja-JP" altLang="en-US" sz="2800" dirty="0"/>
              <a:t>価値観を得る</a:t>
            </a:r>
            <a:endParaRPr lang="en-US" altLang="ja-JP" sz="2800" dirty="0"/>
          </a:p>
          <a:p>
            <a:r>
              <a:rPr lang="ja-JP" altLang="en-US" sz="3600" dirty="0"/>
              <a:t>被験者を集めてデータを収集</a:t>
            </a:r>
            <a:endParaRPr lang="en-US" altLang="ja-JP" sz="3600" dirty="0"/>
          </a:p>
          <a:p>
            <a:pPr lvl="1"/>
            <a:r>
              <a:rPr lang="ja-JP" altLang="en-US" sz="2800" dirty="0"/>
              <a:t>年齢・性別・職業</a:t>
            </a:r>
            <a:endParaRPr lang="en-US" altLang="ja-JP" sz="2800" dirty="0"/>
          </a:p>
          <a:p>
            <a:pPr lvl="1"/>
            <a:r>
              <a:rPr lang="ja-JP" altLang="en-US" sz="2800" dirty="0"/>
              <a:t>人生グラフ</a:t>
            </a:r>
            <a:endParaRPr lang="en-US" altLang="ja-JP" sz="2400" dirty="0"/>
          </a:p>
          <a:p>
            <a:pPr lvl="1"/>
            <a:r>
              <a:rPr lang="en-US" altLang="ja-JP" sz="2800" dirty="0"/>
              <a:t>BFI-2</a:t>
            </a:r>
            <a:r>
              <a:rPr lang="ja-JP" altLang="en-US" sz="2800" dirty="0"/>
              <a:t>テスト</a:t>
            </a:r>
            <a:endParaRPr lang="en-US" altLang="ja-JP" sz="2800" dirty="0"/>
          </a:p>
          <a:p>
            <a:r>
              <a:rPr lang="ja-JP" altLang="en-US" sz="3200" dirty="0"/>
              <a:t>分析方法</a:t>
            </a:r>
            <a:endParaRPr lang="en-US" altLang="ja-JP" sz="3200" dirty="0"/>
          </a:p>
          <a:p>
            <a:pPr lvl="1"/>
            <a:r>
              <a:rPr lang="ja-JP" altLang="en-US" sz="2800" dirty="0"/>
              <a:t>参加者と、その人生体験を与えた</a:t>
            </a:r>
            <a:r>
              <a:rPr lang="en-US" altLang="ja-JP" sz="2800" dirty="0"/>
              <a:t>LLM</a:t>
            </a:r>
            <a:r>
              <a:rPr lang="ja-JP" altLang="en-US" sz="2800" dirty="0"/>
              <a:t>の</a:t>
            </a:r>
            <a:br>
              <a:rPr lang="en-US" altLang="ja-JP" sz="2800" dirty="0"/>
            </a:br>
            <a:r>
              <a:rPr lang="ja-JP" altLang="en-US" sz="2800" dirty="0"/>
              <a:t>性格特性および価値観傾向の相関を測る</a:t>
            </a:r>
            <a:endParaRPr lang="en-US" altLang="ja-JP" sz="2800" dirty="0"/>
          </a:p>
          <a:p>
            <a:pPr lvl="1"/>
            <a:endParaRPr lang="en-US" altLang="ja-JP" sz="2800" dirty="0"/>
          </a:p>
        </p:txBody>
      </p:sp>
      <p:pic>
        <p:nvPicPr>
          <p:cNvPr id="10" name="図 9" descr="グラフィカル ユーザー インターフェイス, アプリケーション&#10;&#10;AI 生成コンテンツは誤りを含む可能性があります。">
            <a:extLst>
              <a:ext uri="{FF2B5EF4-FFF2-40B4-BE49-F238E27FC236}">
                <a16:creationId xmlns:a16="http://schemas.microsoft.com/office/drawing/2014/main" id="{028698AF-7A14-ED52-A510-8040D0B79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5580" y="1452311"/>
            <a:ext cx="4946419" cy="2448802"/>
          </a:xfrm>
          <a:prstGeom prst="rect">
            <a:avLst/>
          </a:prstGeom>
        </p:spPr>
      </p:pic>
      <p:pic>
        <p:nvPicPr>
          <p:cNvPr id="12" name="図 11" descr="グラフ, 折れ線グラフ&#10;&#10;AI 生成コンテンツは誤りを含む可能性があります。">
            <a:extLst>
              <a:ext uri="{FF2B5EF4-FFF2-40B4-BE49-F238E27FC236}">
                <a16:creationId xmlns:a16="http://schemas.microsoft.com/office/drawing/2014/main" id="{BF0C8DC4-623F-192C-C462-4C966A0E43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5581" y="3901113"/>
            <a:ext cx="4946419" cy="2448803"/>
          </a:xfrm>
          <a:prstGeom prst="rect">
            <a:avLst/>
          </a:prstGeom>
        </p:spPr>
      </p:pic>
    </p:spTree>
    <p:extLst>
      <p:ext uri="{BB962C8B-B14F-4D97-AF65-F5344CB8AC3E}">
        <p14:creationId xmlns:p14="http://schemas.microsoft.com/office/powerpoint/2010/main" val="1354515869"/>
      </p:ext>
    </p:extLst>
  </p:cSld>
  <p:clrMapOvr>
    <a:masterClrMapping/>
  </p:clrMapOvr>
  <mc:AlternateContent xmlns:mc="http://schemas.openxmlformats.org/markup-compatibility/2006" xmlns:p14="http://schemas.microsoft.com/office/powerpoint/2010/main">
    <mc:Choice Requires="p14">
      <p:transition spd="slow" p14:dur="2000" advTm="178"/>
    </mc:Choice>
    <mc:Fallback xmlns="">
      <p:transition spd="slow" advTm="178"/>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18CD6-8698-5FCD-6013-E3DF465C9E40}"/>
              </a:ext>
            </a:extLst>
          </p:cNvPr>
          <p:cNvSpPr>
            <a:spLocks noGrp="1"/>
          </p:cNvSpPr>
          <p:nvPr>
            <p:ph type="title"/>
          </p:nvPr>
        </p:nvSpPr>
        <p:spPr/>
        <p:txBody>
          <a:bodyPr/>
          <a:lstStyle/>
          <a:p>
            <a:r>
              <a:rPr lang="ja-JP" altLang="en-US" dirty="0"/>
              <a:t>データ収集手順</a:t>
            </a:r>
            <a:endParaRPr kumimoji="1" lang="ja-JP" altLang="en-US" dirty="0"/>
          </a:p>
        </p:txBody>
      </p:sp>
      <p:sp>
        <p:nvSpPr>
          <p:cNvPr id="3" name="コンテンツ プレースホルダー 2">
            <a:extLst>
              <a:ext uri="{FF2B5EF4-FFF2-40B4-BE49-F238E27FC236}">
                <a16:creationId xmlns:a16="http://schemas.microsoft.com/office/drawing/2014/main" id="{F67CC0EA-59D9-B58F-12BB-8D329456A4D7}"/>
              </a:ext>
            </a:extLst>
          </p:cNvPr>
          <p:cNvSpPr>
            <a:spLocks noGrp="1"/>
          </p:cNvSpPr>
          <p:nvPr>
            <p:ph idx="1"/>
          </p:nvPr>
        </p:nvSpPr>
        <p:spPr>
          <a:xfrm>
            <a:off x="339114" y="1452311"/>
            <a:ext cx="6239805" cy="4996933"/>
          </a:xfrm>
        </p:spPr>
        <p:txBody>
          <a:bodyPr>
            <a:normAutofit/>
          </a:bodyPr>
          <a:lstStyle/>
          <a:p>
            <a:r>
              <a:rPr kumimoji="1" lang="ja-JP" altLang="en-US" sz="3200" dirty="0"/>
              <a:t>人生グラフ作成の補助として</a:t>
            </a:r>
            <a:br>
              <a:rPr kumimoji="1" lang="en-US" altLang="ja-JP" sz="3200" dirty="0"/>
            </a:br>
            <a:r>
              <a:rPr kumimoji="1" lang="ja-JP" altLang="en-US" sz="3200" dirty="0"/>
              <a:t>「自分史」の作成を組み合わせる</a:t>
            </a:r>
            <a:endParaRPr kumimoji="1" lang="en-US" altLang="ja-JP" sz="3200" dirty="0"/>
          </a:p>
          <a:p>
            <a:pPr lvl="1"/>
            <a:r>
              <a:rPr lang="ja-JP" altLang="en-US" sz="2800" dirty="0"/>
              <a:t>人生体験を列挙し表を作成する手法</a:t>
            </a:r>
            <a:endParaRPr kumimoji="1" lang="en-US" altLang="ja-JP" sz="3200" dirty="0">
              <a:solidFill>
                <a:srgbClr val="FF0000"/>
              </a:solidFill>
            </a:endParaRPr>
          </a:p>
          <a:p>
            <a:r>
              <a:rPr kumimoji="1" lang="ja-JP" altLang="en-US" sz="3200" dirty="0"/>
              <a:t>自分史の作成</a:t>
            </a:r>
            <a:endParaRPr kumimoji="1" lang="en-US" altLang="ja-JP" sz="3200" dirty="0"/>
          </a:p>
          <a:p>
            <a:pPr lvl="1">
              <a:buClr>
                <a:schemeClr val="tx1"/>
              </a:buClr>
            </a:pPr>
            <a:r>
              <a:rPr kumimoji="1" lang="ja-JP" altLang="en-US" sz="2800" dirty="0">
                <a:solidFill>
                  <a:srgbClr val="FF0000"/>
                </a:solidFill>
              </a:rPr>
              <a:t>登録フォーム</a:t>
            </a:r>
            <a:r>
              <a:rPr kumimoji="1" lang="ja-JP" altLang="en-US" sz="2800" dirty="0"/>
              <a:t>に年齢，体験エピソード，幸福度を記入</a:t>
            </a:r>
            <a:endParaRPr kumimoji="1" lang="en-US" altLang="ja-JP" sz="2800" dirty="0"/>
          </a:p>
          <a:p>
            <a:pPr lvl="2"/>
            <a:r>
              <a:rPr lang="ja-JP" altLang="en-US" sz="2400" dirty="0"/>
              <a:t>エピソードには感情や考え方の変化を含めるよう指示</a:t>
            </a:r>
            <a:endParaRPr lang="en-US" altLang="ja-JP" sz="2400" dirty="0"/>
          </a:p>
          <a:p>
            <a:pPr lvl="2"/>
            <a:r>
              <a:rPr kumimoji="1" lang="ja-JP" altLang="en-US" sz="2400" dirty="0"/>
              <a:t>エピソードの記入例を提示</a:t>
            </a:r>
            <a:endParaRPr lang="en-US" altLang="ja-JP" sz="2400" dirty="0"/>
          </a:p>
          <a:p>
            <a:pPr lvl="1"/>
            <a:r>
              <a:rPr lang="ja-JP" altLang="en-US" sz="2800" dirty="0"/>
              <a:t>登録された内容を</a:t>
            </a:r>
            <a:r>
              <a:rPr lang="ja-JP" altLang="en-US" sz="2800" dirty="0">
                <a:solidFill>
                  <a:srgbClr val="0070C0"/>
                </a:solidFill>
              </a:rPr>
              <a:t>一覧表</a:t>
            </a:r>
            <a:r>
              <a:rPr lang="ja-JP" altLang="en-US" sz="2800" dirty="0"/>
              <a:t>にしていく</a:t>
            </a:r>
            <a:endParaRPr lang="en-US" altLang="ja-JP" sz="2800" dirty="0"/>
          </a:p>
        </p:txBody>
      </p:sp>
      <p:grpSp>
        <p:nvGrpSpPr>
          <p:cNvPr id="15" name="グループ化 14">
            <a:extLst>
              <a:ext uri="{FF2B5EF4-FFF2-40B4-BE49-F238E27FC236}">
                <a16:creationId xmlns:a16="http://schemas.microsoft.com/office/drawing/2014/main" id="{437DC435-5B37-BB7C-1C52-F9CB9C4D1279}"/>
              </a:ext>
            </a:extLst>
          </p:cNvPr>
          <p:cNvGrpSpPr/>
          <p:nvPr/>
        </p:nvGrpSpPr>
        <p:grpSpPr>
          <a:xfrm>
            <a:off x="7895638" y="4432365"/>
            <a:ext cx="4310744" cy="2134102"/>
            <a:chOff x="7881257" y="4417070"/>
            <a:chExt cx="4310744" cy="2134102"/>
          </a:xfrm>
        </p:grpSpPr>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49D132C0-54F1-727A-2D0A-CEBFD15C40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1257" y="4417070"/>
              <a:ext cx="4310744" cy="2134102"/>
            </a:xfrm>
            <a:prstGeom prst="rect">
              <a:avLst/>
            </a:prstGeom>
          </p:spPr>
        </p:pic>
        <p:sp>
          <p:nvSpPr>
            <p:cNvPr id="7" name="四角形: 角を丸くする 6">
              <a:extLst>
                <a:ext uri="{FF2B5EF4-FFF2-40B4-BE49-F238E27FC236}">
                  <a16:creationId xmlns:a16="http://schemas.microsoft.com/office/drawing/2014/main" id="{10D67CFD-9D04-38AF-4075-E92BEE4D04E6}"/>
                </a:ext>
              </a:extLst>
            </p:cNvPr>
            <p:cNvSpPr/>
            <p:nvPr/>
          </p:nvSpPr>
          <p:spPr>
            <a:xfrm>
              <a:off x="8033657" y="4547694"/>
              <a:ext cx="1952173" cy="2003477"/>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sp>
          <p:nvSpPr>
            <p:cNvPr id="8" name="四角形: 角を丸くする 7">
              <a:extLst>
                <a:ext uri="{FF2B5EF4-FFF2-40B4-BE49-F238E27FC236}">
                  <a16:creationId xmlns:a16="http://schemas.microsoft.com/office/drawing/2014/main" id="{46C3FCC7-9E06-AA51-E9A6-C55C93226783}"/>
                </a:ext>
              </a:extLst>
            </p:cNvPr>
            <p:cNvSpPr/>
            <p:nvPr/>
          </p:nvSpPr>
          <p:spPr>
            <a:xfrm>
              <a:off x="10029369" y="4547695"/>
              <a:ext cx="1952174" cy="1272534"/>
            </a:xfrm>
            <a:prstGeom prst="roundRect">
              <a:avLst/>
            </a:prstGeom>
            <a:noFill/>
            <a:ln w="571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grpSp>
      <p:pic>
        <p:nvPicPr>
          <p:cNvPr id="18" name="図 17" descr="グラフィカル ユーザー インターフェイス, アプリケーション&#10;&#10;AI 生成コンテンツは誤りを含む可能性があります。">
            <a:extLst>
              <a:ext uri="{FF2B5EF4-FFF2-40B4-BE49-F238E27FC236}">
                <a16:creationId xmlns:a16="http://schemas.microsoft.com/office/drawing/2014/main" id="{36E4555D-CE8F-D057-FA5C-D9C91CF33C8A}"/>
              </a:ext>
            </a:extLst>
          </p:cNvPr>
          <p:cNvPicPr>
            <a:picLocks noChangeAspect="1"/>
          </p:cNvPicPr>
          <p:nvPr/>
        </p:nvPicPr>
        <p:blipFill>
          <a:blip r:embed="rId4">
            <a:extLst>
              <a:ext uri="{28A0092B-C50C-407E-A947-70E740481C1C}">
                <a14:useLocalDpi xmlns:a14="http://schemas.microsoft.com/office/drawing/2010/main" val="0"/>
              </a:ext>
            </a:extLst>
          </a:blip>
          <a:srcRect l="2782" t="7572" r="51296" b="-38"/>
          <a:stretch>
            <a:fillRect/>
          </a:stretch>
        </p:blipFill>
        <p:spPr>
          <a:xfrm>
            <a:off x="6593301" y="985324"/>
            <a:ext cx="5598699" cy="5581142"/>
          </a:xfrm>
          <a:prstGeom prst="rect">
            <a:avLst/>
          </a:prstGeom>
        </p:spPr>
      </p:pic>
      <p:pic>
        <p:nvPicPr>
          <p:cNvPr id="20" name="図 19" descr="グラフィカル ユーザー インターフェイス, アプリケーション&#10;&#10;AI 生成コンテンツは誤りを含む可能性があります。">
            <a:extLst>
              <a:ext uri="{FF2B5EF4-FFF2-40B4-BE49-F238E27FC236}">
                <a16:creationId xmlns:a16="http://schemas.microsoft.com/office/drawing/2014/main" id="{4BDA572B-7708-7577-093D-591D74DD5BE8}"/>
              </a:ext>
            </a:extLst>
          </p:cNvPr>
          <p:cNvPicPr>
            <a:picLocks noChangeAspect="1"/>
          </p:cNvPicPr>
          <p:nvPr/>
        </p:nvPicPr>
        <p:blipFill>
          <a:blip r:embed="rId4">
            <a:extLst>
              <a:ext uri="{28A0092B-C50C-407E-A947-70E740481C1C}">
                <a14:useLocalDpi xmlns:a14="http://schemas.microsoft.com/office/drawing/2010/main" val="0"/>
              </a:ext>
            </a:extLst>
          </a:blip>
          <a:srcRect l="48703" t="7534" r="5377" b="30194"/>
          <a:stretch>
            <a:fillRect/>
          </a:stretch>
        </p:blipFill>
        <p:spPr>
          <a:xfrm>
            <a:off x="6607683" y="2807761"/>
            <a:ext cx="5598699" cy="3758706"/>
          </a:xfrm>
          <a:prstGeom prst="rect">
            <a:avLst/>
          </a:prstGeom>
        </p:spPr>
      </p:pic>
    </p:spTree>
    <p:custDataLst>
      <p:tags r:id="rId1"/>
    </p:custDataLst>
    <p:extLst>
      <p:ext uri="{BB962C8B-B14F-4D97-AF65-F5344CB8AC3E}">
        <p14:creationId xmlns:p14="http://schemas.microsoft.com/office/powerpoint/2010/main" val="622934155"/>
      </p:ext>
    </p:extLst>
  </p:cSld>
  <p:clrMapOvr>
    <a:masterClrMapping/>
  </p:clrMapOvr>
  <mc:AlternateContent xmlns:mc="http://schemas.openxmlformats.org/markup-compatibility/2006" xmlns:p14="http://schemas.microsoft.com/office/powerpoint/2010/main">
    <mc:Choice Requires="p14">
      <p:transition spd="slow" p14:dur="2000" advTm="1529"/>
    </mc:Choice>
    <mc:Fallback xmlns="">
      <p:transition spd="slow" advTm="15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8"/>
                                        </p:tgtEl>
                                        <p:attrNameLst>
                                          <p:attrName>ppt_x</p:attrName>
                                        </p:attrNameLst>
                                      </p:cBhvr>
                                      <p:tavLst>
                                        <p:tav tm="0">
                                          <p:val>
                                            <p:strVal val="ppt_x"/>
                                          </p:val>
                                        </p:tav>
                                        <p:tav tm="100000">
                                          <p:val>
                                            <p:strVal val="ppt_x"/>
                                          </p:val>
                                        </p:tav>
                                      </p:tavLst>
                                    </p:anim>
                                    <p:anim calcmode="lin" valueType="num">
                                      <p:cBhvr additive="base">
                                        <p:cTn id="13" dur="500"/>
                                        <p:tgtEl>
                                          <p:spTgt spid="18"/>
                                        </p:tgtEl>
                                        <p:attrNameLst>
                                          <p:attrName>ppt_y</p:attrName>
                                        </p:attrNameLst>
                                      </p:cBhvr>
                                      <p:tavLst>
                                        <p:tav tm="0">
                                          <p:val>
                                            <p:strVal val="ppt_y"/>
                                          </p:val>
                                        </p:tav>
                                        <p:tav tm="100000">
                                          <p:val>
                                            <p:strVal val="1+ppt_h/2"/>
                                          </p:val>
                                        </p:tav>
                                      </p:tavLst>
                                    </p:anim>
                                    <p:set>
                                      <p:cBhvr>
                                        <p:cTn id="14" dur="1" fill="hold">
                                          <p:stCondLst>
                                            <p:cond delay="499"/>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20"/>
                                        </p:tgtEl>
                                        <p:attrNameLst>
                                          <p:attrName>ppt_x</p:attrName>
                                        </p:attrNameLst>
                                      </p:cBhvr>
                                      <p:tavLst>
                                        <p:tav tm="0">
                                          <p:val>
                                            <p:strVal val="ppt_x"/>
                                          </p:val>
                                        </p:tav>
                                        <p:tav tm="100000">
                                          <p:val>
                                            <p:strVal val="ppt_x"/>
                                          </p:val>
                                        </p:tav>
                                      </p:tavLst>
                                    </p:anim>
                                    <p:anim calcmode="lin" valueType="num">
                                      <p:cBhvr additive="base">
                                        <p:cTn id="25" dur="500"/>
                                        <p:tgtEl>
                                          <p:spTgt spid="20"/>
                                        </p:tgtEl>
                                        <p:attrNameLst>
                                          <p:attrName>ppt_y</p:attrName>
                                        </p:attrNameLst>
                                      </p:cBhvr>
                                      <p:tavLst>
                                        <p:tav tm="0">
                                          <p:val>
                                            <p:strVal val="ppt_y"/>
                                          </p:val>
                                        </p:tav>
                                        <p:tav tm="100000">
                                          <p:val>
                                            <p:strVal val="1+ppt_h/2"/>
                                          </p:val>
                                        </p:tav>
                                      </p:tavLst>
                                    </p:anim>
                                    <p:set>
                                      <p:cBhvr>
                                        <p:cTn id="2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C224D7-3A97-369D-72D4-DD80E62A306E}"/>
              </a:ext>
            </a:extLst>
          </p:cNvPr>
          <p:cNvSpPr>
            <a:spLocks noGrp="1"/>
          </p:cNvSpPr>
          <p:nvPr>
            <p:ph type="title"/>
          </p:nvPr>
        </p:nvSpPr>
        <p:spPr/>
        <p:txBody>
          <a:bodyPr/>
          <a:lstStyle/>
          <a:p>
            <a:r>
              <a:rPr lang="ja-JP" altLang="en-US" dirty="0"/>
              <a:t>データ収集手順</a:t>
            </a:r>
            <a:endParaRPr kumimoji="1" lang="ja-JP" altLang="en-US" dirty="0"/>
          </a:p>
        </p:txBody>
      </p:sp>
      <p:sp>
        <p:nvSpPr>
          <p:cNvPr id="3" name="コンテンツ プレースホルダー 2">
            <a:extLst>
              <a:ext uri="{FF2B5EF4-FFF2-40B4-BE49-F238E27FC236}">
                <a16:creationId xmlns:a16="http://schemas.microsoft.com/office/drawing/2014/main" id="{36F35603-18DF-6D5A-6AC3-C2FB7E9CC3DD}"/>
              </a:ext>
            </a:extLst>
          </p:cNvPr>
          <p:cNvSpPr>
            <a:spLocks noGrp="1"/>
          </p:cNvSpPr>
          <p:nvPr>
            <p:ph idx="1"/>
          </p:nvPr>
        </p:nvSpPr>
        <p:spPr>
          <a:xfrm>
            <a:off x="339115" y="1452311"/>
            <a:ext cx="7511297" cy="4996933"/>
          </a:xfrm>
        </p:spPr>
        <p:txBody>
          <a:bodyPr/>
          <a:lstStyle/>
          <a:p>
            <a:pPr>
              <a:buClr>
                <a:schemeClr val="tx1"/>
              </a:buClr>
            </a:pPr>
            <a:r>
              <a:rPr lang="ja-JP" altLang="en-US" sz="3200" dirty="0">
                <a:solidFill>
                  <a:srgbClr val="FF0000"/>
                </a:solidFill>
              </a:rPr>
              <a:t>人生グラフの描画</a:t>
            </a:r>
            <a:endParaRPr lang="en-US" altLang="ja-JP" sz="3200" dirty="0">
              <a:solidFill>
                <a:srgbClr val="FF0000"/>
              </a:solidFill>
            </a:endParaRPr>
          </a:p>
          <a:p>
            <a:pPr lvl="1"/>
            <a:r>
              <a:rPr lang="ja-JP" altLang="en-US" sz="2800" dirty="0"/>
              <a:t>横軸が年齢，縦軸が出来事に対する幸福度</a:t>
            </a:r>
            <a:endParaRPr lang="en-US" altLang="ja-JP" sz="2800" dirty="0"/>
          </a:p>
          <a:p>
            <a:pPr lvl="2"/>
            <a:r>
              <a:rPr lang="ja-JP" altLang="en-US" sz="2400" dirty="0">
                <a:solidFill>
                  <a:schemeClr val="accent1"/>
                </a:solidFill>
              </a:rPr>
              <a:t>一覧表</a:t>
            </a:r>
            <a:r>
              <a:rPr lang="ja-JP" altLang="en-US" sz="2400" dirty="0"/>
              <a:t>の内容をリアルタイムに反映</a:t>
            </a:r>
            <a:endParaRPr lang="en-US" altLang="ja-JP" sz="2000" dirty="0"/>
          </a:p>
          <a:p>
            <a:pPr lvl="1"/>
            <a:r>
              <a:rPr lang="ja-JP" altLang="en-US" sz="2800" dirty="0"/>
              <a:t>一覧表を編集することでグラフのバランスを調整</a:t>
            </a:r>
            <a:endParaRPr lang="en-US" altLang="ja-JP" sz="2800" dirty="0"/>
          </a:p>
          <a:p>
            <a:pPr lvl="2"/>
            <a:r>
              <a:rPr lang="ja-JP" altLang="en-US" sz="2400" dirty="0"/>
              <a:t>どの体験が一番重要だったかという自己内省</a:t>
            </a:r>
            <a:endParaRPr lang="en-US" altLang="ja-JP" sz="2400" dirty="0"/>
          </a:p>
          <a:p>
            <a:pPr lvl="2"/>
            <a:endParaRPr lang="en-US" altLang="ja-JP" sz="2400" dirty="0"/>
          </a:p>
          <a:p>
            <a:r>
              <a:rPr lang="en-US" altLang="ja-JP" sz="3200" dirty="0"/>
              <a:t>TIPI-J</a:t>
            </a:r>
            <a:r>
              <a:rPr lang="ja-JP" altLang="en-US" sz="3200" dirty="0"/>
              <a:t>テストおよび</a:t>
            </a:r>
            <a:r>
              <a:rPr lang="en-US" altLang="ja-JP" sz="3200" dirty="0"/>
              <a:t>PVQ</a:t>
            </a:r>
            <a:r>
              <a:rPr lang="ja-JP" altLang="en-US" sz="3200" dirty="0"/>
              <a:t>テストの受験</a:t>
            </a:r>
            <a:endParaRPr lang="en-US" altLang="ja-JP" sz="3200" dirty="0"/>
          </a:p>
          <a:p>
            <a:endParaRPr lang="en-US" altLang="ja-JP" sz="3200" dirty="0"/>
          </a:p>
        </p:txBody>
      </p:sp>
      <p:grpSp>
        <p:nvGrpSpPr>
          <p:cNvPr id="12" name="グループ化 11">
            <a:extLst>
              <a:ext uri="{FF2B5EF4-FFF2-40B4-BE49-F238E27FC236}">
                <a16:creationId xmlns:a16="http://schemas.microsoft.com/office/drawing/2014/main" id="{D2D94B0A-C220-31AE-1218-2C795ACF9DE0}"/>
              </a:ext>
            </a:extLst>
          </p:cNvPr>
          <p:cNvGrpSpPr/>
          <p:nvPr/>
        </p:nvGrpSpPr>
        <p:grpSpPr>
          <a:xfrm>
            <a:off x="7939312" y="4489881"/>
            <a:ext cx="4180114" cy="2069431"/>
            <a:chOff x="7953829" y="4481739"/>
            <a:chExt cx="4180114" cy="2069431"/>
          </a:xfrm>
        </p:grpSpPr>
        <p:pic>
          <p:nvPicPr>
            <p:cNvPr id="13" name="図 12" descr="グラフ, 折れ線グラフ&#10;&#10;AI 生成コンテンツは誤りを含む可能性があります。">
              <a:extLst>
                <a:ext uri="{FF2B5EF4-FFF2-40B4-BE49-F238E27FC236}">
                  <a16:creationId xmlns:a16="http://schemas.microsoft.com/office/drawing/2014/main" id="{9EB08E30-5642-C029-EBE7-20D1637BE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3829" y="4481739"/>
              <a:ext cx="4180114" cy="2069431"/>
            </a:xfrm>
            <a:prstGeom prst="rect">
              <a:avLst/>
            </a:prstGeom>
          </p:spPr>
        </p:pic>
        <p:sp>
          <p:nvSpPr>
            <p:cNvPr id="14" name="四角形: 角を丸くする 13">
              <a:extLst>
                <a:ext uri="{FF2B5EF4-FFF2-40B4-BE49-F238E27FC236}">
                  <a16:creationId xmlns:a16="http://schemas.microsoft.com/office/drawing/2014/main" id="{EA3695D3-4229-E09A-E79A-025AFF238466}"/>
                </a:ext>
              </a:extLst>
            </p:cNvPr>
            <p:cNvSpPr/>
            <p:nvPr/>
          </p:nvSpPr>
          <p:spPr>
            <a:xfrm>
              <a:off x="7979230" y="4536741"/>
              <a:ext cx="4082142" cy="1912504"/>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DFD52583-0D92-E30E-9889-6C78AEAFFE5C}"/>
              </a:ext>
            </a:extLst>
          </p:cNvPr>
          <p:cNvGrpSpPr/>
          <p:nvPr/>
        </p:nvGrpSpPr>
        <p:grpSpPr>
          <a:xfrm>
            <a:off x="7850412" y="2355779"/>
            <a:ext cx="4310744" cy="2134102"/>
            <a:chOff x="7881257" y="4417070"/>
            <a:chExt cx="4310744" cy="2134102"/>
          </a:xfrm>
        </p:grpSpPr>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82366F00-29CE-55EF-B550-D2DE64123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1257" y="4417070"/>
              <a:ext cx="4310744" cy="2134102"/>
            </a:xfrm>
            <a:prstGeom prst="rect">
              <a:avLst/>
            </a:prstGeom>
          </p:spPr>
        </p:pic>
        <p:sp>
          <p:nvSpPr>
            <p:cNvPr id="8" name="四角形: 角を丸くする 7">
              <a:extLst>
                <a:ext uri="{FF2B5EF4-FFF2-40B4-BE49-F238E27FC236}">
                  <a16:creationId xmlns:a16="http://schemas.microsoft.com/office/drawing/2014/main" id="{5F342228-B189-BE02-FCE4-BB0EF6DF8108}"/>
                </a:ext>
              </a:extLst>
            </p:cNvPr>
            <p:cNvSpPr/>
            <p:nvPr/>
          </p:nvSpPr>
          <p:spPr>
            <a:xfrm>
              <a:off x="10029369" y="4547695"/>
              <a:ext cx="1952174" cy="1272534"/>
            </a:xfrm>
            <a:prstGeom prst="roundRect">
              <a:avLst/>
            </a:prstGeom>
            <a:noFill/>
            <a:ln w="571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grpSp>
      <p:graphicFrame>
        <p:nvGraphicFramePr>
          <p:cNvPr id="6" name="表 5">
            <a:extLst>
              <a:ext uri="{FF2B5EF4-FFF2-40B4-BE49-F238E27FC236}">
                <a16:creationId xmlns:a16="http://schemas.microsoft.com/office/drawing/2014/main" id="{75A52A9B-B92F-A365-8EC1-E5331CE229E3}"/>
              </a:ext>
            </a:extLst>
          </p:cNvPr>
          <p:cNvGraphicFramePr>
            <a:graphicFrameLocks noGrp="1"/>
          </p:cNvGraphicFramePr>
          <p:nvPr>
            <p:extLst>
              <p:ext uri="{D42A27DB-BD31-4B8C-83A1-F6EECF244321}">
                <p14:modId xmlns:p14="http://schemas.microsoft.com/office/powerpoint/2010/main" val="167202233"/>
              </p:ext>
            </p:extLst>
          </p:nvPr>
        </p:nvGraphicFramePr>
        <p:xfrm>
          <a:off x="339115" y="4723361"/>
          <a:ext cx="7511298" cy="1734024"/>
        </p:xfrm>
        <a:graphic>
          <a:graphicData uri="http://schemas.openxmlformats.org/drawingml/2006/table">
            <a:tbl>
              <a:tblPr firstRow="1" bandRow="1">
                <a:tableStyleId>{5C22544A-7EE6-4342-B048-85BDC9FD1C3A}</a:tableStyleId>
              </a:tblPr>
              <a:tblGrid>
                <a:gridCol w="1718285">
                  <a:extLst>
                    <a:ext uri="{9D8B030D-6E8A-4147-A177-3AD203B41FA5}">
                      <a16:colId xmlns:a16="http://schemas.microsoft.com/office/drawing/2014/main" val="3197187616"/>
                    </a:ext>
                  </a:extLst>
                </a:gridCol>
                <a:gridCol w="1019175">
                  <a:extLst>
                    <a:ext uri="{9D8B030D-6E8A-4147-A177-3AD203B41FA5}">
                      <a16:colId xmlns:a16="http://schemas.microsoft.com/office/drawing/2014/main" val="151105206"/>
                    </a:ext>
                  </a:extLst>
                </a:gridCol>
                <a:gridCol w="4773838">
                  <a:extLst>
                    <a:ext uri="{9D8B030D-6E8A-4147-A177-3AD203B41FA5}">
                      <a16:colId xmlns:a16="http://schemas.microsoft.com/office/drawing/2014/main" val="834966415"/>
                    </a:ext>
                  </a:extLst>
                </a:gridCol>
              </a:tblGrid>
              <a:tr h="407726">
                <a:tc>
                  <a:txBody>
                    <a:bodyPr/>
                    <a:lstStyle/>
                    <a:p>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質問数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特性分類</a:t>
                      </a:r>
                    </a:p>
                  </a:txBody>
                  <a:tcPr/>
                </a:tc>
                <a:extLst>
                  <a:ext uri="{0D108BD9-81ED-4DB2-BD59-A6C34878D82A}">
                    <a16:rowId xmlns:a16="http://schemas.microsoft.com/office/drawing/2014/main" val="1025366267"/>
                  </a:ext>
                </a:extLst>
              </a:tr>
              <a:tr h="663149">
                <a:tc>
                  <a:txBody>
                    <a:bodyPr/>
                    <a:lstStyle/>
                    <a:p>
                      <a:pPr algn="ctr"/>
                      <a:r>
                        <a:rPr kumimoji="1" lang="en-US" altLang="ja-JP" b="1" dirty="0"/>
                        <a:t>TIPI-J</a:t>
                      </a:r>
                    </a:p>
                    <a:p>
                      <a:pPr algn="ctr"/>
                      <a:r>
                        <a:rPr kumimoji="1" lang="ja-JP" altLang="en-US" b="1" dirty="0"/>
                        <a:t>（性格特性）</a:t>
                      </a:r>
                    </a:p>
                  </a:txBody>
                  <a:tcPr/>
                </a:tc>
                <a:tc>
                  <a:txBody>
                    <a:bodyPr/>
                    <a:lstStyle/>
                    <a:p>
                      <a:pPr algn="ctr"/>
                      <a:r>
                        <a:rPr kumimoji="1" lang="en-US" altLang="ja-JP" dirty="0"/>
                        <a:t>10</a:t>
                      </a:r>
                      <a:endParaRPr kumimoji="1" lang="ja-JP" altLang="en-US" dirty="0"/>
                    </a:p>
                  </a:txBody>
                  <a:tcPr/>
                </a:tc>
                <a:tc>
                  <a:txBody>
                    <a:bodyPr/>
                    <a:lstStyle/>
                    <a:p>
                      <a:r>
                        <a:rPr kumimoji="1" lang="zh-TW" altLang="en-US" dirty="0"/>
                        <a:t>外向性，協調性，勤勉性，神経症傾向，</a:t>
                      </a:r>
                      <a:br>
                        <a:rPr kumimoji="1" lang="en-US" altLang="zh-TW" dirty="0"/>
                      </a:br>
                      <a:r>
                        <a:rPr kumimoji="1" lang="zh-TW" altLang="en-US" dirty="0"/>
                        <a:t>開放性</a:t>
                      </a:r>
                      <a:endParaRPr kumimoji="1" lang="ja-JP" altLang="en-US" dirty="0"/>
                    </a:p>
                  </a:txBody>
                  <a:tcPr/>
                </a:tc>
                <a:extLst>
                  <a:ext uri="{0D108BD9-81ED-4DB2-BD59-A6C34878D82A}">
                    <a16:rowId xmlns:a16="http://schemas.microsoft.com/office/drawing/2014/main" val="2821627599"/>
                  </a:ext>
                </a:extLst>
              </a:tr>
              <a:tr h="663149">
                <a:tc>
                  <a:txBody>
                    <a:bodyPr/>
                    <a:lstStyle/>
                    <a:p>
                      <a:pPr algn="ctr"/>
                      <a:r>
                        <a:rPr kumimoji="1" lang="en-US" altLang="ja-JP" b="1" dirty="0"/>
                        <a:t>PVQ</a:t>
                      </a:r>
                    </a:p>
                    <a:p>
                      <a:pPr algn="ctr"/>
                      <a:r>
                        <a:rPr kumimoji="1" lang="ja-JP" altLang="en-US" b="1" dirty="0"/>
                        <a:t>（価値傾向）</a:t>
                      </a:r>
                    </a:p>
                  </a:txBody>
                  <a:tcPr/>
                </a:tc>
                <a:tc>
                  <a:txBody>
                    <a:bodyPr/>
                    <a:lstStyle/>
                    <a:p>
                      <a:pPr algn="ctr"/>
                      <a:r>
                        <a:rPr kumimoji="1" lang="en-US" altLang="ja-JP" dirty="0"/>
                        <a:t>57</a:t>
                      </a:r>
                      <a:endParaRPr kumimoji="1" lang="ja-JP" altLang="en-US" dirty="0"/>
                    </a:p>
                  </a:txBody>
                  <a:tcPr/>
                </a:tc>
                <a:tc>
                  <a:txBody>
                    <a:bodyPr/>
                    <a:lstStyle/>
                    <a:p>
                      <a:r>
                        <a:rPr kumimoji="1" lang="ja-JP" altLang="en-US" dirty="0"/>
                        <a:t>普遍主義、博愛、協調、伝統、安全、権力、</a:t>
                      </a:r>
                      <a:br>
                        <a:rPr kumimoji="1" lang="en-US" altLang="ja-JP" dirty="0"/>
                      </a:br>
                      <a:r>
                        <a:rPr kumimoji="1" lang="ja-JP" altLang="en-US" dirty="0"/>
                        <a:t>達成、快楽主義、刺激、自己決定</a:t>
                      </a:r>
                    </a:p>
                  </a:txBody>
                  <a:tcPr/>
                </a:tc>
                <a:extLst>
                  <a:ext uri="{0D108BD9-81ED-4DB2-BD59-A6C34878D82A}">
                    <a16:rowId xmlns:a16="http://schemas.microsoft.com/office/drawing/2014/main" val="3633822594"/>
                  </a:ext>
                </a:extLst>
              </a:tr>
            </a:tbl>
          </a:graphicData>
        </a:graphic>
      </p:graphicFrame>
    </p:spTree>
    <p:extLst>
      <p:ext uri="{BB962C8B-B14F-4D97-AF65-F5344CB8AC3E}">
        <p14:creationId xmlns:p14="http://schemas.microsoft.com/office/powerpoint/2010/main" val="3241237835"/>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E98B8C-F4DD-F231-D7C7-246DB5564A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2B8782-CB89-E2FD-648C-12E27D8F1097}"/>
              </a:ext>
            </a:extLst>
          </p:cNvPr>
          <p:cNvSpPr>
            <a:spLocks noGrp="1"/>
          </p:cNvSpPr>
          <p:nvPr>
            <p:ph type="title"/>
          </p:nvPr>
        </p:nvSpPr>
        <p:spPr/>
        <p:txBody>
          <a:bodyPr/>
          <a:lstStyle/>
          <a:p>
            <a:r>
              <a:rPr lang="ja-JP" altLang="en-US" dirty="0"/>
              <a:t>データ収集</a:t>
            </a:r>
            <a:endParaRPr kumimoji="1" lang="ja-JP" altLang="en-US" dirty="0"/>
          </a:p>
        </p:txBody>
      </p:sp>
      <p:sp>
        <p:nvSpPr>
          <p:cNvPr id="3" name="コンテンツ プレースホルダー 2">
            <a:extLst>
              <a:ext uri="{FF2B5EF4-FFF2-40B4-BE49-F238E27FC236}">
                <a16:creationId xmlns:a16="http://schemas.microsoft.com/office/drawing/2014/main" id="{9E213985-4513-7F79-1932-A9B425FA2E95}"/>
              </a:ext>
            </a:extLst>
          </p:cNvPr>
          <p:cNvSpPr>
            <a:spLocks noGrp="1"/>
          </p:cNvSpPr>
          <p:nvPr>
            <p:ph idx="1"/>
          </p:nvPr>
        </p:nvSpPr>
        <p:spPr>
          <a:xfrm>
            <a:off x="339114" y="1194907"/>
            <a:ext cx="7511297" cy="4996933"/>
          </a:xfrm>
        </p:spPr>
        <p:txBody>
          <a:bodyPr/>
          <a:lstStyle/>
          <a:p>
            <a:r>
              <a:rPr lang="ja-JP" altLang="en-US" sz="3200" dirty="0"/>
              <a:t>データ収集プラットフォーム</a:t>
            </a:r>
            <a:endParaRPr lang="en-US" altLang="ja-JP" sz="3200" dirty="0"/>
          </a:p>
          <a:p>
            <a:pPr lvl="1"/>
            <a:r>
              <a:rPr lang="ja-JP" altLang="en-US" sz="2400" dirty="0"/>
              <a:t>年齢・性別・職業</a:t>
            </a:r>
            <a:endParaRPr lang="en-US" altLang="ja-JP" sz="2400" dirty="0"/>
          </a:p>
          <a:p>
            <a:pPr lvl="1"/>
            <a:r>
              <a:rPr lang="ja-JP" altLang="en-US" sz="2400" dirty="0"/>
              <a:t>人生グラフの作成</a:t>
            </a:r>
            <a:endParaRPr lang="en-US" altLang="ja-JP" sz="2400" dirty="0"/>
          </a:p>
          <a:p>
            <a:pPr lvl="2"/>
            <a:r>
              <a:rPr lang="ja-JP" altLang="en-US" sz="2000" dirty="0"/>
              <a:t>年齢・エピソード・その時の幸福度</a:t>
            </a:r>
            <a:endParaRPr lang="en-US" altLang="ja-JP" sz="2000" dirty="0"/>
          </a:p>
          <a:p>
            <a:pPr lvl="1"/>
            <a:r>
              <a:rPr lang="en-US" altLang="ja-JP" sz="2400" dirty="0"/>
              <a:t>TIPI-J</a:t>
            </a:r>
            <a:r>
              <a:rPr lang="ja-JP" altLang="en-US" sz="2400" dirty="0"/>
              <a:t>テストおよび</a:t>
            </a:r>
            <a:r>
              <a:rPr lang="en-US" altLang="ja-JP" sz="2400" dirty="0"/>
              <a:t>PVQ</a:t>
            </a:r>
            <a:r>
              <a:rPr lang="ja-JP" altLang="en-US" sz="2400" dirty="0"/>
              <a:t>テストへの回答</a:t>
            </a:r>
            <a:endParaRPr lang="en-US" altLang="ja-JP" sz="2400" dirty="0"/>
          </a:p>
          <a:p>
            <a:r>
              <a:rPr lang="ja-JP" altLang="en-US" sz="2800" dirty="0"/>
              <a:t>参加者の募集</a:t>
            </a:r>
            <a:endParaRPr lang="en-US" altLang="ja-JP" sz="2800" dirty="0"/>
          </a:p>
          <a:p>
            <a:pPr lvl="1"/>
            <a:r>
              <a:rPr lang="ja-JP" altLang="en-US" sz="2400" dirty="0"/>
              <a:t>クラウドワークスを通して</a:t>
            </a:r>
            <a:r>
              <a:rPr lang="en-US" altLang="ja-JP" sz="2400" dirty="0"/>
              <a:t>29</a:t>
            </a:r>
            <a:r>
              <a:rPr lang="ja-JP" altLang="en-US" sz="2400" dirty="0"/>
              <a:t>人のデータを収集した</a:t>
            </a:r>
            <a:endParaRPr lang="en-US" altLang="ja-JP" sz="2400" dirty="0"/>
          </a:p>
          <a:p>
            <a:pPr lvl="1"/>
            <a:r>
              <a:rPr lang="ja-JP" altLang="en-US" sz="2400" dirty="0"/>
              <a:t>平均年齢</a:t>
            </a:r>
            <a:r>
              <a:rPr lang="en-US" altLang="ja-JP" sz="2400" dirty="0"/>
              <a:t>40</a:t>
            </a:r>
            <a:r>
              <a:rPr lang="ja-JP" altLang="en-US" sz="2400" dirty="0"/>
              <a:t>歳、</a:t>
            </a:r>
            <a:r>
              <a:rPr lang="en-US" altLang="ja-JP" sz="2400" dirty="0"/>
              <a:t>21</a:t>
            </a:r>
            <a:r>
              <a:rPr lang="ja-JP" altLang="en-US" sz="2400" dirty="0"/>
              <a:t>～</a:t>
            </a:r>
            <a:r>
              <a:rPr lang="en-US" altLang="ja-JP" sz="2400" dirty="0"/>
              <a:t>59</a:t>
            </a:r>
            <a:r>
              <a:rPr lang="ja-JP" altLang="en-US" sz="2400" dirty="0"/>
              <a:t>歳の男女</a:t>
            </a:r>
            <a:endParaRPr lang="en-US" altLang="ja-JP" sz="2400" dirty="0"/>
          </a:p>
          <a:p>
            <a:pPr lvl="1"/>
            <a:r>
              <a:rPr lang="ja-JP" altLang="en-US" sz="2400" dirty="0"/>
              <a:t>平均体験数</a:t>
            </a:r>
            <a:r>
              <a:rPr lang="en-US" altLang="ja-JP" sz="2400" dirty="0"/>
              <a:t>15</a:t>
            </a:r>
            <a:r>
              <a:rPr lang="ja-JP" altLang="en-US" sz="2400" dirty="0"/>
              <a:t>件、</a:t>
            </a:r>
            <a:r>
              <a:rPr lang="en-US" altLang="ja-JP" sz="2400" dirty="0"/>
              <a:t>7</a:t>
            </a:r>
            <a:r>
              <a:rPr lang="ja-JP" altLang="en-US" sz="2400" dirty="0"/>
              <a:t>～</a:t>
            </a:r>
            <a:r>
              <a:rPr lang="en-US" altLang="ja-JP" sz="2400" dirty="0"/>
              <a:t>21</a:t>
            </a:r>
            <a:r>
              <a:rPr lang="ja-JP" altLang="en-US" sz="2400" dirty="0"/>
              <a:t>件</a:t>
            </a:r>
            <a:endParaRPr lang="en-US" altLang="ja-JP" sz="2400" dirty="0"/>
          </a:p>
        </p:txBody>
      </p:sp>
      <p:pic>
        <p:nvPicPr>
          <p:cNvPr id="13" name="図 12" descr="グラフ, 折れ線グラフ&#10;&#10;AI 生成コンテンツは誤りを含む可能性があります。">
            <a:extLst>
              <a:ext uri="{FF2B5EF4-FFF2-40B4-BE49-F238E27FC236}">
                <a16:creationId xmlns:a16="http://schemas.microsoft.com/office/drawing/2014/main" id="{51D7AF57-6D7B-EDDF-73DB-CCB5A0AC68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1461" y="3745428"/>
            <a:ext cx="4840539" cy="2396385"/>
          </a:xfrm>
          <a:prstGeom prst="rect">
            <a:avLst/>
          </a:prstGeom>
        </p:spPr>
      </p:pic>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BC6BFB29-ACC0-B32A-AAED-ACFF5CBE27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1460" y="1349042"/>
            <a:ext cx="4840540" cy="2396386"/>
          </a:xfrm>
          <a:prstGeom prst="rect">
            <a:avLst/>
          </a:prstGeom>
        </p:spPr>
      </p:pic>
      <p:graphicFrame>
        <p:nvGraphicFramePr>
          <p:cNvPr id="6" name="表 5">
            <a:extLst>
              <a:ext uri="{FF2B5EF4-FFF2-40B4-BE49-F238E27FC236}">
                <a16:creationId xmlns:a16="http://schemas.microsoft.com/office/drawing/2014/main" id="{E9C05225-2CDE-11ED-0692-1532E9B9011A}"/>
              </a:ext>
            </a:extLst>
          </p:cNvPr>
          <p:cNvGraphicFramePr>
            <a:graphicFrameLocks noGrp="1"/>
          </p:cNvGraphicFramePr>
          <p:nvPr>
            <p:extLst>
              <p:ext uri="{D42A27DB-BD31-4B8C-83A1-F6EECF244321}">
                <p14:modId xmlns:p14="http://schemas.microsoft.com/office/powerpoint/2010/main" val="3616065433"/>
              </p:ext>
            </p:extLst>
          </p:nvPr>
        </p:nvGraphicFramePr>
        <p:xfrm>
          <a:off x="413475" y="4943620"/>
          <a:ext cx="6937985" cy="1673747"/>
        </p:xfrm>
        <a:graphic>
          <a:graphicData uri="http://schemas.openxmlformats.org/drawingml/2006/table">
            <a:tbl>
              <a:tblPr firstRow="1" bandRow="1">
                <a:tableStyleId>{21E4AEA4-8DFA-4A89-87EB-49C32662AFE0}</a:tableStyleId>
              </a:tblPr>
              <a:tblGrid>
                <a:gridCol w="1587134">
                  <a:extLst>
                    <a:ext uri="{9D8B030D-6E8A-4147-A177-3AD203B41FA5}">
                      <a16:colId xmlns:a16="http://schemas.microsoft.com/office/drawing/2014/main" val="3197187616"/>
                    </a:ext>
                  </a:extLst>
                </a:gridCol>
                <a:gridCol w="941385">
                  <a:extLst>
                    <a:ext uri="{9D8B030D-6E8A-4147-A177-3AD203B41FA5}">
                      <a16:colId xmlns:a16="http://schemas.microsoft.com/office/drawing/2014/main" val="151105206"/>
                    </a:ext>
                  </a:extLst>
                </a:gridCol>
                <a:gridCol w="4409466">
                  <a:extLst>
                    <a:ext uri="{9D8B030D-6E8A-4147-A177-3AD203B41FA5}">
                      <a16:colId xmlns:a16="http://schemas.microsoft.com/office/drawing/2014/main" val="834966415"/>
                    </a:ext>
                  </a:extLst>
                </a:gridCol>
              </a:tblGrid>
              <a:tr h="393553">
                <a:tc>
                  <a:txBody>
                    <a:bodyPr/>
                    <a:lstStyle/>
                    <a:p>
                      <a:endParaRPr kumimoji="1" lang="ja-JP" altLang="en-US" dirty="0"/>
                    </a:p>
                  </a:txBody>
                  <a:tcPr>
                    <a:solidFill>
                      <a:schemeClr val="accent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solidFill>
                            <a:schemeClr val="tx1"/>
                          </a:solidFill>
                        </a:rPr>
                        <a:t>質問数</a:t>
                      </a:r>
                    </a:p>
                  </a:txBody>
                  <a:tcPr>
                    <a:solidFill>
                      <a:schemeClr val="accent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solidFill>
                            <a:schemeClr val="tx1"/>
                          </a:solidFill>
                        </a:rPr>
                        <a:t>特性分類</a:t>
                      </a:r>
                    </a:p>
                  </a:txBody>
                  <a:tcPr>
                    <a:solidFill>
                      <a:schemeClr val="accent2">
                        <a:lumMod val="60000"/>
                        <a:lumOff val="40000"/>
                      </a:schemeClr>
                    </a:solidFill>
                  </a:tcPr>
                </a:tc>
                <a:extLst>
                  <a:ext uri="{0D108BD9-81ED-4DB2-BD59-A6C34878D82A}">
                    <a16:rowId xmlns:a16="http://schemas.microsoft.com/office/drawing/2014/main" val="1025366267"/>
                  </a:ext>
                </a:extLst>
              </a:tr>
              <a:tr h="640097">
                <a:tc>
                  <a:txBody>
                    <a:bodyPr/>
                    <a:lstStyle/>
                    <a:p>
                      <a:pPr algn="ctr"/>
                      <a:r>
                        <a:rPr kumimoji="1" lang="en-US" altLang="ja-JP" b="1" dirty="0"/>
                        <a:t>TIPI-J</a:t>
                      </a:r>
                    </a:p>
                    <a:p>
                      <a:pPr algn="ctr"/>
                      <a:r>
                        <a:rPr kumimoji="1" lang="ja-JP" altLang="en-US" b="1" dirty="0"/>
                        <a:t>（性格特性）</a:t>
                      </a:r>
                    </a:p>
                  </a:txBody>
                  <a:tcPr>
                    <a:solidFill>
                      <a:srgbClr val="FFE8CB"/>
                    </a:solidFill>
                  </a:tcPr>
                </a:tc>
                <a:tc>
                  <a:txBody>
                    <a:bodyPr/>
                    <a:lstStyle/>
                    <a:p>
                      <a:pPr algn="ctr"/>
                      <a:r>
                        <a:rPr kumimoji="1" lang="en-US" altLang="ja-JP" dirty="0"/>
                        <a:t>10</a:t>
                      </a:r>
                      <a:endParaRPr kumimoji="1" lang="ja-JP" altLang="en-US" dirty="0"/>
                    </a:p>
                  </a:txBody>
                  <a:tcPr>
                    <a:solidFill>
                      <a:srgbClr val="FFE8CB"/>
                    </a:solidFill>
                  </a:tcPr>
                </a:tc>
                <a:tc>
                  <a:txBody>
                    <a:bodyPr/>
                    <a:lstStyle/>
                    <a:p>
                      <a:r>
                        <a:rPr kumimoji="1" lang="zh-TW" altLang="en-US" dirty="0"/>
                        <a:t>外向性</a:t>
                      </a:r>
                      <a:r>
                        <a:rPr kumimoji="1" lang="ja-JP" altLang="en-US" dirty="0"/>
                        <a:t>、</a:t>
                      </a:r>
                      <a:r>
                        <a:rPr kumimoji="1" lang="zh-TW" altLang="en-US" dirty="0"/>
                        <a:t>協調性</a:t>
                      </a:r>
                      <a:r>
                        <a:rPr kumimoji="1" lang="ja-JP" altLang="en-US" dirty="0"/>
                        <a:t>、</a:t>
                      </a:r>
                      <a:r>
                        <a:rPr kumimoji="1" lang="zh-TW" altLang="en-US" dirty="0"/>
                        <a:t>勤勉性</a:t>
                      </a:r>
                      <a:r>
                        <a:rPr kumimoji="1" lang="ja-JP" altLang="en-US" dirty="0"/>
                        <a:t>、</a:t>
                      </a:r>
                      <a:r>
                        <a:rPr kumimoji="1" lang="zh-TW" altLang="en-US" dirty="0"/>
                        <a:t>神経症傾向</a:t>
                      </a:r>
                      <a:r>
                        <a:rPr kumimoji="1" lang="ja-JP" altLang="en-US" dirty="0"/>
                        <a:t>、</a:t>
                      </a:r>
                      <a:br>
                        <a:rPr kumimoji="1" lang="en-US" altLang="zh-TW" dirty="0"/>
                      </a:br>
                      <a:r>
                        <a:rPr kumimoji="1" lang="zh-TW" altLang="en-US" dirty="0"/>
                        <a:t>開放性</a:t>
                      </a:r>
                      <a:endParaRPr kumimoji="1" lang="ja-JP" altLang="en-US" dirty="0"/>
                    </a:p>
                  </a:txBody>
                  <a:tcPr>
                    <a:solidFill>
                      <a:srgbClr val="FFE8CB"/>
                    </a:solidFill>
                  </a:tcPr>
                </a:tc>
                <a:extLst>
                  <a:ext uri="{0D108BD9-81ED-4DB2-BD59-A6C34878D82A}">
                    <a16:rowId xmlns:a16="http://schemas.microsoft.com/office/drawing/2014/main" val="2821627599"/>
                  </a:ext>
                </a:extLst>
              </a:tr>
              <a:tr h="640097">
                <a:tc>
                  <a:txBody>
                    <a:bodyPr/>
                    <a:lstStyle/>
                    <a:p>
                      <a:pPr algn="ctr"/>
                      <a:r>
                        <a:rPr kumimoji="1" lang="en-US" altLang="ja-JP" b="1" dirty="0"/>
                        <a:t>PVQ</a:t>
                      </a:r>
                    </a:p>
                    <a:p>
                      <a:pPr algn="ctr"/>
                      <a:r>
                        <a:rPr kumimoji="1" lang="ja-JP" altLang="en-US" b="1" dirty="0"/>
                        <a:t>（価値観）</a:t>
                      </a:r>
                    </a:p>
                  </a:txBody>
                  <a:tcPr>
                    <a:solidFill>
                      <a:srgbClr val="FFF4E7"/>
                    </a:solidFill>
                  </a:tcPr>
                </a:tc>
                <a:tc>
                  <a:txBody>
                    <a:bodyPr/>
                    <a:lstStyle/>
                    <a:p>
                      <a:pPr algn="ctr"/>
                      <a:r>
                        <a:rPr kumimoji="1" lang="en-US" altLang="ja-JP" dirty="0"/>
                        <a:t>57</a:t>
                      </a:r>
                      <a:endParaRPr kumimoji="1" lang="ja-JP" altLang="en-US" dirty="0"/>
                    </a:p>
                  </a:txBody>
                  <a:tcPr>
                    <a:solidFill>
                      <a:srgbClr val="FFF4E7"/>
                    </a:solidFill>
                  </a:tcPr>
                </a:tc>
                <a:tc>
                  <a:txBody>
                    <a:bodyPr/>
                    <a:lstStyle/>
                    <a:p>
                      <a:r>
                        <a:rPr kumimoji="1" lang="ja-JP" altLang="en-US" dirty="0"/>
                        <a:t>普遍主義、博愛、協調、伝統、安全、権力、</a:t>
                      </a:r>
                      <a:br>
                        <a:rPr kumimoji="1" lang="en-US" altLang="ja-JP" dirty="0"/>
                      </a:br>
                      <a:r>
                        <a:rPr kumimoji="1" lang="ja-JP" altLang="en-US" dirty="0"/>
                        <a:t>達成、快楽主義、刺激、自己決定</a:t>
                      </a:r>
                    </a:p>
                  </a:txBody>
                  <a:tcPr>
                    <a:solidFill>
                      <a:srgbClr val="FFF4E7"/>
                    </a:solidFill>
                  </a:tcPr>
                </a:tc>
                <a:extLst>
                  <a:ext uri="{0D108BD9-81ED-4DB2-BD59-A6C34878D82A}">
                    <a16:rowId xmlns:a16="http://schemas.microsoft.com/office/drawing/2014/main" val="3633822594"/>
                  </a:ext>
                </a:extLst>
              </a:tr>
            </a:tbl>
          </a:graphicData>
        </a:graphic>
      </p:graphicFrame>
    </p:spTree>
    <p:extLst>
      <p:ext uri="{BB962C8B-B14F-4D97-AF65-F5344CB8AC3E}">
        <p14:creationId xmlns:p14="http://schemas.microsoft.com/office/powerpoint/2010/main" val="2104588623"/>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1C313-31F7-EAE6-5810-C00FC49BED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17B933-79A5-63BF-4095-414B13C81DA3}"/>
              </a:ext>
            </a:extLst>
          </p:cNvPr>
          <p:cNvSpPr>
            <a:spLocks noGrp="1"/>
          </p:cNvSpPr>
          <p:nvPr>
            <p:ph type="title"/>
          </p:nvPr>
        </p:nvSpPr>
        <p:spPr/>
        <p:txBody>
          <a:bodyPr/>
          <a:lstStyle/>
          <a:p>
            <a:r>
              <a:rPr lang="ja-JP" altLang="en-US" dirty="0"/>
              <a:t>データ収集</a:t>
            </a:r>
            <a:endParaRPr kumimoji="1" lang="ja-JP" altLang="en-US" dirty="0"/>
          </a:p>
        </p:txBody>
      </p:sp>
      <p:sp>
        <p:nvSpPr>
          <p:cNvPr id="3" name="コンテンツ プレースホルダー 2">
            <a:extLst>
              <a:ext uri="{FF2B5EF4-FFF2-40B4-BE49-F238E27FC236}">
                <a16:creationId xmlns:a16="http://schemas.microsoft.com/office/drawing/2014/main" id="{31A2CD97-5830-1F0D-9C25-83BFC763B2DA}"/>
              </a:ext>
            </a:extLst>
          </p:cNvPr>
          <p:cNvSpPr>
            <a:spLocks noGrp="1"/>
          </p:cNvSpPr>
          <p:nvPr>
            <p:ph idx="1"/>
          </p:nvPr>
        </p:nvSpPr>
        <p:spPr>
          <a:xfrm>
            <a:off x="339114" y="1194907"/>
            <a:ext cx="7511297" cy="4996933"/>
          </a:xfrm>
        </p:spPr>
        <p:txBody>
          <a:bodyPr/>
          <a:lstStyle/>
          <a:p>
            <a:r>
              <a:rPr lang="ja-JP" altLang="en-US" sz="3200" dirty="0"/>
              <a:t>データ収集プラットフォーム</a:t>
            </a:r>
            <a:endParaRPr lang="en-US" altLang="ja-JP" sz="3200" dirty="0"/>
          </a:p>
          <a:p>
            <a:pPr lvl="1"/>
            <a:r>
              <a:rPr lang="ja-JP" altLang="en-US" sz="2400" dirty="0"/>
              <a:t>年齢・性別・職業</a:t>
            </a:r>
            <a:endParaRPr lang="en-US" altLang="ja-JP" sz="2400" dirty="0"/>
          </a:p>
          <a:p>
            <a:pPr lvl="1"/>
            <a:r>
              <a:rPr lang="ja-JP" altLang="en-US" sz="2400" dirty="0"/>
              <a:t>人生グラフの作成</a:t>
            </a:r>
            <a:endParaRPr lang="en-US" altLang="ja-JP" sz="2400" dirty="0"/>
          </a:p>
          <a:p>
            <a:pPr lvl="2"/>
            <a:r>
              <a:rPr lang="ja-JP" altLang="en-US" sz="2000" dirty="0"/>
              <a:t>年齢・エピソード・その時の幸福度</a:t>
            </a:r>
            <a:endParaRPr lang="en-US" altLang="ja-JP" sz="2000" dirty="0"/>
          </a:p>
          <a:p>
            <a:pPr lvl="1"/>
            <a:r>
              <a:rPr lang="en-US" altLang="ja-JP" sz="2400" dirty="0"/>
              <a:t>TIPI-J</a:t>
            </a:r>
            <a:r>
              <a:rPr lang="ja-JP" altLang="en-US" sz="2400" dirty="0"/>
              <a:t>テストおよび</a:t>
            </a:r>
            <a:r>
              <a:rPr lang="en-US" altLang="ja-JP" sz="2400" dirty="0"/>
              <a:t>PVQ</a:t>
            </a:r>
            <a:r>
              <a:rPr lang="ja-JP" altLang="en-US" sz="2400" dirty="0"/>
              <a:t>テストへの回答</a:t>
            </a:r>
            <a:endParaRPr lang="en-US" altLang="ja-JP" sz="2400" dirty="0"/>
          </a:p>
          <a:p>
            <a:r>
              <a:rPr lang="ja-JP" altLang="en-US" sz="2800" dirty="0"/>
              <a:t>参加者の募集</a:t>
            </a:r>
            <a:endParaRPr lang="en-US" altLang="ja-JP" sz="2800" dirty="0"/>
          </a:p>
          <a:p>
            <a:pPr lvl="1"/>
            <a:r>
              <a:rPr lang="ja-JP" altLang="en-US" sz="2400" dirty="0"/>
              <a:t>クラウドワークスを通して</a:t>
            </a:r>
            <a:r>
              <a:rPr lang="en-US" altLang="ja-JP" sz="2400" dirty="0"/>
              <a:t>29</a:t>
            </a:r>
            <a:r>
              <a:rPr lang="ja-JP" altLang="en-US" sz="2400" dirty="0"/>
              <a:t>人のデータを収集した</a:t>
            </a:r>
            <a:endParaRPr lang="en-US" altLang="ja-JP" sz="2400" dirty="0"/>
          </a:p>
          <a:p>
            <a:pPr lvl="1"/>
            <a:r>
              <a:rPr lang="ja-JP" altLang="en-US" sz="2400" dirty="0"/>
              <a:t>平均年齢</a:t>
            </a:r>
            <a:r>
              <a:rPr lang="en-US" altLang="ja-JP" sz="2400" dirty="0"/>
              <a:t>40</a:t>
            </a:r>
            <a:r>
              <a:rPr lang="ja-JP" altLang="en-US" sz="2400" dirty="0"/>
              <a:t>歳、</a:t>
            </a:r>
            <a:r>
              <a:rPr lang="en-US" altLang="ja-JP" sz="2400" dirty="0"/>
              <a:t>21</a:t>
            </a:r>
            <a:r>
              <a:rPr lang="ja-JP" altLang="en-US" sz="2400" dirty="0"/>
              <a:t>～</a:t>
            </a:r>
            <a:r>
              <a:rPr lang="en-US" altLang="ja-JP" sz="2400" dirty="0"/>
              <a:t>59</a:t>
            </a:r>
            <a:r>
              <a:rPr lang="ja-JP" altLang="en-US" sz="2400" dirty="0"/>
              <a:t>歳の男女</a:t>
            </a:r>
            <a:endParaRPr lang="en-US" altLang="ja-JP" sz="2400" dirty="0"/>
          </a:p>
          <a:p>
            <a:pPr lvl="1"/>
            <a:r>
              <a:rPr lang="ja-JP" altLang="en-US" sz="2400" dirty="0"/>
              <a:t>平均体験数</a:t>
            </a:r>
            <a:r>
              <a:rPr lang="en-US" altLang="ja-JP" sz="2400" dirty="0"/>
              <a:t>15</a:t>
            </a:r>
            <a:r>
              <a:rPr lang="ja-JP" altLang="en-US" sz="2400" dirty="0"/>
              <a:t>件、</a:t>
            </a:r>
            <a:r>
              <a:rPr lang="en-US" altLang="ja-JP" sz="2400" dirty="0"/>
              <a:t>7</a:t>
            </a:r>
            <a:r>
              <a:rPr lang="ja-JP" altLang="en-US" sz="2400" dirty="0"/>
              <a:t>～</a:t>
            </a:r>
            <a:r>
              <a:rPr lang="en-US" altLang="ja-JP" sz="2400" dirty="0"/>
              <a:t>21</a:t>
            </a:r>
            <a:r>
              <a:rPr lang="ja-JP" altLang="en-US" sz="2400" dirty="0"/>
              <a:t>件</a:t>
            </a:r>
            <a:endParaRPr lang="en-US" altLang="ja-JP" sz="2400" dirty="0"/>
          </a:p>
        </p:txBody>
      </p:sp>
      <p:pic>
        <p:nvPicPr>
          <p:cNvPr id="13" name="図 12" descr="グラフ, 折れ線グラフ&#10;&#10;AI 生成コンテンツは誤りを含む可能性があります。">
            <a:extLst>
              <a:ext uri="{FF2B5EF4-FFF2-40B4-BE49-F238E27FC236}">
                <a16:creationId xmlns:a16="http://schemas.microsoft.com/office/drawing/2014/main" id="{62981AF2-1964-3245-9715-D23CF4C36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1461" y="3745428"/>
            <a:ext cx="4840539" cy="2396385"/>
          </a:xfrm>
          <a:prstGeom prst="rect">
            <a:avLst/>
          </a:prstGeom>
        </p:spPr>
      </p:pic>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C97C3C0C-C64F-1A38-45FA-C9A97A88F4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1460" y="1349042"/>
            <a:ext cx="4840540" cy="2396386"/>
          </a:xfrm>
          <a:prstGeom prst="rect">
            <a:avLst/>
          </a:prstGeom>
        </p:spPr>
      </p:pic>
      <p:graphicFrame>
        <p:nvGraphicFramePr>
          <p:cNvPr id="6" name="表 5">
            <a:extLst>
              <a:ext uri="{FF2B5EF4-FFF2-40B4-BE49-F238E27FC236}">
                <a16:creationId xmlns:a16="http://schemas.microsoft.com/office/drawing/2014/main" id="{401EBAA1-1FAB-2209-F612-2CAF8ECE572A}"/>
              </a:ext>
            </a:extLst>
          </p:cNvPr>
          <p:cNvGraphicFramePr>
            <a:graphicFrameLocks noGrp="1"/>
          </p:cNvGraphicFramePr>
          <p:nvPr>
            <p:extLst>
              <p:ext uri="{D42A27DB-BD31-4B8C-83A1-F6EECF244321}">
                <p14:modId xmlns:p14="http://schemas.microsoft.com/office/powerpoint/2010/main" val="575982163"/>
              </p:ext>
            </p:extLst>
          </p:nvPr>
        </p:nvGraphicFramePr>
        <p:xfrm>
          <a:off x="413475" y="4993386"/>
          <a:ext cx="6937985" cy="1673747"/>
        </p:xfrm>
        <a:graphic>
          <a:graphicData uri="http://schemas.openxmlformats.org/drawingml/2006/table">
            <a:tbl>
              <a:tblPr firstRow="1" bandRow="1">
                <a:tableStyleId>{21E4AEA4-8DFA-4A89-87EB-49C32662AFE0}</a:tableStyleId>
              </a:tblPr>
              <a:tblGrid>
                <a:gridCol w="1587134">
                  <a:extLst>
                    <a:ext uri="{9D8B030D-6E8A-4147-A177-3AD203B41FA5}">
                      <a16:colId xmlns:a16="http://schemas.microsoft.com/office/drawing/2014/main" val="3197187616"/>
                    </a:ext>
                  </a:extLst>
                </a:gridCol>
                <a:gridCol w="941385">
                  <a:extLst>
                    <a:ext uri="{9D8B030D-6E8A-4147-A177-3AD203B41FA5}">
                      <a16:colId xmlns:a16="http://schemas.microsoft.com/office/drawing/2014/main" val="151105206"/>
                    </a:ext>
                  </a:extLst>
                </a:gridCol>
                <a:gridCol w="4409466">
                  <a:extLst>
                    <a:ext uri="{9D8B030D-6E8A-4147-A177-3AD203B41FA5}">
                      <a16:colId xmlns:a16="http://schemas.microsoft.com/office/drawing/2014/main" val="834966415"/>
                    </a:ext>
                  </a:extLst>
                </a:gridCol>
              </a:tblGrid>
              <a:tr h="393553">
                <a:tc>
                  <a:txBody>
                    <a:bodyPr/>
                    <a:lstStyle/>
                    <a:p>
                      <a:endParaRPr kumimoji="1" lang="ja-JP" altLang="en-US" dirty="0"/>
                    </a:p>
                  </a:txBody>
                  <a:tcPr>
                    <a:solidFill>
                      <a:schemeClr val="accent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solidFill>
                            <a:schemeClr val="tx1"/>
                          </a:solidFill>
                        </a:rPr>
                        <a:t>質問数</a:t>
                      </a:r>
                    </a:p>
                  </a:txBody>
                  <a:tcPr>
                    <a:solidFill>
                      <a:schemeClr val="accent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solidFill>
                            <a:schemeClr val="tx1"/>
                          </a:solidFill>
                        </a:rPr>
                        <a:t>特性分類</a:t>
                      </a:r>
                    </a:p>
                  </a:txBody>
                  <a:tcPr>
                    <a:solidFill>
                      <a:schemeClr val="accent2">
                        <a:lumMod val="60000"/>
                        <a:lumOff val="40000"/>
                      </a:schemeClr>
                    </a:solidFill>
                  </a:tcPr>
                </a:tc>
                <a:extLst>
                  <a:ext uri="{0D108BD9-81ED-4DB2-BD59-A6C34878D82A}">
                    <a16:rowId xmlns:a16="http://schemas.microsoft.com/office/drawing/2014/main" val="1025366267"/>
                  </a:ext>
                </a:extLst>
              </a:tr>
              <a:tr h="640097">
                <a:tc>
                  <a:txBody>
                    <a:bodyPr/>
                    <a:lstStyle/>
                    <a:p>
                      <a:pPr algn="ctr"/>
                      <a:r>
                        <a:rPr kumimoji="1" lang="en-US" altLang="ja-JP" b="1" dirty="0"/>
                        <a:t>TIPI-J</a:t>
                      </a:r>
                    </a:p>
                    <a:p>
                      <a:pPr algn="ctr"/>
                      <a:r>
                        <a:rPr kumimoji="1" lang="ja-JP" altLang="en-US" b="1" dirty="0"/>
                        <a:t>（性格特性）</a:t>
                      </a:r>
                    </a:p>
                  </a:txBody>
                  <a:tcPr>
                    <a:solidFill>
                      <a:srgbClr val="FFE8CB"/>
                    </a:solidFill>
                  </a:tcPr>
                </a:tc>
                <a:tc>
                  <a:txBody>
                    <a:bodyPr/>
                    <a:lstStyle/>
                    <a:p>
                      <a:pPr algn="ctr"/>
                      <a:r>
                        <a:rPr kumimoji="1" lang="en-US" altLang="ja-JP" dirty="0"/>
                        <a:t>10</a:t>
                      </a:r>
                      <a:endParaRPr kumimoji="1" lang="ja-JP" altLang="en-US" dirty="0"/>
                    </a:p>
                  </a:txBody>
                  <a:tcPr>
                    <a:solidFill>
                      <a:srgbClr val="FFE8CB"/>
                    </a:solidFill>
                  </a:tcPr>
                </a:tc>
                <a:tc>
                  <a:txBody>
                    <a:bodyPr/>
                    <a:lstStyle/>
                    <a:p>
                      <a:r>
                        <a:rPr kumimoji="1" lang="zh-TW" altLang="en-US" dirty="0"/>
                        <a:t>外向性</a:t>
                      </a:r>
                      <a:r>
                        <a:rPr kumimoji="1" lang="ja-JP" altLang="en-US" dirty="0"/>
                        <a:t>、</a:t>
                      </a:r>
                      <a:r>
                        <a:rPr kumimoji="1" lang="zh-TW" altLang="en-US" dirty="0"/>
                        <a:t>協調性</a:t>
                      </a:r>
                      <a:r>
                        <a:rPr kumimoji="1" lang="ja-JP" altLang="en-US" dirty="0"/>
                        <a:t>、</a:t>
                      </a:r>
                      <a:r>
                        <a:rPr kumimoji="1" lang="zh-TW" altLang="en-US" dirty="0"/>
                        <a:t>勤勉性</a:t>
                      </a:r>
                      <a:r>
                        <a:rPr kumimoji="1" lang="ja-JP" altLang="en-US" dirty="0"/>
                        <a:t>、</a:t>
                      </a:r>
                      <a:r>
                        <a:rPr kumimoji="1" lang="zh-TW" altLang="en-US" dirty="0"/>
                        <a:t>神経症傾向</a:t>
                      </a:r>
                      <a:r>
                        <a:rPr kumimoji="1" lang="ja-JP" altLang="en-US" dirty="0"/>
                        <a:t>、</a:t>
                      </a:r>
                      <a:br>
                        <a:rPr kumimoji="1" lang="en-US" altLang="zh-TW" dirty="0"/>
                      </a:br>
                      <a:r>
                        <a:rPr kumimoji="1" lang="zh-TW" altLang="en-US" dirty="0"/>
                        <a:t>開放性</a:t>
                      </a:r>
                      <a:endParaRPr kumimoji="1" lang="ja-JP" altLang="en-US" dirty="0"/>
                    </a:p>
                  </a:txBody>
                  <a:tcPr>
                    <a:solidFill>
                      <a:srgbClr val="FFE8CB"/>
                    </a:solidFill>
                  </a:tcPr>
                </a:tc>
                <a:extLst>
                  <a:ext uri="{0D108BD9-81ED-4DB2-BD59-A6C34878D82A}">
                    <a16:rowId xmlns:a16="http://schemas.microsoft.com/office/drawing/2014/main" val="2821627599"/>
                  </a:ext>
                </a:extLst>
              </a:tr>
              <a:tr h="640097">
                <a:tc>
                  <a:txBody>
                    <a:bodyPr/>
                    <a:lstStyle/>
                    <a:p>
                      <a:pPr algn="ctr"/>
                      <a:r>
                        <a:rPr kumimoji="1" lang="en-US" altLang="ja-JP" b="1" dirty="0"/>
                        <a:t>PVQ</a:t>
                      </a:r>
                    </a:p>
                    <a:p>
                      <a:pPr algn="ctr"/>
                      <a:r>
                        <a:rPr kumimoji="1" lang="ja-JP" altLang="en-US" b="1" dirty="0"/>
                        <a:t>（価値観）</a:t>
                      </a:r>
                    </a:p>
                  </a:txBody>
                  <a:tcPr>
                    <a:solidFill>
                      <a:srgbClr val="FFF4E7"/>
                    </a:solidFill>
                  </a:tcPr>
                </a:tc>
                <a:tc>
                  <a:txBody>
                    <a:bodyPr/>
                    <a:lstStyle/>
                    <a:p>
                      <a:pPr algn="ctr"/>
                      <a:r>
                        <a:rPr kumimoji="1" lang="en-US" altLang="ja-JP" dirty="0"/>
                        <a:t>57</a:t>
                      </a:r>
                      <a:endParaRPr kumimoji="1" lang="ja-JP" altLang="en-US" dirty="0"/>
                    </a:p>
                  </a:txBody>
                  <a:tcPr>
                    <a:solidFill>
                      <a:srgbClr val="FFF4E7"/>
                    </a:solidFill>
                  </a:tcPr>
                </a:tc>
                <a:tc>
                  <a:txBody>
                    <a:bodyPr/>
                    <a:lstStyle/>
                    <a:p>
                      <a:r>
                        <a:rPr kumimoji="1" lang="ja-JP" altLang="en-US" dirty="0"/>
                        <a:t>普遍主義、博愛、協調、伝統、安全、権力、</a:t>
                      </a:r>
                      <a:br>
                        <a:rPr kumimoji="1" lang="en-US" altLang="ja-JP" dirty="0"/>
                      </a:br>
                      <a:r>
                        <a:rPr kumimoji="1" lang="ja-JP" altLang="en-US" dirty="0"/>
                        <a:t>達成、快楽主義、刺激、自己決定</a:t>
                      </a:r>
                    </a:p>
                  </a:txBody>
                  <a:tcPr>
                    <a:solidFill>
                      <a:srgbClr val="FFF4E7"/>
                    </a:solidFill>
                  </a:tcPr>
                </a:tc>
                <a:extLst>
                  <a:ext uri="{0D108BD9-81ED-4DB2-BD59-A6C34878D82A}">
                    <a16:rowId xmlns:a16="http://schemas.microsoft.com/office/drawing/2014/main" val="3633822594"/>
                  </a:ext>
                </a:extLst>
              </a:tr>
            </a:tbl>
          </a:graphicData>
        </a:graphic>
      </p:graphicFrame>
      <p:sp>
        <p:nvSpPr>
          <p:cNvPr id="4" name="吹き出し: 角を丸めた四角形 3">
            <a:extLst>
              <a:ext uri="{FF2B5EF4-FFF2-40B4-BE49-F238E27FC236}">
                <a16:creationId xmlns:a16="http://schemas.microsoft.com/office/drawing/2014/main" id="{E5FA8EAF-F59F-1B47-728F-719C86E2B13D}"/>
              </a:ext>
            </a:extLst>
          </p:cNvPr>
          <p:cNvSpPr/>
          <p:nvPr/>
        </p:nvSpPr>
        <p:spPr>
          <a:xfrm>
            <a:off x="4840541" y="213387"/>
            <a:ext cx="5089807" cy="2263114"/>
          </a:xfrm>
          <a:prstGeom prst="wedgeRoundRectCallout">
            <a:avLst>
              <a:gd name="adj1" fmla="val 56919"/>
              <a:gd name="adj2" fmla="val 39224"/>
              <a:gd name="adj3" fmla="val 16667"/>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ja-JP" altLang="en-US" sz="2000" dirty="0">
                <a:solidFill>
                  <a:schemeClr val="tx1"/>
                </a:solidFill>
              </a:rPr>
              <a:t>年齢：</a:t>
            </a:r>
            <a:r>
              <a:rPr lang="en-US" altLang="ja-JP" sz="2000" dirty="0">
                <a:solidFill>
                  <a:schemeClr val="tx1"/>
                </a:solidFill>
              </a:rPr>
              <a:t>6</a:t>
            </a:r>
          </a:p>
          <a:p>
            <a:pPr marL="342900" indent="-342900">
              <a:buFont typeface="Arial" panose="020B0604020202020204" pitchFamily="34" charset="0"/>
              <a:buChar char="•"/>
            </a:pPr>
            <a:r>
              <a:rPr lang="ja-JP" altLang="en-US" sz="2000" dirty="0">
                <a:solidFill>
                  <a:schemeClr val="tx1"/>
                </a:solidFill>
              </a:rPr>
              <a:t>エピソード：妹が生まれた。とても嬉しかった。母が入院している間も，寂しさより</a:t>
            </a:r>
            <a:br>
              <a:rPr lang="en-US" altLang="ja-JP" sz="2000" dirty="0">
                <a:solidFill>
                  <a:schemeClr val="tx1"/>
                </a:solidFill>
              </a:rPr>
            </a:br>
            <a:r>
              <a:rPr lang="ja-JP" altLang="en-US" sz="2000" dirty="0">
                <a:solidFill>
                  <a:schemeClr val="tx1"/>
                </a:solidFill>
              </a:rPr>
              <a:t>わくわくする気持ちの方が強かった。</a:t>
            </a:r>
            <a:br>
              <a:rPr lang="en-US" altLang="ja-JP" sz="2000" dirty="0">
                <a:solidFill>
                  <a:schemeClr val="tx1"/>
                </a:solidFill>
              </a:rPr>
            </a:br>
            <a:r>
              <a:rPr lang="ja-JP" altLang="en-US" sz="2000" dirty="0">
                <a:solidFill>
                  <a:schemeClr val="tx1"/>
                </a:solidFill>
              </a:rPr>
              <a:t>父や姉と一緒にどんな名前がいいか考えたのを今でも覚えている。</a:t>
            </a:r>
            <a:endParaRPr lang="en-US" altLang="ja-JP" sz="2000" dirty="0">
              <a:solidFill>
                <a:schemeClr val="tx1"/>
              </a:solidFill>
            </a:endParaRPr>
          </a:p>
          <a:p>
            <a:pPr marL="342900" indent="-342900">
              <a:buFont typeface="Arial" panose="020B0604020202020204" pitchFamily="34" charset="0"/>
              <a:buChar char="•"/>
            </a:pPr>
            <a:r>
              <a:rPr kumimoji="1" lang="ja-JP" altLang="en-US" sz="2000" dirty="0">
                <a:solidFill>
                  <a:schemeClr val="tx1"/>
                </a:solidFill>
              </a:rPr>
              <a:t>幸福度：</a:t>
            </a:r>
            <a:r>
              <a:rPr kumimoji="1" lang="en-US" altLang="ja-JP" sz="2000" dirty="0">
                <a:solidFill>
                  <a:schemeClr val="tx1"/>
                </a:solidFill>
              </a:rPr>
              <a:t>68</a:t>
            </a:r>
            <a:endParaRPr kumimoji="1" lang="ja-JP" altLang="en-US" sz="2000" dirty="0">
              <a:solidFill>
                <a:schemeClr val="tx1"/>
              </a:solidFill>
            </a:endParaRPr>
          </a:p>
        </p:txBody>
      </p:sp>
    </p:spTree>
    <p:extLst>
      <p:ext uri="{BB962C8B-B14F-4D97-AF65-F5344CB8AC3E}">
        <p14:creationId xmlns:p14="http://schemas.microsoft.com/office/powerpoint/2010/main" val="1680323564"/>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FBE3AB-5A24-1F6E-01EF-04B580725F33}"/>
              </a:ext>
            </a:extLst>
          </p:cNvPr>
          <p:cNvSpPr>
            <a:spLocks noGrp="1"/>
          </p:cNvSpPr>
          <p:nvPr>
            <p:ph type="title"/>
          </p:nvPr>
        </p:nvSpPr>
        <p:spPr/>
        <p:txBody>
          <a:bodyPr/>
          <a:lstStyle/>
          <a:p>
            <a:r>
              <a:rPr kumimoji="1" lang="ja-JP" altLang="en-US" dirty="0"/>
              <a:t>分析方法</a:t>
            </a:r>
          </a:p>
        </p:txBody>
      </p:sp>
      <p:sp>
        <p:nvSpPr>
          <p:cNvPr id="3" name="コンテンツ プレースホルダー 2">
            <a:extLst>
              <a:ext uri="{FF2B5EF4-FFF2-40B4-BE49-F238E27FC236}">
                <a16:creationId xmlns:a16="http://schemas.microsoft.com/office/drawing/2014/main" id="{E314DB26-FA72-69CB-D28D-EC3DD0986FB6}"/>
              </a:ext>
            </a:extLst>
          </p:cNvPr>
          <p:cNvSpPr>
            <a:spLocks noGrp="1"/>
          </p:cNvSpPr>
          <p:nvPr>
            <p:ph idx="1"/>
          </p:nvPr>
        </p:nvSpPr>
        <p:spPr>
          <a:xfrm>
            <a:off x="339115" y="1296988"/>
            <a:ext cx="11505696" cy="4938963"/>
          </a:xfrm>
        </p:spPr>
        <p:txBody>
          <a:bodyPr>
            <a:normAutofit/>
          </a:bodyPr>
          <a:lstStyle/>
          <a:p>
            <a:r>
              <a:rPr kumimoji="1" lang="en-US" altLang="ja-JP" sz="3200" dirty="0"/>
              <a:t>LLM</a:t>
            </a:r>
            <a:r>
              <a:rPr kumimoji="1" lang="ja-JP" altLang="en-US" sz="3200" dirty="0"/>
              <a:t>に人生体験</a:t>
            </a:r>
            <a:r>
              <a:rPr lang="ja-JP" altLang="en-US" sz="3200" dirty="0"/>
              <a:t>を含むプロンプトを入力し、回答を収集</a:t>
            </a:r>
            <a:endParaRPr lang="en-US" altLang="ja-JP" sz="2400" dirty="0"/>
          </a:p>
          <a:p>
            <a:pPr lvl="1"/>
            <a:r>
              <a:rPr lang="ja-JP" altLang="en-US" sz="2800" dirty="0"/>
              <a:t>物語形式のような文脈的な連続性による違い</a:t>
            </a:r>
            <a:endParaRPr lang="en-US" altLang="ja-JP" sz="2800" dirty="0"/>
          </a:p>
          <a:p>
            <a:pPr lvl="1"/>
            <a:r>
              <a:rPr lang="ja-JP" altLang="en-US" sz="2800" dirty="0"/>
              <a:t>人生の波の大きさや間隔といった情報が役に立つか</a:t>
            </a:r>
            <a:endParaRPr lang="en-US" altLang="ja-JP" sz="2800" dirty="0"/>
          </a:p>
        </p:txBody>
      </p:sp>
      <p:sp>
        <p:nvSpPr>
          <p:cNvPr id="4" name="コンテンツ プレースホルダー 2">
            <a:extLst>
              <a:ext uri="{FF2B5EF4-FFF2-40B4-BE49-F238E27FC236}">
                <a16:creationId xmlns:a16="http://schemas.microsoft.com/office/drawing/2014/main" id="{0B8A6308-FF84-4D04-BAB1-CC9729463D38}"/>
              </a:ext>
            </a:extLst>
          </p:cNvPr>
          <p:cNvSpPr txBox="1">
            <a:spLocks/>
          </p:cNvSpPr>
          <p:nvPr/>
        </p:nvSpPr>
        <p:spPr>
          <a:xfrm>
            <a:off x="76200" y="6131176"/>
            <a:ext cx="12049125" cy="3934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000" dirty="0"/>
              <a:t>*Liang Qiu, Yizhou Zhao, </a:t>
            </a:r>
            <a:r>
              <a:rPr lang="en-US" altLang="ja-JP" sz="1000" dirty="0" err="1"/>
              <a:t>Jinchao</a:t>
            </a:r>
            <a:r>
              <a:rPr lang="en-US" altLang="ja-JP" sz="1000" dirty="0"/>
              <a:t> Li, Pan Lu, </a:t>
            </a:r>
            <a:r>
              <a:rPr lang="en-US" altLang="ja-JP" sz="1000" dirty="0" err="1"/>
              <a:t>Baolin</a:t>
            </a:r>
            <a:r>
              <a:rPr lang="en-US" altLang="ja-JP" sz="1000" dirty="0"/>
              <a:t> Peng, Jianfeng Gao, and Song </a:t>
            </a:r>
            <a:r>
              <a:rPr lang="en-US" altLang="ja-JP" sz="1000" dirty="0" err="1"/>
              <a:t>ChunZhu</a:t>
            </a:r>
            <a:r>
              <a:rPr lang="en-US" altLang="ja-JP" sz="1000" dirty="0"/>
              <a:t>. </a:t>
            </a:r>
            <a:r>
              <a:rPr lang="en-US" altLang="ja-JP" sz="1000" dirty="0" err="1"/>
              <a:t>Valuenet</a:t>
            </a:r>
            <a:r>
              <a:rPr lang="en-US" altLang="ja-JP" sz="1000" dirty="0"/>
              <a:t>: A new dataset for human value driven dialogue system. Proceedings of the AAAI Conference on Artificial Intelligence, Vol. 36, No. 10, pp. 11183–11191, 2022.21</a:t>
            </a:r>
          </a:p>
        </p:txBody>
      </p:sp>
      <p:graphicFrame>
        <p:nvGraphicFramePr>
          <p:cNvPr id="6" name="表 5">
            <a:extLst>
              <a:ext uri="{FF2B5EF4-FFF2-40B4-BE49-F238E27FC236}">
                <a16:creationId xmlns:a16="http://schemas.microsoft.com/office/drawing/2014/main" id="{5CC28F45-8CE3-7072-EA15-7EEA0D9F8D74}"/>
              </a:ext>
            </a:extLst>
          </p:cNvPr>
          <p:cNvGraphicFramePr>
            <a:graphicFrameLocks noGrp="1"/>
          </p:cNvGraphicFramePr>
          <p:nvPr>
            <p:extLst>
              <p:ext uri="{D42A27DB-BD31-4B8C-83A1-F6EECF244321}">
                <p14:modId xmlns:p14="http://schemas.microsoft.com/office/powerpoint/2010/main" val="2413776836"/>
              </p:ext>
            </p:extLst>
          </p:nvPr>
        </p:nvGraphicFramePr>
        <p:xfrm>
          <a:off x="347914" y="2951747"/>
          <a:ext cx="11505696" cy="1624641"/>
        </p:xfrm>
        <a:graphic>
          <a:graphicData uri="http://schemas.openxmlformats.org/drawingml/2006/table">
            <a:tbl>
              <a:tblPr firstRow="1" bandRow="1">
                <a:tableStyleId>{21E4AEA4-8DFA-4A89-87EB-49C32662AFE0}</a:tableStyleId>
              </a:tblPr>
              <a:tblGrid>
                <a:gridCol w="1882698">
                  <a:extLst>
                    <a:ext uri="{9D8B030D-6E8A-4147-A177-3AD203B41FA5}">
                      <a16:colId xmlns:a16="http://schemas.microsoft.com/office/drawing/2014/main" val="3626575733"/>
                    </a:ext>
                  </a:extLst>
                </a:gridCol>
                <a:gridCol w="7706440">
                  <a:extLst>
                    <a:ext uri="{9D8B030D-6E8A-4147-A177-3AD203B41FA5}">
                      <a16:colId xmlns:a16="http://schemas.microsoft.com/office/drawing/2014/main" val="2639265103"/>
                    </a:ext>
                  </a:extLst>
                </a:gridCol>
                <a:gridCol w="1916558">
                  <a:extLst>
                    <a:ext uri="{9D8B030D-6E8A-4147-A177-3AD203B41FA5}">
                      <a16:colId xmlns:a16="http://schemas.microsoft.com/office/drawing/2014/main" val="3981756571"/>
                    </a:ext>
                  </a:extLst>
                </a:gridCol>
              </a:tblGrid>
              <a:tr h="404852">
                <a:tc gridSpan="3">
                  <a:txBody>
                    <a:bodyPr/>
                    <a:lstStyle/>
                    <a:p>
                      <a:pPr algn="ctr"/>
                      <a:r>
                        <a:rPr kumimoji="1" lang="ja-JP" altLang="en-US" dirty="0">
                          <a:solidFill>
                            <a:schemeClr val="tx1"/>
                          </a:solidFill>
                        </a:rPr>
                        <a:t>人生体験の形式</a:t>
                      </a:r>
                    </a:p>
                  </a:txBody>
                  <a:tcPr>
                    <a:solidFill>
                      <a:schemeClr val="accent2">
                        <a:lumMod val="60000"/>
                        <a:lumOff val="40000"/>
                      </a:schemeClr>
                    </a:solidFill>
                  </a:tcPr>
                </a:tc>
                <a:tc hMerge="1">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2578080118"/>
                  </a:ext>
                </a:extLst>
              </a:tr>
              <a:tr h="573916">
                <a:tc>
                  <a:txBody>
                    <a:bodyPr/>
                    <a:lstStyle/>
                    <a:p>
                      <a:pPr algn="ctr"/>
                      <a:r>
                        <a:rPr kumimoji="1" lang="en-US" altLang="ja-JP" b="1" dirty="0"/>
                        <a:t>JSON</a:t>
                      </a:r>
                      <a:r>
                        <a:rPr kumimoji="1" lang="ja-JP" altLang="en-US" b="1" dirty="0"/>
                        <a:t>形式</a:t>
                      </a:r>
                    </a:p>
                  </a:txBody>
                  <a:tcPr>
                    <a:solidFill>
                      <a:srgbClr val="FFE8CB"/>
                    </a:solidFill>
                  </a:tcPr>
                </a:tc>
                <a:tc>
                  <a:txBody>
                    <a:bodyPr/>
                    <a:lstStyle/>
                    <a:p>
                      <a:pPr algn="ctr"/>
                      <a:r>
                        <a:rPr kumimoji="1" lang="ja-JP" altLang="en-US" dirty="0"/>
                        <a:t>年齢、エピソード、幸福度の値を辞書リストで構造化</a:t>
                      </a:r>
                    </a:p>
                  </a:txBody>
                  <a:tcPr>
                    <a:solidFill>
                      <a:srgbClr val="FFE8CB"/>
                    </a:solidFill>
                  </a:tcPr>
                </a:tc>
                <a:tc rowSpan="2">
                  <a:txBody>
                    <a:bodyPr/>
                    <a:lstStyle/>
                    <a:p>
                      <a:pPr algn="ctr"/>
                      <a:r>
                        <a:rPr kumimoji="1" lang="ja-JP" altLang="en-US" dirty="0"/>
                        <a:t>グラフ画像</a:t>
                      </a:r>
                      <a:endParaRPr kumimoji="1" lang="en-US" altLang="ja-JP" dirty="0"/>
                    </a:p>
                    <a:p>
                      <a:pPr algn="ctr"/>
                      <a:r>
                        <a:rPr kumimoji="1" lang="ja-JP" altLang="en-US" dirty="0"/>
                        <a:t>あり</a:t>
                      </a:r>
                      <a:r>
                        <a:rPr kumimoji="1" lang="en-US" altLang="ja-JP" dirty="0"/>
                        <a:t>/</a:t>
                      </a:r>
                      <a:r>
                        <a:rPr kumimoji="1" lang="ja-JP" altLang="en-US" dirty="0"/>
                        <a:t>なし</a:t>
                      </a:r>
                    </a:p>
                  </a:txBody>
                  <a:tcPr>
                    <a:solidFill>
                      <a:srgbClr val="FFE8CB"/>
                    </a:solidFill>
                  </a:tcPr>
                </a:tc>
                <a:extLst>
                  <a:ext uri="{0D108BD9-81ED-4DB2-BD59-A6C34878D82A}">
                    <a16:rowId xmlns:a16="http://schemas.microsoft.com/office/drawing/2014/main" val="3652509353"/>
                  </a:ext>
                </a:extLst>
              </a:tr>
              <a:tr h="645873">
                <a:tc>
                  <a:txBody>
                    <a:bodyPr/>
                    <a:lstStyle/>
                    <a:p>
                      <a:pPr algn="ctr"/>
                      <a:r>
                        <a:rPr kumimoji="1" lang="en-US" altLang="ja-JP" b="1" dirty="0"/>
                        <a:t>Story</a:t>
                      </a:r>
                      <a:r>
                        <a:rPr kumimoji="1" lang="ja-JP" altLang="en-US" b="1" dirty="0"/>
                        <a:t>形式</a:t>
                      </a:r>
                    </a:p>
                  </a:txBody>
                  <a:tcPr>
                    <a:solidFill>
                      <a:srgbClr val="FFF4E7"/>
                    </a:solidFill>
                  </a:tcPr>
                </a:tc>
                <a:tc>
                  <a:txBody>
                    <a:bodyPr/>
                    <a:lstStyle/>
                    <a:p>
                      <a:pPr algn="ctr"/>
                      <a:r>
                        <a:rPr kumimoji="1" lang="ja-JP" altLang="en-US" dirty="0"/>
                        <a:t>ルールベースで作成した物語</a:t>
                      </a:r>
                      <a:endParaRPr kumimoji="1" lang="en-US" altLang="ja-JP" dirty="0"/>
                    </a:p>
                    <a:p>
                      <a:pPr algn="ctr"/>
                      <a:r>
                        <a:rPr kumimoji="1" lang="en-US" altLang="ja-JP" dirty="0"/>
                        <a:t>[</a:t>
                      </a:r>
                      <a:r>
                        <a:rPr kumimoji="1" lang="ja-JP" altLang="en-US" dirty="0"/>
                        <a:t>年齢</a:t>
                      </a:r>
                      <a:r>
                        <a:rPr kumimoji="1" lang="en-US" altLang="ja-JP" dirty="0"/>
                        <a:t>]</a:t>
                      </a:r>
                      <a:r>
                        <a:rPr kumimoji="1" lang="ja-JP" altLang="en-US" dirty="0"/>
                        <a:t>のとき、</a:t>
                      </a:r>
                      <a:r>
                        <a:rPr kumimoji="1" lang="en-US" altLang="ja-JP" dirty="0"/>
                        <a:t>[</a:t>
                      </a:r>
                      <a:r>
                        <a:rPr kumimoji="1" lang="ja-JP" altLang="en-US" dirty="0"/>
                        <a:t>エピソード</a:t>
                      </a:r>
                      <a:r>
                        <a:rPr kumimoji="1" lang="en-US" altLang="ja-JP" dirty="0"/>
                        <a:t>]</a:t>
                      </a:r>
                      <a:r>
                        <a:rPr kumimoji="1" lang="ja-JP" altLang="en-US" dirty="0"/>
                        <a:t>。</a:t>
                      </a:r>
                      <a:r>
                        <a:rPr kumimoji="1" lang="en-US" altLang="ja-JP" dirty="0"/>
                        <a:t>(</a:t>
                      </a:r>
                      <a:r>
                        <a:rPr kumimoji="1" lang="ja-JP" altLang="en-US" dirty="0"/>
                        <a:t>その時の幸福度</a:t>
                      </a:r>
                      <a:r>
                        <a:rPr kumimoji="1" lang="en-US" altLang="ja-JP" dirty="0"/>
                        <a:t>:[</a:t>
                      </a:r>
                      <a:r>
                        <a:rPr kumimoji="1" lang="ja-JP" altLang="en-US" dirty="0"/>
                        <a:t>幸福度の値</a:t>
                      </a:r>
                      <a:r>
                        <a:rPr kumimoji="1" lang="en-US" altLang="ja-JP" dirty="0"/>
                        <a:t>])</a:t>
                      </a:r>
                    </a:p>
                  </a:txBody>
                  <a:tcPr>
                    <a:solidFill>
                      <a:srgbClr val="FFF4E7"/>
                    </a:solidFill>
                  </a:tcPr>
                </a:tc>
                <a:tc vMerge="1">
                  <a:txBody>
                    <a:bodyPr/>
                    <a:lstStyle/>
                    <a:p>
                      <a:endParaRPr kumimoji="1" lang="ja-JP" altLang="en-US" dirty="0"/>
                    </a:p>
                  </a:txBody>
                  <a:tcPr/>
                </a:tc>
                <a:extLst>
                  <a:ext uri="{0D108BD9-81ED-4DB2-BD59-A6C34878D82A}">
                    <a16:rowId xmlns:a16="http://schemas.microsoft.com/office/drawing/2014/main" val="1150580984"/>
                  </a:ext>
                </a:extLst>
              </a:tr>
            </a:tbl>
          </a:graphicData>
        </a:graphic>
      </p:graphicFrame>
      <p:graphicFrame>
        <p:nvGraphicFramePr>
          <p:cNvPr id="7" name="表 6">
            <a:extLst>
              <a:ext uri="{FF2B5EF4-FFF2-40B4-BE49-F238E27FC236}">
                <a16:creationId xmlns:a16="http://schemas.microsoft.com/office/drawing/2014/main" id="{76CE40DE-F38F-3532-C042-C038ED05399B}"/>
              </a:ext>
            </a:extLst>
          </p:cNvPr>
          <p:cNvGraphicFramePr>
            <a:graphicFrameLocks noGrp="1"/>
          </p:cNvGraphicFramePr>
          <p:nvPr>
            <p:extLst>
              <p:ext uri="{D42A27DB-BD31-4B8C-83A1-F6EECF244321}">
                <p14:modId xmlns:p14="http://schemas.microsoft.com/office/powerpoint/2010/main" val="2937496555"/>
              </p:ext>
            </p:extLst>
          </p:nvPr>
        </p:nvGraphicFramePr>
        <p:xfrm>
          <a:off x="1054656" y="4805142"/>
          <a:ext cx="10092211" cy="1097280"/>
        </p:xfrm>
        <a:graphic>
          <a:graphicData uri="http://schemas.openxmlformats.org/drawingml/2006/table">
            <a:tbl>
              <a:tblPr firstRow="1" bandRow="1">
                <a:tableStyleId>{21E4AEA4-8DFA-4A89-87EB-49C32662AFE0}</a:tableStyleId>
              </a:tblPr>
              <a:tblGrid>
                <a:gridCol w="3810000">
                  <a:extLst>
                    <a:ext uri="{9D8B030D-6E8A-4147-A177-3AD203B41FA5}">
                      <a16:colId xmlns:a16="http://schemas.microsoft.com/office/drawing/2014/main" val="2639265103"/>
                    </a:ext>
                  </a:extLst>
                </a:gridCol>
                <a:gridCol w="6282211">
                  <a:extLst>
                    <a:ext uri="{9D8B030D-6E8A-4147-A177-3AD203B41FA5}">
                      <a16:colId xmlns:a16="http://schemas.microsoft.com/office/drawing/2014/main" val="3981756571"/>
                    </a:ext>
                  </a:extLst>
                </a:gridCol>
              </a:tblGrid>
              <a:tr h="350686">
                <a:tc gridSpan="2">
                  <a:txBody>
                    <a:bodyPr/>
                    <a:lstStyle/>
                    <a:p>
                      <a:pPr algn="ctr"/>
                      <a:r>
                        <a:rPr kumimoji="1" lang="ja-JP" altLang="en-US" dirty="0">
                          <a:solidFill>
                            <a:schemeClr val="tx1"/>
                          </a:solidFill>
                        </a:rPr>
                        <a:t>回答させるテスト</a:t>
                      </a:r>
                    </a:p>
                  </a:txBody>
                  <a:tcPr>
                    <a:solidFill>
                      <a:schemeClr val="accent2">
                        <a:lumMod val="60000"/>
                        <a:lumOff val="40000"/>
                      </a:schemeClr>
                    </a:solidFill>
                  </a:tcPr>
                </a:tc>
                <a:tc hMerge="1">
                  <a:txBody>
                    <a:bodyPr/>
                    <a:lstStyle/>
                    <a:p>
                      <a:endParaRPr kumimoji="1" lang="ja-JP" altLang="en-US" dirty="0"/>
                    </a:p>
                  </a:txBody>
                  <a:tcPr/>
                </a:tc>
                <a:extLst>
                  <a:ext uri="{0D108BD9-81ED-4DB2-BD59-A6C34878D82A}">
                    <a16:rowId xmlns:a16="http://schemas.microsoft.com/office/drawing/2014/main" val="2578080118"/>
                  </a:ext>
                </a:extLst>
              </a:tr>
              <a:tr h="350686">
                <a:tc>
                  <a:txBody>
                    <a:bodyPr/>
                    <a:lstStyle/>
                    <a:p>
                      <a:pPr algn="ctr"/>
                      <a:r>
                        <a:rPr kumimoji="1" lang="en-US" altLang="ja-JP" b="1" dirty="0"/>
                        <a:t>TIPI-J</a:t>
                      </a:r>
                      <a:r>
                        <a:rPr kumimoji="1" lang="ja-JP" altLang="en-US" b="1" dirty="0"/>
                        <a:t>テスト</a:t>
                      </a:r>
                    </a:p>
                  </a:txBody>
                  <a:tcPr>
                    <a:solidFill>
                      <a:srgbClr val="FFE8CB"/>
                    </a:solidFill>
                  </a:tcPr>
                </a:tc>
                <a:tc rowSpan="2">
                  <a:txBody>
                    <a:bodyPr/>
                    <a:lstStyle/>
                    <a:p>
                      <a:pPr algn="ctr"/>
                      <a:r>
                        <a:rPr kumimoji="1" lang="ja-JP" altLang="en-US" dirty="0"/>
                        <a:t>参加者が回答したものと同じ</a:t>
                      </a:r>
                    </a:p>
                  </a:txBody>
                  <a:tcPr>
                    <a:solidFill>
                      <a:srgbClr val="FFE8CB"/>
                    </a:solidFill>
                  </a:tcPr>
                </a:tc>
                <a:extLst>
                  <a:ext uri="{0D108BD9-81ED-4DB2-BD59-A6C34878D82A}">
                    <a16:rowId xmlns:a16="http://schemas.microsoft.com/office/drawing/2014/main" val="3652509353"/>
                  </a:ext>
                </a:extLst>
              </a:tr>
              <a:tr h="350686">
                <a:tc>
                  <a:txBody>
                    <a:bodyPr/>
                    <a:lstStyle/>
                    <a:p>
                      <a:pPr algn="ctr"/>
                      <a:r>
                        <a:rPr kumimoji="1" lang="en-US" altLang="ja-JP" b="1" dirty="0"/>
                        <a:t>PVQ</a:t>
                      </a:r>
                      <a:r>
                        <a:rPr kumimoji="1" lang="ja-JP" altLang="en-US" b="1" dirty="0"/>
                        <a:t>テスト</a:t>
                      </a:r>
                      <a:endParaRPr kumimoji="1" lang="en-US" altLang="ja-JP" b="1" dirty="0"/>
                    </a:p>
                  </a:txBody>
                  <a:tcPr>
                    <a:solidFill>
                      <a:srgbClr val="FFF4E7"/>
                    </a:solidFill>
                  </a:tcPr>
                </a:tc>
                <a:tc vMerge="1">
                  <a:txBody>
                    <a:bodyPr/>
                    <a:lstStyle/>
                    <a:p>
                      <a:endParaRPr kumimoji="1" lang="ja-JP" altLang="en-US" dirty="0"/>
                    </a:p>
                  </a:txBody>
                  <a:tcPr/>
                </a:tc>
                <a:extLst>
                  <a:ext uri="{0D108BD9-81ED-4DB2-BD59-A6C34878D82A}">
                    <a16:rowId xmlns:a16="http://schemas.microsoft.com/office/drawing/2014/main" val="1150580984"/>
                  </a:ext>
                </a:extLst>
              </a:tr>
            </a:tbl>
          </a:graphicData>
        </a:graphic>
      </p:graphicFrame>
    </p:spTree>
    <p:extLst>
      <p:ext uri="{BB962C8B-B14F-4D97-AF65-F5344CB8AC3E}">
        <p14:creationId xmlns:p14="http://schemas.microsoft.com/office/powerpoint/2010/main" val="2257622917"/>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B1A26-1202-FFE1-2EDC-0100A0B0A0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8B41DD-1F1E-7034-6D57-F41FC773F072}"/>
              </a:ext>
            </a:extLst>
          </p:cNvPr>
          <p:cNvSpPr>
            <a:spLocks noGrp="1"/>
          </p:cNvSpPr>
          <p:nvPr>
            <p:ph type="title"/>
          </p:nvPr>
        </p:nvSpPr>
        <p:spPr/>
        <p:txBody>
          <a:bodyPr/>
          <a:lstStyle/>
          <a:p>
            <a:r>
              <a:rPr kumimoji="1" lang="ja-JP" altLang="en-US" dirty="0"/>
              <a:t>分析方法</a:t>
            </a:r>
          </a:p>
        </p:txBody>
      </p:sp>
      <p:sp>
        <p:nvSpPr>
          <p:cNvPr id="3" name="コンテンツ プレースホルダー 2">
            <a:extLst>
              <a:ext uri="{FF2B5EF4-FFF2-40B4-BE49-F238E27FC236}">
                <a16:creationId xmlns:a16="http://schemas.microsoft.com/office/drawing/2014/main" id="{9A53615A-327A-9AE3-0742-89160FDD6D1E}"/>
              </a:ext>
            </a:extLst>
          </p:cNvPr>
          <p:cNvSpPr>
            <a:spLocks noGrp="1"/>
          </p:cNvSpPr>
          <p:nvPr>
            <p:ph idx="1"/>
          </p:nvPr>
        </p:nvSpPr>
        <p:spPr>
          <a:xfrm>
            <a:off x="339115" y="1296988"/>
            <a:ext cx="11505696" cy="4938963"/>
          </a:xfrm>
        </p:spPr>
        <p:txBody>
          <a:bodyPr>
            <a:normAutofit/>
          </a:bodyPr>
          <a:lstStyle/>
          <a:p>
            <a:pPr>
              <a:lnSpc>
                <a:spcPct val="100000"/>
              </a:lnSpc>
            </a:pPr>
            <a:r>
              <a:rPr lang="en-US" altLang="ja-JP" sz="3200" dirty="0"/>
              <a:t>LLM</a:t>
            </a:r>
            <a:r>
              <a:rPr lang="ja-JP" altLang="en-US" sz="3200" dirty="0"/>
              <a:t>と参加者の性格特性および価値観傾向の一致度を</a:t>
            </a:r>
            <a:br>
              <a:rPr lang="en-US" altLang="ja-JP" sz="3200" dirty="0"/>
            </a:br>
            <a:r>
              <a:rPr lang="ja-JP" altLang="en-US" sz="3200" dirty="0"/>
              <a:t>スピアマンの順位相関係数を用いて分析</a:t>
            </a:r>
            <a:endParaRPr lang="en-US" altLang="ja-JP" sz="3200" dirty="0"/>
          </a:p>
          <a:p>
            <a:pPr lvl="1">
              <a:lnSpc>
                <a:spcPct val="100000"/>
              </a:lnSpc>
            </a:pPr>
            <a:r>
              <a:rPr lang="en-US" altLang="ja-JP" sz="2800" dirty="0"/>
              <a:t>LLM</a:t>
            </a:r>
            <a:r>
              <a:rPr lang="ja-JP" altLang="en-US" sz="2800" dirty="0"/>
              <a:t>の回答は</a:t>
            </a:r>
            <a:r>
              <a:rPr lang="en-US" altLang="ja-JP" sz="2800" dirty="0"/>
              <a:t>3</a:t>
            </a:r>
            <a:r>
              <a:rPr lang="ja-JP" altLang="en-US" sz="2800" dirty="0"/>
              <a:t>回の結果を平均</a:t>
            </a:r>
            <a:endParaRPr lang="en-US" altLang="ja-JP" sz="2800" dirty="0"/>
          </a:p>
          <a:p>
            <a:pPr lvl="1">
              <a:lnSpc>
                <a:spcPct val="100000"/>
              </a:lnSpc>
            </a:pPr>
            <a:r>
              <a:rPr lang="en-US" altLang="ja-JP" sz="2800" dirty="0"/>
              <a:t>gemini-2.5-pro</a:t>
            </a:r>
            <a:r>
              <a:rPr lang="ja-JP" altLang="en-US" sz="2800" dirty="0"/>
              <a:t>を使用</a:t>
            </a:r>
            <a:endParaRPr lang="en-US" altLang="ja-JP" sz="2800" dirty="0"/>
          </a:p>
          <a:p>
            <a:pPr lvl="1">
              <a:lnSpc>
                <a:spcPct val="100000"/>
              </a:lnSpc>
            </a:pPr>
            <a:endParaRPr lang="en-US" altLang="ja-JP" sz="2800" dirty="0"/>
          </a:p>
          <a:p>
            <a:pPr>
              <a:lnSpc>
                <a:spcPct val="100000"/>
              </a:lnSpc>
            </a:pPr>
            <a:r>
              <a:rPr lang="ja-JP" altLang="en-US" sz="3200" dirty="0"/>
              <a:t>各性格特性ごと、各価値観ごとに平均絶対誤差を算出し、</a:t>
            </a:r>
            <a:br>
              <a:rPr lang="en-US" altLang="ja-JP" sz="3200" dirty="0"/>
            </a:br>
            <a:r>
              <a:rPr lang="ja-JP" altLang="en-US" sz="3200" dirty="0"/>
              <a:t>捉えやすさの違いを分析</a:t>
            </a:r>
            <a:endParaRPr lang="en-US" altLang="ja-JP" sz="3200" dirty="0"/>
          </a:p>
        </p:txBody>
      </p:sp>
    </p:spTree>
    <p:extLst>
      <p:ext uri="{BB962C8B-B14F-4D97-AF65-F5344CB8AC3E}">
        <p14:creationId xmlns:p14="http://schemas.microsoft.com/office/powerpoint/2010/main" val="405808995"/>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4CA3DA-E633-52B7-2963-4F5BB127659F}"/>
              </a:ext>
            </a:extLst>
          </p:cNvPr>
          <p:cNvSpPr>
            <a:spLocks noGrp="1"/>
          </p:cNvSpPr>
          <p:nvPr>
            <p:ph type="title"/>
          </p:nvPr>
        </p:nvSpPr>
        <p:spPr/>
        <p:txBody>
          <a:bodyPr/>
          <a:lstStyle/>
          <a:p>
            <a:r>
              <a:rPr lang="ja-JP" altLang="en-US" dirty="0"/>
              <a:t>結果：参加者との一致度</a:t>
            </a:r>
            <a:endParaRPr kumimoji="1" lang="ja-JP" altLang="en-US" dirty="0"/>
          </a:p>
        </p:txBody>
      </p:sp>
      <p:sp>
        <p:nvSpPr>
          <p:cNvPr id="3" name="コンテンツ プレースホルダー 2">
            <a:extLst>
              <a:ext uri="{FF2B5EF4-FFF2-40B4-BE49-F238E27FC236}">
                <a16:creationId xmlns:a16="http://schemas.microsoft.com/office/drawing/2014/main" id="{7023166D-55C6-7226-8851-7AE2233FE079}"/>
              </a:ext>
            </a:extLst>
          </p:cNvPr>
          <p:cNvSpPr>
            <a:spLocks noGrp="1"/>
          </p:cNvSpPr>
          <p:nvPr>
            <p:ph idx="1"/>
          </p:nvPr>
        </p:nvSpPr>
        <p:spPr>
          <a:xfrm>
            <a:off x="339115" y="1296988"/>
            <a:ext cx="11505696" cy="2855911"/>
          </a:xfrm>
        </p:spPr>
        <p:txBody>
          <a:bodyPr>
            <a:normAutofit lnSpcReduction="10000"/>
          </a:bodyPr>
          <a:lstStyle/>
          <a:p>
            <a:pPr>
              <a:lnSpc>
                <a:spcPct val="110000"/>
              </a:lnSpc>
              <a:buClr>
                <a:schemeClr val="tx1"/>
              </a:buClr>
            </a:pPr>
            <a:r>
              <a:rPr lang="ja-JP" altLang="en-US" dirty="0"/>
              <a:t>参加者の人生体験を与えることで性格や価値観を</a:t>
            </a:r>
            <a:br>
              <a:rPr lang="en-US" altLang="ja-JP" dirty="0"/>
            </a:br>
            <a:r>
              <a:rPr lang="ja-JP" altLang="en-US" dirty="0"/>
              <a:t>模倣できる</a:t>
            </a:r>
            <a:endParaRPr lang="en-US" altLang="ja-JP" dirty="0"/>
          </a:p>
          <a:p>
            <a:pPr lvl="1">
              <a:lnSpc>
                <a:spcPct val="110000"/>
              </a:lnSpc>
            </a:pPr>
            <a:r>
              <a:rPr lang="ja-JP" altLang="en-US" dirty="0"/>
              <a:t>相関が約</a:t>
            </a:r>
            <a:r>
              <a:rPr lang="en-US" altLang="ja-JP" dirty="0"/>
              <a:t>0.7(</a:t>
            </a:r>
            <a:r>
              <a:rPr lang="ja-JP" altLang="en-US" dirty="0"/>
              <a:t>強い正の相関</a:t>
            </a:r>
            <a:r>
              <a:rPr lang="en-US" altLang="ja-JP" dirty="0"/>
              <a:t>)</a:t>
            </a:r>
          </a:p>
          <a:p>
            <a:pPr>
              <a:lnSpc>
                <a:spcPct val="110000"/>
              </a:lnSpc>
            </a:pPr>
            <a:r>
              <a:rPr lang="en-US" altLang="ja-JP" dirty="0"/>
              <a:t>JSON</a:t>
            </a:r>
            <a:r>
              <a:rPr lang="ja-JP" altLang="en-US" dirty="0"/>
              <a:t>形式よりも</a:t>
            </a:r>
            <a:r>
              <a:rPr lang="en-US" altLang="ja-JP" dirty="0"/>
              <a:t>Story</a:t>
            </a:r>
            <a:r>
              <a:rPr lang="ja-JP" altLang="en-US" dirty="0"/>
              <a:t>形式の方がより相関が大きい</a:t>
            </a:r>
            <a:endParaRPr lang="en-US" altLang="ja-JP" dirty="0"/>
          </a:p>
          <a:p>
            <a:pPr lvl="2">
              <a:lnSpc>
                <a:spcPct val="110000"/>
              </a:lnSpc>
            </a:pPr>
            <a:endParaRPr kumimoji="1" lang="en-US" altLang="ja-JP" dirty="0"/>
          </a:p>
        </p:txBody>
      </p:sp>
      <p:graphicFrame>
        <p:nvGraphicFramePr>
          <p:cNvPr id="4" name="コンテンツ プレースホルダー 3">
            <a:extLst>
              <a:ext uri="{FF2B5EF4-FFF2-40B4-BE49-F238E27FC236}">
                <a16:creationId xmlns:a16="http://schemas.microsoft.com/office/drawing/2014/main" id="{E1586F83-0CAD-D086-C75E-4B2F7DEDDB46}"/>
              </a:ext>
            </a:extLst>
          </p:cNvPr>
          <p:cNvGraphicFramePr>
            <a:graphicFrameLocks/>
          </p:cNvGraphicFramePr>
          <p:nvPr>
            <p:extLst>
              <p:ext uri="{D42A27DB-BD31-4B8C-83A1-F6EECF244321}">
                <p14:modId xmlns:p14="http://schemas.microsoft.com/office/powerpoint/2010/main" val="2549632064"/>
              </p:ext>
            </p:extLst>
          </p:nvPr>
        </p:nvGraphicFramePr>
        <p:xfrm>
          <a:off x="1181191" y="4152900"/>
          <a:ext cx="9821544" cy="2085979"/>
        </p:xfrm>
        <a:graphic>
          <a:graphicData uri="http://schemas.openxmlformats.org/drawingml/2006/table">
            <a:tbl>
              <a:tblPr firstRow="1" bandRow="1">
                <a:tableStyleId>{21E4AEA4-8DFA-4A89-87EB-49C32662AFE0}</a:tableStyleId>
              </a:tblPr>
              <a:tblGrid>
                <a:gridCol w="2455386">
                  <a:extLst>
                    <a:ext uri="{9D8B030D-6E8A-4147-A177-3AD203B41FA5}">
                      <a16:colId xmlns:a16="http://schemas.microsoft.com/office/drawing/2014/main" val="933453337"/>
                    </a:ext>
                  </a:extLst>
                </a:gridCol>
                <a:gridCol w="2455386">
                  <a:extLst>
                    <a:ext uri="{9D8B030D-6E8A-4147-A177-3AD203B41FA5}">
                      <a16:colId xmlns:a16="http://schemas.microsoft.com/office/drawing/2014/main" val="1245832638"/>
                    </a:ext>
                  </a:extLst>
                </a:gridCol>
                <a:gridCol w="2455386">
                  <a:extLst>
                    <a:ext uri="{9D8B030D-6E8A-4147-A177-3AD203B41FA5}">
                      <a16:colId xmlns:a16="http://schemas.microsoft.com/office/drawing/2014/main" val="3206862676"/>
                    </a:ext>
                  </a:extLst>
                </a:gridCol>
                <a:gridCol w="2455386">
                  <a:extLst>
                    <a:ext uri="{9D8B030D-6E8A-4147-A177-3AD203B41FA5}">
                      <a16:colId xmlns:a16="http://schemas.microsoft.com/office/drawing/2014/main" val="2312836516"/>
                    </a:ext>
                  </a:extLst>
                </a:gridCol>
              </a:tblGrid>
              <a:tr h="418342">
                <a:tc>
                  <a:txBody>
                    <a:bodyPr/>
                    <a:lstStyle/>
                    <a:p>
                      <a:pPr algn="ctr"/>
                      <a:endParaRPr kumimoji="1" lang="ja-JP" altLang="en-US" sz="2000" dirty="0"/>
                    </a:p>
                  </a:txBody>
                  <a:tcPr>
                    <a:solidFill>
                      <a:schemeClr val="accent2">
                        <a:lumMod val="60000"/>
                        <a:lumOff val="40000"/>
                      </a:schemeClr>
                    </a:solidFill>
                  </a:tcPr>
                </a:tc>
                <a:tc>
                  <a:txBody>
                    <a:bodyPr/>
                    <a:lstStyle/>
                    <a:p>
                      <a:pPr algn="ctr"/>
                      <a:r>
                        <a:rPr kumimoji="1" lang="ja-JP" altLang="en-US" sz="2000" dirty="0">
                          <a:solidFill>
                            <a:schemeClr val="tx1"/>
                          </a:solidFill>
                        </a:rPr>
                        <a:t>人生体験の形式</a:t>
                      </a:r>
                    </a:p>
                  </a:txBody>
                  <a:tcPr>
                    <a:solidFill>
                      <a:schemeClr val="accent2">
                        <a:lumMod val="60000"/>
                        <a:lumOff val="40000"/>
                      </a:schemeClr>
                    </a:solidFill>
                  </a:tcPr>
                </a:tc>
                <a:tc>
                  <a:txBody>
                    <a:bodyPr/>
                    <a:lstStyle/>
                    <a:p>
                      <a:pPr algn="ctr"/>
                      <a:r>
                        <a:rPr kumimoji="1" lang="en-US" altLang="ja-JP" sz="2000" dirty="0">
                          <a:solidFill>
                            <a:schemeClr val="tx1"/>
                          </a:solidFill>
                        </a:rPr>
                        <a:t>TIPI-J</a:t>
                      </a:r>
                      <a:endParaRPr kumimoji="1" lang="ja-JP" altLang="en-US" sz="2000" dirty="0">
                        <a:solidFill>
                          <a:schemeClr val="tx1"/>
                        </a:solidFill>
                      </a:endParaRPr>
                    </a:p>
                  </a:txBody>
                  <a:tcPr>
                    <a:solidFill>
                      <a:schemeClr val="accent2">
                        <a:lumMod val="60000"/>
                        <a:lumOff val="40000"/>
                      </a:schemeClr>
                    </a:solidFill>
                  </a:tcPr>
                </a:tc>
                <a:tc>
                  <a:txBody>
                    <a:bodyPr/>
                    <a:lstStyle/>
                    <a:p>
                      <a:pPr algn="ctr"/>
                      <a:r>
                        <a:rPr kumimoji="1" lang="en-US" altLang="ja-JP" sz="2000" dirty="0">
                          <a:solidFill>
                            <a:schemeClr val="tx1"/>
                          </a:solidFill>
                        </a:rPr>
                        <a:t>PVQ</a:t>
                      </a:r>
                      <a:endParaRPr kumimoji="1" lang="ja-JP" altLang="en-US" sz="2000"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3098958215"/>
                  </a:ext>
                </a:extLst>
              </a:tr>
              <a:tr h="418342">
                <a:tc rowSpan="2">
                  <a:txBody>
                    <a:bodyPr/>
                    <a:lstStyle/>
                    <a:p>
                      <a:pPr algn="ctr"/>
                      <a:r>
                        <a:rPr kumimoji="1" lang="ja-JP" altLang="en-US" sz="2000" dirty="0"/>
                        <a:t>グラフ画像なし</a:t>
                      </a:r>
                    </a:p>
                  </a:txBody>
                  <a:tcPr>
                    <a:solidFill>
                      <a:srgbClr val="FFE8CB"/>
                    </a:solidFill>
                  </a:tcPr>
                </a:tc>
                <a:tc>
                  <a:txBody>
                    <a:bodyPr/>
                    <a:lstStyle/>
                    <a:p>
                      <a:pPr algn="ctr"/>
                      <a:r>
                        <a:rPr kumimoji="1" lang="en-US" altLang="ja-JP" sz="2000" dirty="0"/>
                        <a:t>JSON</a:t>
                      </a:r>
                      <a:r>
                        <a:rPr kumimoji="1" lang="ja-JP" altLang="en-US" sz="2000" dirty="0"/>
                        <a:t>形式</a:t>
                      </a:r>
                    </a:p>
                  </a:txBody>
                  <a:tcPr>
                    <a:solidFill>
                      <a:srgbClr val="FFE8CB"/>
                    </a:solidFill>
                  </a:tcPr>
                </a:tc>
                <a:tc>
                  <a:txBody>
                    <a:bodyPr/>
                    <a:lstStyle/>
                    <a:p>
                      <a:pPr algn="ctr"/>
                      <a:r>
                        <a:rPr kumimoji="1" lang="en-US" altLang="ja-JP" sz="2000" dirty="0"/>
                        <a:t>0.4803</a:t>
                      </a:r>
                      <a:endParaRPr kumimoji="1" lang="ja-JP" altLang="en-US" sz="2000" dirty="0"/>
                    </a:p>
                  </a:txBody>
                  <a:tcPr>
                    <a:solidFill>
                      <a:srgbClr val="FFE8CB"/>
                    </a:solidFill>
                  </a:tcPr>
                </a:tc>
                <a:tc>
                  <a:txBody>
                    <a:bodyPr/>
                    <a:lstStyle/>
                    <a:p>
                      <a:pPr algn="ctr"/>
                      <a:r>
                        <a:rPr kumimoji="1" lang="en-US" altLang="ja-JP" sz="2000" dirty="0"/>
                        <a:t>0.5834</a:t>
                      </a:r>
                      <a:endParaRPr kumimoji="1" lang="ja-JP" altLang="en-US" sz="2000" dirty="0"/>
                    </a:p>
                  </a:txBody>
                  <a:tcPr>
                    <a:solidFill>
                      <a:srgbClr val="FFE8CB"/>
                    </a:solidFill>
                  </a:tcPr>
                </a:tc>
                <a:extLst>
                  <a:ext uri="{0D108BD9-81ED-4DB2-BD59-A6C34878D82A}">
                    <a16:rowId xmlns:a16="http://schemas.microsoft.com/office/drawing/2014/main" val="2321621122"/>
                  </a:ext>
                </a:extLst>
              </a:tr>
              <a:tr h="418342">
                <a:tc vMerge="1">
                  <a:txBody>
                    <a:bodyPr/>
                    <a:lstStyle/>
                    <a:p>
                      <a:endParaRPr kumimoji="1" lang="ja-JP" altLang="en-US" dirty="0"/>
                    </a:p>
                  </a:txBody>
                  <a:tcPr/>
                </a:tc>
                <a:tc>
                  <a:txBody>
                    <a:bodyPr/>
                    <a:lstStyle/>
                    <a:p>
                      <a:pPr algn="ctr"/>
                      <a:r>
                        <a:rPr kumimoji="1" lang="en-US" altLang="ja-JP" sz="2000" dirty="0"/>
                        <a:t>Story</a:t>
                      </a:r>
                      <a:r>
                        <a:rPr kumimoji="1" lang="ja-JP" altLang="en-US" sz="2000" dirty="0"/>
                        <a:t>形式</a:t>
                      </a:r>
                    </a:p>
                  </a:txBody>
                  <a:tcPr>
                    <a:solidFill>
                      <a:srgbClr val="FFF4E7"/>
                    </a:solidFill>
                  </a:tcPr>
                </a:tc>
                <a:tc>
                  <a:txBody>
                    <a:bodyPr/>
                    <a:lstStyle/>
                    <a:p>
                      <a:pPr algn="ctr"/>
                      <a:r>
                        <a:rPr kumimoji="1" lang="en-US" altLang="ja-JP" sz="2000" b="1" dirty="0">
                          <a:solidFill>
                            <a:srgbClr val="FF0000"/>
                          </a:solidFill>
                        </a:rPr>
                        <a:t>0.7302</a:t>
                      </a:r>
                      <a:endParaRPr kumimoji="1" lang="ja-JP" altLang="en-US" sz="2000" b="1" dirty="0">
                        <a:solidFill>
                          <a:srgbClr val="FF0000"/>
                        </a:solidFill>
                      </a:endParaRPr>
                    </a:p>
                  </a:txBody>
                  <a:tcPr>
                    <a:solidFill>
                      <a:srgbClr val="FFF4E7"/>
                    </a:solidFill>
                  </a:tcPr>
                </a:tc>
                <a:tc>
                  <a:txBody>
                    <a:bodyPr/>
                    <a:lstStyle/>
                    <a:p>
                      <a:pPr algn="ctr"/>
                      <a:r>
                        <a:rPr kumimoji="1" lang="en-US" altLang="ja-JP" sz="2000" b="1" dirty="0">
                          <a:solidFill>
                            <a:srgbClr val="FF0000"/>
                          </a:solidFill>
                        </a:rPr>
                        <a:t>0.6951</a:t>
                      </a:r>
                      <a:endParaRPr kumimoji="1" lang="ja-JP" altLang="en-US" sz="2000" b="1" dirty="0">
                        <a:solidFill>
                          <a:srgbClr val="FF0000"/>
                        </a:solidFill>
                      </a:endParaRPr>
                    </a:p>
                  </a:txBody>
                  <a:tcPr>
                    <a:solidFill>
                      <a:srgbClr val="FFF4E7"/>
                    </a:solidFill>
                  </a:tcPr>
                </a:tc>
                <a:extLst>
                  <a:ext uri="{0D108BD9-81ED-4DB2-BD59-A6C34878D82A}">
                    <a16:rowId xmlns:a16="http://schemas.microsoft.com/office/drawing/2014/main" val="2162734714"/>
                  </a:ext>
                </a:extLst>
              </a:tr>
              <a:tr h="418342">
                <a:tc rowSpan="2">
                  <a:txBody>
                    <a:bodyPr/>
                    <a:lstStyle/>
                    <a:p>
                      <a:pPr algn="ctr"/>
                      <a:r>
                        <a:rPr kumimoji="1" lang="ja-JP" altLang="en-US" sz="2000" dirty="0"/>
                        <a:t>グラフ画像あり</a:t>
                      </a:r>
                    </a:p>
                  </a:txBody>
                  <a:tcPr>
                    <a:solidFill>
                      <a:srgbClr val="FFE8CB"/>
                    </a:solidFill>
                  </a:tcPr>
                </a:tc>
                <a:tc>
                  <a:txBody>
                    <a:bodyPr/>
                    <a:lstStyle/>
                    <a:p>
                      <a:pPr algn="ctr"/>
                      <a:r>
                        <a:rPr kumimoji="1" lang="en-US" altLang="ja-JP" sz="2000" dirty="0"/>
                        <a:t>JSON</a:t>
                      </a:r>
                      <a:r>
                        <a:rPr kumimoji="1" lang="ja-JP" altLang="en-US" sz="2000" dirty="0"/>
                        <a:t>形式</a:t>
                      </a:r>
                    </a:p>
                  </a:txBody>
                  <a:tcPr>
                    <a:solidFill>
                      <a:srgbClr val="FFE8CB"/>
                    </a:solidFill>
                  </a:tcPr>
                </a:tc>
                <a:tc>
                  <a:txBody>
                    <a:bodyPr/>
                    <a:lstStyle/>
                    <a:p>
                      <a:pPr algn="ctr"/>
                      <a:r>
                        <a:rPr kumimoji="1" lang="en-US" altLang="ja-JP" sz="2000" dirty="0"/>
                        <a:t>0.4710</a:t>
                      </a:r>
                      <a:endParaRPr kumimoji="1" lang="ja-JP" altLang="en-US" sz="2000" dirty="0"/>
                    </a:p>
                  </a:txBody>
                  <a:tcPr>
                    <a:solidFill>
                      <a:srgbClr val="FFE8CB"/>
                    </a:solidFill>
                  </a:tcPr>
                </a:tc>
                <a:tc>
                  <a:txBody>
                    <a:bodyPr/>
                    <a:lstStyle/>
                    <a:p>
                      <a:pPr algn="ctr"/>
                      <a:r>
                        <a:rPr kumimoji="1" lang="en-US" altLang="ja-JP" sz="2000" dirty="0"/>
                        <a:t>0.5396</a:t>
                      </a:r>
                      <a:endParaRPr kumimoji="1" lang="ja-JP" altLang="en-US" sz="2000" dirty="0"/>
                    </a:p>
                  </a:txBody>
                  <a:tcPr>
                    <a:solidFill>
                      <a:srgbClr val="FFE8CB"/>
                    </a:solidFill>
                  </a:tcPr>
                </a:tc>
                <a:extLst>
                  <a:ext uri="{0D108BD9-81ED-4DB2-BD59-A6C34878D82A}">
                    <a16:rowId xmlns:a16="http://schemas.microsoft.com/office/drawing/2014/main" val="4223255125"/>
                  </a:ext>
                </a:extLst>
              </a:tr>
              <a:tr h="412611">
                <a:tc vMerge="1">
                  <a:txBody>
                    <a:bodyPr/>
                    <a:lstStyle/>
                    <a:p>
                      <a:endParaRPr kumimoji="1" lang="ja-JP" altLang="en-US" dirty="0"/>
                    </a:p>
                  </a:txBody>
                  <a:tcPr/>
                </a:tc>
                <a:tc>
                  <a:txBody>
                    <a:bodyPr/>
                    <a:lstStyle/>
                    <a:p>
                      <a:pPr algn="ctr"/>
                      <a:r>
                        <a:rPr kumimoji="1" lang="en-US" altLang="ja-JP" sz="2000" dirty="0"/>
                        <a:t>Story</a:t>
                      </a:r>
                      <a:r>
                        <a:rPr kumimoji="1" lang="ja-JP" altLang="en-US" sz="2000" dirty="0"/>
                        <a:t>形式</a:t>
                      </a:r>
                    </a:p>
                  </a:txBody>
                  <a:tcPr>
                    <a:solidFill>
                      <a:srgbClr val="FFF4E7"/>
                    </a:solidFill>
                  </a:tcPr>
                </a:tc>
                <a:tc>
                  <a:txBody>
                    <a:bodyPr/>
                    <a:lstStyle/>
                    <a:p>
                      <a:pPr algn="ctr"/>
                      <a:r>
                        <a:rPr kumimoji="1" lang="en-US" altLang="ja-JP" sz="2000" u="sng" dirty="0"/>
                        <a:t>0.7292</a:t>
                      </a:r>
                      <a:endParaRPr kumimoji="1" lang="ja-JP" altLang="en-US" sz="2000" u="sng" dirty="0"/>
                    </a:p>
                  </a:txBody>
                  <a:tcPr>
                    <a:solidFill>
                      <a:srgbClr val="FFF4E7"/>
                    </a:solidFill>
                  </a:tcPr>
                </a:tc>
                <a:tc>
                  <a:txBody>
                    <a:bodyPr/>
                    <a:lstStyle/>
                    <a:p>
                      <a:pPr algn="ctr"/>
                      <a:r>
                        <a:rPr kumimoji="1" lang="en-US" altLang="ja-JP" sz="2000" u="sng" dirty="0"/>
                        <a:t>0.6881</a:t>
                      </a:r>
                      <a:endParaRPr kumimoji="1" lang="ja-JP" altLang="en-US" sz="2000" u="sng" dirty="0"/>
                    </a:p>
                  </a:txBody>
                  <a:tcPr>
                    <a:solidFill>
                      <a:srgbClr val="FFF4E7"/>
                    </a:solidFill>
                  </a:tcPr>
                </a:tc>
                <a:extLst>
                  <a:ext uri="{0D108BD9-81ED-4DB2-BD59-A6C34878D82A}">
                    <a16:rowId xmlns:a16="http://schemas.microsoft.com/office/drawing/2014/main" val="3796626057"/>
                  </a:ext>
                </a:extLst>
              </a:tr>
            </a:tbl>
          </a:graphicData>
        </a:graphic>
      </p:graphicFrame>
      <p:sp>
        <p:nvSpPr>
          <p:cNvPr id="5" name="テキスト ボックス 4">
            <a:extLst>
              <a:ext uri="{FF2B5EF4-FFF2-40B4-BE49-F238E27FC236}">
                <a16:creationId xmlns:a16="http://schemas.microsoft.com/office/drawing/2014/main" id="{0A5C3DCF-F063-8F9B-EDE2-12C472B1980E}"/>
              </a:ext>
            </a:extLst>
          </p:cNvPr>
          <p:cNvSpPr txBox="1"/>
          <p:nvPr/>
        </p:nvSpPr>
        <p:spPr>
          <a:xfrm>
            <a:off x="3300637" y="6238877"/>
            <a:ext cx="5582652" cy="369332"/>
          </a:xfrm>
          <a:prstGeom prst="rect">
            <a:avLst/>
          </a:prstGeom>
          <a:noFill/>
        </p:spPr>
        <p:txBody>
          <a:bodyPr wrap="square" rtlCol="0">
            <a:spAutoFit/>
          </a:bodyPr>
          <a:lstStyle/>
          <a:p>
            <a:pPr algn="ctr"/>
            <a:r>
              <a:rPr kumimoji="1" lang="en-US" altLang="ja-JP" dirty="0"/>
              <a:t>LLM</a:t>
            </a:r>
            <a:r>
              <a:rPr kumimoji="1" lang="ja-JP" altLang="en-US" dirty="0"/>
              <a:t>の回答と参加者の回答の平均相関係数</a:t>
            </a:r>
          </a:p>
        </p:txBody>
      </p:sp>
    </p:spTree>
    <p:extLst>
      <p:ext uri="{BB962C8B-B14F-4D97-AF65-F5344CB8AC3E}">
        <p14:creationId xmlns:p14="http://schemas.microsoft.com/office/powerpoint/2010/main" val="41579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3D8DD-FCDA-B7FA-F4F2-F05DEB8734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D08F9B-45ED-874C-2534-87E7FE7306EE}"/>
              </a:ext>
            </a:extLst>
          </p:cNvPr>
          <p:cNvSpPr>
            <a:spLocks noGrp="1"/>
          </p:cNvSpPr>
          <p:nvPr>
            <p:ph type="title"/>
          </p:nvPr>
        </p:nvSpPr>
        <p:spPr/>
        <p:txBody>
          <a:bodyPr/>
          <a:lstStyle/>
          <a:p>
            <a:r>
              <a:rPr lang="ja-JP" altLang="en-US" dirty="0"/>
              <a:t>結果：性格特性ごとの捉えやすさ</a:t>
            </a:r>
            <a:endParaRPr kumimoji="1" lang="ja-JP" altLang="en-US" dirty="0"/>
          </a:p>
        </p:txBody>
      </p:sp>
      <p:graphicFrame>
        <p:nvGraphicFramePr>
          <p:cNvPr id="6" name="コンテンツ プレースホルダー 5">
            <a:extLst>
              <a:ext uri="{FF2B5EF4-FFF2-40B4-BE49-F238E27FC236}">
                <a16:creationId xmlns:a16="http://schemas.microsoft.com/office/drawing/2014/main" id="{0EC2F646-1EAB-6C75-B1F5-42C74833C408}"/>
              </a:ext>
            </a:extLst>
          </p:cNvPr>
          <p:cNvGraphicFramePr>
            <a:graphicFrameLocks noGrp="1"/>
          </p:cNvGraphicFramePr>
          <p:nvPr>
            <p:ph idx="1"/>
            <p:extLst>
              <p:ext uri="{D42A27DB-BD31-4B8C-83A1-F6EECF244321}">
                <p14:modId xmlns:p14="http://schemas.microsoft.com/office/powerpoint/2010/main" val="794518841"/>
              </p:ext>
            </p:extLst>
          </p:nvPr>
        </p:nvGraphicFramePr>
        <p:xfrm>
          <a:off x="339725" y="1599191"/>
          <a:ext cx="11504610" cy="4451328"/>
        </p:xfrm>
        <a:graphic>
          <a:graphicData uri="http://schemas.openxmlformats.org/drawingml/2006/table">
            <a:tbl>
              <a:tblPr bandRow="1">
                <a:tableStyleId>{00A15C55-8517-42AA-B614-E9B94910E393}</a:tableStyleId>
              </a:tblPr>
              <a:tblGrid>
                <a:gridCol w="2300922">
                  <a:extLst>
                    <a:ext uri="{9D8B030D-6E8A-4147-A177-3AD203B41FA5}">
                      <a16:colId xmlns:a16="http://schemas.microsoft.com/office/drawing/2014/main" val="1792084508"/>
                    </a:ext>
                  </a:extLst>
                </a:gridCol>
                <a:gridCol w="2300922">
                  <a:extLst>
                    <a:ext uri="{9D8B030D-6E8A-4147-A177-3AD203B41FA5}">
                      <a16:colId xmlns:a16="http://schemas.microsoft.com/office/drawing/2014/main" val="652516685"/>
                    </a:ext>
                  </a:extLst>
                </a:gridCol>
                <a:gridCol w="2300922">
                  <a:extLst>
                    <a:ext uri="{9D8B030D-6E8A-4147-A177-3AD203B41FA5}">
                      <a16:colId xmlns:a16="http://schemas.microsoft.com/office/drawing/2014/main" val="1738392474"/>
                    </a:ext>
                  </a:extLst>
                </a:gridCol>
                <a:gridCol w="2300922">
                  <a:extLst>
                    <a:ext uri="{9D8B030D-6E8A-4147-A177-3AD203B41FA5}">
                      <a16:colId xmlns:a16="http://schemas.microsoft.com/office/drawing/2014/main" val="1280232793"/>
                    </a:ext>
                  </a:extLst>
                </a:gridCol>
                <a:gridCol w="2300922">
                  <a:extLst>
                    <a:ext uri="{9D8B030D-6E8A-4147-A177-3AD203B41FA5}">
                      <a16:colId xmlns:a16="http://schemas.microsoft.com/office/drawing/2014/main" val="444360800"/>
                    </a:ext>
                  </a:extLst>
                </a:gridCol>
              </a:tblGrid>
              <a:tr h="219132">
                <a:tc rowSpan="2">
                  <a:txBody>
                    <a:bodyPr/>
                    <a:lstStyle/>
                    <a:p>
                      <a:pPr algn="ctr"/>
                      <a:r>
                        <a:rPr kumimoji="1" lang="ja-JP" altLang="en-US" sz="2400" b="1" dirty="0">
                          <a:solidFill>
                            <a:schemeClr val="tx1"/>
                          </a:solidFill>
                        </a:rPr>
                        <a:t>性格特性</a:t>
                      </a:r>
                    </a:p>
                  </a:txBody>
                  <a:tcPr>
                    <a:solidFill>
                      <a:schemeClr val="accent2">
                        <a:lumMod val="60000"/>
                        <a:lumOff val="40000"/>
                      </a:schemeClr>
                    </a:solidFill>
                  </a:tcPr>
                </a:tc>
                <a:tc gridSpan="2">
                  <a:txBody>
                    <a:bodyPr/>
                    <a:lstStyle/>
                    <a:p>
                      <a:pPr algn="ctr"/>
                      <a:r>
                        <a:rPr kumimoji="1" lang="ja-JP" altLang="en-US" sz="2400" b="1" dirty="0">
                          <a:solidFill>
                            <a:schemeClr val="tx1"/>
                          </a:solidFill>
                        </a:rPr>
                        <a:t>グラフなし</a:t>
                      </a:r>
                    </a:p>
                  </a:txBody>
                  <a:tcPr>
                    <a:solidFill>
                      <a:schemeClr val="accent2">
                        <a:lumMod val="60000"/>
                        <a:lumOff val="40000"/>
                      </a:schemeClr>
                    </a:solidFill>
                  </a:tcPr>
                </a:tc>
                <a:tc hMerge="1">
                  <a:txBody>
                    <a:bodyPr/>
                    <a:lstStyle/>
                    <a:p>
                      <a:endParaRPr kumimoji="1" lang="ja-JP" altLang="en-US" dirty="0"/>
                    </a:p>
                  </a:txBody>
                  <a:tcPr>
                    <a:solidFill>
                      <a:srgbClr val="4472C4"/>
                    </a:solidFill>
                  </a:tcPr>
                </a:tc>
                <a:tc gridSpan="2">
                  <a:txBody>
                    <a:bodyPr/>
                    <a:lstStyle/>
                    <a:p>
                      <a:pPr algn="ctr"/>
                      <a:r>
                        <a:rPr kumimoji="1" lang="ja-JP" altLang="en-US" sz="2400" b="1" dirty="0">
                          <a:solidFill>
                            <a:schemeClr val="tx1"/>
                          </a:solidFill>
                        </a:rPr>
                        <a:t>グラフあり</a:t>
                      </a:r>
                    </a:p>
                  </a:txBody>
                  <a:tcPr>
                    <a:solidFill>
                      <a:schemeClr val="accent2">
                        <a:lumMod val="60000"/>
                        <a:lumOff val="40000"/>
                      </a:schemeClr>
                    </a:solidFill>
                  </a:tcPr>
                </a:tc>
                <a:tc hMerge="1">
                  <a:txBody>
                    <a:bodyPr/>
                    <a:lstStyle/>
                    <a:p>
                      <a:endParaRPr kumimoji="1" lang="ja-JP" altLang="en-US" dirty="0"/>
                    </a:p>
                  </a:txBody>
                  <a:tcPr>
                    <a:solidFill>
                      <a:srgbClr val="4472C4"/>
                    </a:solidFill>
                  </a:tcPr>
                </a:tc>
                <a:extLst>
                  <a:ext uri="{0D108BD9-81ED-4DB2-BD59-A6C34878D82A}">
                    <a16:rowId xmlns:a16="http://schemas.microsoft.com/office/drawing/2014/main" val="4238020774"/>
                  </a:ext>
                </a:extLst>
              </a:tr>
              <a:tr h="294744">
                <a:tc vMerge="1">
                  <a:txBody>
                    <a:bodyPr/>
                    <a:lstStyle/>
                    <a:p>
                      <a:endParaRPr kumimoji="1" lang="ja-JP" altLang="en-US"/>
                    </a:p>
                  </a:txBody>
                  <a:tcPr/>
                </a:tc>
                <a:tc>
                  <a:txBody>
                    <a:bodyPr/>
                    <a:lstStyle/>
                    <a:p>
                      <a:pPr algn="ctr"/>
                      <a:r>
                        <a:rPr kumimoji="1" lang="en-US" altLang="ja-JP" sz="2400" b="1" dirty="0">
                          <a:solidFill>
                            <a:schemeClr val="tx1"/>
                          </a:solidFill>
                        </a:rPr>
                        <a:t>JSON</a:t>
                      </a:r>
                      <a:endParaRPr kumimoji="1" lang="ja-JP" altLang="en-US" sz="2400" b="1" dirty="0">
                        <a:solidFill>
                          <a:schemeClr val="tx1"/>
                        </a:solidFill>
                      </a:endParaRPr>
                    </a:p>
                  </a:txBody>
                  <a:tcPr>
                    <a:solidFill>
                      <a:schemeClr val="accent2">
                        <a:lumMod val="60000"/>
                        <a:lumOff val="40000"/>
                      </a:schemeClr>
                    </a:solidFill>
                  </a:tcPr>
                </a:tc>
                <a:tc>
                  <a:txBody>
                    <a:bodyPr/>
                    <a:lstStyle/>
                    <a:p>
                      <a:pPr algn="ctr"/>
                      <a:r>
                        <a:rPr kumimoji="1" lang="en-US" altLang="ja-JP" sz="2400" b="1" dirty="0">
                          <a:solidFill>
                            <a:schemeClr val="tx1"/>
                          </a:solidFill>
                        </a:rPr>
                        <a:t>Story</a:t>
                      </a:r>
                      <a:endParaRPr kumimoji="1" lang="ja-JP" altLang="en-US" sz="2400" b="1" dirty="0">
                        <a:solidFill>
                          <a:schemeClr val="tx1"/>
                        </a:solidFill>
                      </a:endParaRPr>
                    </a:p>
                  </a:txBody>
                  <a:tcPr>
                    <a:solidFill>
                      <a:schemeClr val="accent2">
                        <a:lumMod val="60000"/>
                        <a:lumOff val="40000"/>
                      </a:schemeClr>
                    </a:solidFill>
                  </a:tcPr>
                </a:tc>
                <a:tc>
                  <a:txBody>
                    <a:bodyPr/>
                    <a:lstStyle/>
                    <a:p>
                      <a:pPr algn="ctr"/>
                      <a:r>
                        <a:rPr kumimoji="1" lang="en-US" altLang="ja-JP" sz="2400" b="1" dirty="0">
                          <a:solidFill>
                            <a:schemeClr val="tx1"/>
                          </a:solidFill>
                        </a:rPr>
                        <a:t>JSON</a:t>
                      </a:r>
                      <a:endParaRPr kumimoji="1" lang="ja-JP" altLang="en-US" sz="2400" b="1" dirty="0">
                        <a:solidFill>
                          <a:schemeClr val="tx1"/>
                        </a:solidFill>
                      </a:endParaRPr>
                    </a:p>
                  </a:txBody>
                  <a:tcPr>
                    <a:solidFill>
                      <a:schemeClr val="accent2">
                        <a:lumMod val="60000"/>
                        <a:lumOff val="40000"/>
                      </a:schemeClr>
                    </a:solidFill>
                  </a:tcPr>
                </a:tc>
                <a:tc>
                  <a:txBody>
                    <a:bodyPr/>
                    <a:lstStyle/>
                    <a:p>
                      <a:pPr algn="ctr"/>
                      <a:r>
                        <a:rPr kumimoji="1" lang="en-US" altLang="ja-JP" sz="2400" b="1" dirty="0">
                          <a:solidFill>
                            <a:schemeClr val="tx1"/>
                          </a:solidFill>
                        </a:rPr>
                        <a:t>Story</a:t>
                      </a:r>
                      <a:endParaRPr kumimoji="1" lang="ja-JP" altLang="en-US" sz="2400" b="1"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2276908293"/>
                  </a:ext>
                </a:extLst>
              </a:tr>
              <a:tr h="589488">
                <a:tc>
                  <a:txBody>
                    <a:bodyPr/>
                    <a:lstStyle/>
                    <a:p>
                      <a:pPr algn="ctr"/>
                      <a:r>
                        <a:rPr kumimoji="1" lang="ja-JP" altLang="en-US" sz="2400" dirty="0"/>
                        <a:t>外向性</a:t>
                      </a:r>
                    </a:p>
                  </a:txBody>
                  <a:tcPr/>
                </a:tc>
                <a:tc>
                  <a:txBody>
                    <a:bodyPr/>
                    <a:lstStyle/>
                    <a:p>
                      <a:pPr algn="ctr"/>
                      <a:r>
                        <a:rPr kumimoji="1" lang="en-US" altLang="ja-JP" sz="2400" dirty="0"/>
                        <a:t>2.3333</a:t>
                      </a:r>
                      <a:endParaRPr kumimoji="1" lang="ja-JP" altLang="en-US" sz="2400" dirty="0"/>
                    </a:p>
                  </a:txBody>
                  <a:tcPr/>
                </a:tc>
                <a:tc>
                  <a:txBody>
                    <a:bodyPr/>
                    <a:lstStyle/>
                    <a:p>
                      <a:pPr algn="ctr"/>
                      <a:r>
                        <a:rPr kumimoji="1" lang="en-US" altLang="ja-JP" sz="2400" dirty="0"/>
                        <a:t>1.7155</a:t>
                      </a:r>
                      <a:endParaRPr kumimoji="1" lang="ja-JP" altLang="en-US" sz="2400" dirty="0"/>
                    </a:p>
                  </a:txBody>
                  <a:tcPr/>
                </a:tc>
                <a:tc>
                  <a:txBody>
                    <a:bodyPr/>
                    <a:lstStyle/>
                    <a:p>
                      <a:pPr algn="ctr"/>
                      <a:r>
                        <a:rPr kumimoji="1" lang="en-US" altLang="ja-JP" sz="2400" dirty="0"/>
                        <a:t>2.3448</a:t>
                      </a:r>
                      <a:endParaRPr kumimoji="1" lang="ja-JP" altLang="en-US" sz="2400" dirty="0"/>
                    </a:p>
                  </a:txBody>
                  <a:tcPr/>
                </a:tc>
                <a:tc>
                  <a:txBody>
                    <a:bodyPr/>
                    <a:lstStyle/>
                    <a:p>
                      <a:pPr algn="ctr"/>
                      <a:r>
                        <a:rPr kumimoji="1" lang="en-US" altLang="ja-JP" sz="2400" dirty="0"/>
                        <a:t>1.9310</a:t>
                      </a:r>
                      <a:endParaRPr kumimoji="1" lang="ja-JP" altLang="en-US" sz="2400" dirty="0"/>
                    </a:p>
                  </a:txBody>
                  <a:tcPr/>
                </a:tc>
                <a:extLst>
                  <a:ext uri="{0D108BD9-81ED-4DB2-BD59-A6C34878D82A}">
                    <a16:rowId xmlns:a16="http://schemas.microsoft.com/office/drawing/2014/main" val="2499244701"/>
                  </a:ext>
                </a:extLst>
              </a:tr>
              <a:tr h="589488">
                <a:tc>
                  <a:txBody>
                    <a:bodyPr/>
                    <a:lstStyle/>
                    <a:p>
                      <a:pPr algn="ctr"/>
                      <a:r>
                        <a:rPr kumimoji="1" lang="ja-JP" altLang="en-US" sz="2400" dirty="0"/>
                        <a:t>協調性</a:t>
                      </a:r>
                    </a:p>
                  </a:txBody>
                  <a:tcPr>
                    <a:solidFill>
                      <a:srgbClr val="FFF4E7"/>
                    </a:solidFill>
                  </a:tcPr>
                </a:tc>
                <a:tc>
                  <a:txBody>
                    <a:bodyPr/>
                    <a:lstStyle/>
                    <a:p>
                      <a:pPr algn="ctr"/>
                      <a:r>
                        <a:rPr kumimoji="1" lang="en-US" altLang="ja-JP" sz="2400" b="1" dirty="0">
                          <a:solidFill>
                            <a:srgbClr val="FF0000"/>
                          </a:solidFill>
                        </a:rPr>
                        <a:t>2.0920</a:t>
                      </a:r>
                      <a:endParaRPr kumimoji="1" lang="ja-JP" altLang="en-US" sz="2400" b="1" dirty="0">
                        <a:solidFill>
                          <a:srgbClr val="FF0000"/>
                        </a:solidFill>
                      </a:endParaRPr>
                    </a:p>
                  </a:txBody>
                  <a:tcPr/>
                </a:tc>
                <a:tc>
                  <a:txBody>
                    <a:bodyPr/>
                    <a:lstStyle/>
                    <a:p>
                      <a:pPr algn="ctr"/>
                      <a:r>
                        <a:rPr kumimoji="1" lang="en-US" altLang="ja-JP" sz="2400" b="1" dirty="0">
                          <a:solidFill>
                            <a:srgbClr val="FF0000"/>
                          </a:solidFill>
                        </a:rPr>
                        <a:t>1.5603</a:t>
                      </a:r>
                      <a:endParaRPr kumimoji="1" lang="ja-JP" altLang="en-US" sz="2400" b="1" dirty="0">
                        <a:solidFill>
                          <a:srgbClr val="FF0000"/>
                        </a:solidFill>
                      </a:endParaRPr>
                    </a:p>
                  </a:txBody>
                  <a:tcPr/>
                </a:tc>
                <a:tc>
                  <a:txBody>
                    <a:bodyPr/>
                    <a:lstStyle/>
                    <a:p>
                      <a:pPr algn="ctr"/>
                      <a:r>
                        <a:rPr kumimoji="1" lang="en-US" altLang="ja-JP" sz="2400" b="1" dirty="0">
                          <a:solidFill>
                            <a:srgbClr val="FF0000"/>
                          </a:solidFill>
                        </a:rPr>
                        <a:t>2.1609</a:t>
                      </a:r>
                      <a:endParaRPr kumimoji="1" lang="ja-JP" altLang="en-US" sz="2400" b="1" dirty="0">
                        <a:solidFill>
                          <a:srgbClr val="FF0000"/>
                        </a:solidFill>
                      </a:endParaRPr>
                    </a:p>
                  </a:txBody>
                  <a:tcPr/>
                </a:tc>
                <a:tc>
                  <a:txBody>
                    <a:bodyPr/>
                    <a:lstStyle/>
                    <a:p>
                      <a:pPr algn="ctr"/>
                      <a:r>
                        <a:rPr kumimoji="1" lang="en-US" altLang="ja-JP" sz="2400" b="1" dirty="0">
                          <a:solidFill>
                            <a:srgbClr val="FF0000"/>
                          </a:solidFill>
                        </a:rPr>
                        <a:t>1.4483</a:t>
                      </a:r>
                      <a:endParaRPr kumimoji="1" lang="ja-JP" altLang="en-US" sz="2400" b="1" dirty="0">
                        <a:solidFill>
                          <a:srgbClr val="FF0000"/>
                        </a:solidFill>
                      </a:endParaRPr>
                    </a:p>
                  </a:txBody>
                  <a:tcPr/>
                </a:tc>
                <a:extLst>
                  <a:ext uri="{0D108BD9-81ED-4DB2-BD59-A6C34878D82A}">
                    <a16:rowId xmlns:a16="http://schemas.microsoft.com/office/drawing/2014/main" val="3252077466"/>
                  </a:ext>
                </a:extLst>
              </a:tr>
              <a:tr h="589488">
                <a:tc>
                  <a:txBody>
                    <a:bodyPr/>
                    <a:lstStyle/>
                    <a:p>
                      <a:pPr algn="ctr"/>
                      <a:r>
                        <a:rPr kumimoji="1" lang="ja-JP" altLang="en-US" sz="2400" dirty="0"/>
                        <a:t>勤勉性</a:t>
                      </a:r>
                    </a:p>
                  </a:txBody>
                  <a:tcPr/>
                </a:tc>
                <a:tc>
                  <a:txBody>
                    <a:bodyPr/>
                    <a:lstStyle/>
                    <a:p>
                      <a:pPr algn="ctr"/>
                      <a:r>
                        <a:rPr kumimoji="1" lang="en-US" altLang="ja-JP" sz="2400" dirty="0"/>
                        <a:t>2.7586</a:t>
                      </a:r>
                      <a:endParaRPr kumimoji="1" lang="ja-JP" altLang="en-US" sz="2400" dirty="0"/>
                    </a:p>
                  </a:txBody>
                  <a:tcPr/>
                </a:tc>
                <a:tc>
                  <a:txBody>
                    <a:bodyPr/>
                    <a:lstStyle/>
                    <a:p>
                      <a:pPr algn="ctr"/>
                      <a:r>
                        <a:rPr kumimoji="1" lang="en-US" altLang="ja-JP" sz="2400" dirty="0"/>
                        <a:t>1.9569</a:t>
                      </a:r>
                      <a:endParaRPr kumimoji="1" lang="ja-JP" altLang="en-US" sz="2400" dirty="0"/>
                    </a:p>
                  </a:txBody>
                  <a:tcPr/>
                </a:tc>
                <a:tc>
                  <a:txBody>
                    <a:bodyPr/>
                    <a:lstStyle/>
                    <a:p>
                      <a:pPr algn="ctr"/>
                      <a:r>
                        <a:rPr kumimoji="1" lang="en-US" altLang="ja-JP" sz="2400" dirty="0"/>
                        <a:t>2.5517</a:t>
                      </a:r>
                      <a:endParaRPr kumimoji="1" lang="ja-JP" altLang="en-US" sz="2400" dirty="0"/>
                    </a:p>
                  </a:txBody>
                  <a:tcPr/>
                </a:tc>
                <a:tc>
                  <a:txBody>
                    <a:bodyPr/>
                    <a:lstStyle/>
                    <a:p>
                      <a:pPr algn="ctr"/>
                      <a:r>
                        <a:rPr kumimoji="1" lang="en-US" altLang="ja-JP" sz="2400" dirty="0"/>
                        <a:t>1.9741</a:t>
                      </a:r>
                      <a:endParaRPr kumimoji="1" lang="ja-JP" altLang="en-US" sz="2400" dirty="0"/>
                    </a:p>
                  </a:txBody>
                  <a:tcPr/>
                </a:tc>
                <a:extLst>
                  <a:ext uri="{0D108BD9-81ED-4DB2-BD59-A6C34878D82A}">
                    <a16:rowId xmlns:a16="http://schemas.microsoft.com/office/drawing/2014/main" val="4216002777"/>
                  </a:ext>
                </a:extLst>
              </a:tr>
              <a:tr h="589488">
                <a:tc>
                  <a:txBody>
                    <a:bodyPr/>
                    <a:lstStyle/>
                    <a:p>
                      <a:pPr algn="ctr"/>
                      <a:r>
                        <a:rPr kumimoji="1" lang="ja-JP" altLang="en-US" sz="2400" dirty="0"/>
                        <a:t>神経症傾向</a:t>
                      </a:r>
                    </a:p>
                  </a:txBody>
                  <a:tcPr/>
                </a:tc>
                <a:tc>
                  <a:txBody>
                    <a:bodyPr/>
                    <a:lstStyle/>
                    <a:p>
                      <a:pPr algn="ctr"/>
                      <a:r>
                        <a:rPr kumimoji="1" lang="en-US" altLang="ja-JP" sz="2400" b="1" dirty="0">
                          <a:solidFill>
                            <a:srgbClr val="0070C0"/>
                          </a:solidFill>
                        </a:rPr>
                        <a:t>2.9770</a:t>
                      </a:r>
                      <a:endParaRPr kumimoji="1" lang="ja-JP" altLang="en-US" sz="2400" b="1" dirty="0">
                        <a:solidFill>
                          <a:srgbClr val="0070C0"/>
                        </a:solidFill>
                      </a:endParaRPr>
                    </a:p>
                  </a:txBody>
                  <a:tcPr/>
                </a:tc>
                <a:tc>
                  <a:txBody>
                    <a:bodyPr/>
                    <a:lstStyle/>
                    <a:p>
                      <a:pPr algn="ctr"/>
                      <a:r>
                        <a:rPr kumimoji="1" lang="en-US" altLang="ja-JP" sz="2400" b="1" dirty="0">
                          <a:solidFill>
                            <a:srgbClr val="0070C0"/>
                          </a:solidFill>
                        </a:rPr>
                        <a:t>2.0172</a:t>
                      </a:r>
                      <a:endParaRPr kumimoji="1" lang="ja-JP" altLang="en-US" sz="2400" b="1" dirty="0">
                        <a:solidFill>
                          <a:srgbClr val="0070C0"/>
                        </a:solidFill>
                      </a:endParaRPr>
                    </a:p>
                  </a:txBody>
                  <a:tcPr/>
                </a:tc>
                <a:tc>
                  <a:txBody>
                    <a:bodyPr/>
                    <a:lstStyle/>
                    <a:p>
                      <a:pPr algn="ctr"/>
                      <a:r>
                        <a:rPr kumimoji="1" lang="en-US" altLang="ja-JP" sz="2400" b="1" dirty="0">
                          <a:solidFill>
                            <a:srgbClr val="0070C0"/>
                          </a:solidFill>
                        </a:rPr>
                        <a:t>2.7241</a:t>
                      </a:r>
                      <a:endParaRPr kumimoji="1" lang="ja-JP" altLang="en-US" sz="2400" b="1" dirty="0">
                        <a:solidFill>
                          <a:srgbClr val="0070C0"/>
                        </a:solidFill>
                      </a:endParaRPr>
                    </a:p>
                  </a:txBody>
                  <a:tcPr/>
                </a:tc>
                <a:tc>
                  <a:txBody>
                    <a:bodyPr/>
                    <a:lstStyle/>
                    <a:p>
                      <a:pPr algn="ctr"/>
                      <a:r>
                        <a:rPr kumimoji="1" lang="en-US" altLang="ja-JP" sz="2400" dirty="0"/>
                        <a:t>2.0517</a:t>
                      </a:r>
                      <a:endParaRPr kumimoji="1" lang="ja-JP" altLang="en-US" sz="2400" dirty="0"/>
                    </a:p>
                  </a:txBody>
                  <a:tcPr/>
                </a:tc>
                <a:extLst>
                  <a:ext uri="{0D108BD9-81ED-4DB2-BD59-A6C34878D82A}">
                    <a16:rowId xmlns:a16="http://schemas.microsoft.com/office/drawing/2014/main" val="1983970169"/>
                  </a:ext>
                </a:extLst>
              </a:tr>
              <a:tr h="589488">
                <a:tc>
                  <a:txBody>
                    <a:bodyPr/>
                    <a:lstStyle/>
                    <a:p>
                      <a:pPr algn="ctr"/>
                      <a:r>
                        <a:rPr kumimoji="1" lang="ja-JP" altLang="en-US" sz="2400" dirty="0"/>
                        <a:t>開放性</a:t>
                      </a:r>
                    </a:p>
                  </a:txBody>
                  <a:tcPr>
                    <a:solidFill>
                      <a:srgbClr val="FFE8CB"/>
                    </a:solidFill>
                  </a:tcPr>
                </a:tc>
                <a:tc>
                  <a:txBody>
                    <a:bodyPr/>
                    <a:lstStyle/>
                    <a:p>
                      <a:pPr algn="ctr"/>
                      <a:r>
                        <a:rPr kumimoji="1" lang="en-US" altLang="ja-JP" sz="2400" dirty="0"/>
                        <a:t>2.7586</a:t>
                      </a:r>
                      <a:endParaRPr kumimoji="1" lang="ja-JP" altLang="en-US" sz="2400" dirty="0"/>
                    </a:p>
                  </a:txBody>
                  <a:tcPr/>
                </a:tc>
                <a:tc>
                  <a:txBody>
                    <a:bodyPr/>
                    <a:lstStyle/>
                    <a:p>
                      <a:pPr algn="ctr"/>
                      <a:r>
                        <a:rPr kumimoji="1" lang="en-US" altLang="ja-JP" sz="2400" dirty="0"/>
                        <a:t>1.9052</a:t>
                      </a:r>
                      <a:endParaRPr kumimoji="1" lang="ja-JP" altLang="en-US" sz="2400" dirty="0"/>
                    </a:p>
                  </a:txBody>
                  <a:tcPr/>
                </a:tc>
                <a:tc>
                  <a:txBody>
                    <a:bodyPr/>
                    <a:lstStyle/>
                    <a:p>
                      <a:pPr algn="ctr"/>
                      <a:r>
                        <a:rPr kumimoji="1" lang="en-US" altLang="ja-JP" sz="2400" dirty="0"/>
                        <a:t>3.0920</a:t>
                      </a:r>
                      <a:endParaRPr kumimoji="1" lang="ja-JP" altLang="en-US" sz="2400" dirty="0"/>
                    </a:p>
                  </a:txBody>
                  <a:tcPr/>
                </a:tc>
                <a:tc>
                  <a:txBody>
                    <a:bodyPr/>
                    <a:lstStyle/>
                    <a:p>
                      <a:pPr algn="ctr"/>
                      <a:r>
                        <a:rPr kumimoji="1" lang="en-US" altLang="ja-JP" sz="2400" b="1" dirty="0">
                          <a:solidFill>
                            <a:srgbClr val="0070C0"/>
                          </a:solidFill>
                        </a:rPr>
                        <a:t>2.3276</a:t>
                      </a:r>
                      <a:endParaRPr kumimoji="1" lang="ja-JP" altLang="en-US" sz="2400" b="1" dirty="0">
                        <a:solidFill>
                          <a:srgbClr val="0070C0"/>
                        </a:solidFill>
                      </a:endParaRPr>
                    </a:p>
                  </a:txBody>
                  <a:tcPr/>
                </a:tc>
                <a:extLst>
                  <a:ext uri="{0D108BD9-81ED-4DB2-BD59-A6C34878D82A}">
                    <a16:rowId xmlns:a16="http://schemas.microsoft.com/office/drawing/2014/main" val="2927338671"/>
                  </a:ext>
                </a:extLst>
              </a:tr>
              <a:tr h="589488">
                <a:tc>
                  <a:txBody>
                    <a:bodyPr/>
                    <a:lstStyle/>
                    <a:p>
                      <a:pPr algn="ctr"/>
                      <a:r>
                        <a:rPr kumimoji="1" lang="ja-JP" altLang="en-US" sz="2400" b="0" dirty="0">
                          <a:solidFill>
                            <a:schemeClr val="tx1"/>
                          </a:solidFill>
                        </a:rPr>
                        <a:t>平均</a:t>
                      </a:r>
                    </a:p>
                  </a:txBody>
                  <a:tcPr>
                    <a:solidFill>
                      <a:schemeClr val="accent2">
                        <a:lumMod val="60000"/>
                        <a:lumOff val="40000"/>
                      </a:schemeClr>
                    </a:solidFill>
                  </a:tcPr>
                </a:tc>
                <a:tc>
                  <a:txBody>
                    <a:bodyPr/>
                    <a:lstStyle/>
                    <a:p>
                      <a:pPr algn="ctr"/>
                      <a:r>
                        <a:rPr kumimoji="1" lang="en-US" altLang="ja-JP" sz="2400" b="0" dirty="0">
                          <a:solidFill>
                            <a:schemeClr val="tx1"/>
                          </a:solidFill>
                        </a:rPr>
                        <a:t>2.5839</a:t>
                      </a:r>
                      <a:endParaRPr kumimoji="1" lang="ja-JP" altLang="en-US" sz="2400" b="0" dirty="0">
                        <a:solidFill>
                          <a:schemeClr val="tx1"/>
                        </a:solidFill>
                      </a:endParaRPr>
                    </a:p>
                  </a:txBody>
                  <a:tcPr>
                    <a:solidFill>
                      <a:schemeClr val="accent2">
                        <a:lumMod val="60000"/>
                        <a:lumOff val="40000"/>
                      </a:schemeClr>
                    </a:solidFill>
                  </a:tcPr>
                </a:tc>
                <a:tc>
                  <a:txBody>
                    <a:bodyPr/>
                    <a:lstStyle/>
                    <a:p>
                      <a:pPr algn="ctr"/>
                      <a:r>
                        <a:rPr kumimoji="1" lang="en-US" altLang="ja-JP" sz="2400" b="0" dirty="0">
                          <a:solidFill>
                            <a:schemeClr val="tx1"/>
                          </a:solidFill>
                        </a:rPr>
                        <a:t>1.8310</a:t>
                      </a:r>
                      <a:endParaRPr kumimoji="1" lang="ja-JP" altLang="en-US" sz="2400" b="0" dirty="0">
                        <a:solidFill>
                          <a:schemeClr val="tx1"/>
                        </a:solidFill>
                      </a:endParaRPr>
                    </a:p>
                  </a:txBody>
                  <a:tcPr>
                    <a:solidFill>
                      <a:schemeClr val="accent2">
                        <a:lumMod val="60000"/>
                        <a:lumOff val="40000"/>
                      </a:schemeClr>
                    </a:solidFill>
                  </a:tcPr>
                </a:tc>
                <a:tc>
                  <a:txBody>
                    <a:bodyPr/>
                    <a:lstStyle/>
                    <a:p>
                      <a:pPr algn="ctr"/>
                      <a:r>
                        <a:rPr kumimoji="1" lang="en-US" altLang="ja-JP" sz="2400" b="0" dirty="0">
                          <a:solidFill>
                            <a:schemeClr val="tx1"/>
                          </a:solidFill>
                        </a:rPr>
                        <a:t>2.5747</a:t>
                      </a:r>
                      <a:endParaRPr kumimoji="1" lang="ja-JP" altLang="en-US" sz="2400" b="0" dirty="0">
                        <a:solidFill>
                          <a:schemeClr val="tx1"/>
                        </a:solidFill>
                      </a:endParaRPr>
                    </a:p>
                  </a:txBody>
                  <a:tcPr>
                    <a:solidFill>
                      <a:schemeClr val="accent2">
                        <a:lumMod val="60000"/>
                        <a:lumOff val="40000"/>
                      </a:schemeClr>
                    </a:solidFill>
                  </a:tcPr>
                </a:tc>
                <a:tc>
                  <a:txBody>
                    <a:bodyPr/>
                    <a:lstStyle/>
                    <a:p>
                      <a:pPr algn="ctr"/>
                      <a:r>
                        <a:rPr kumimoji="1" lang="en-US" altLang="ja-JP" sz="2400" b="0" dirty="0">
                          <a:solidFill>
                            <a:schemeClr val="tx1"/>
                          </a:solidFill>
                        </a:rPr>
                        <a:t>1.9466</a:t>
                      </a:r>
                      <a:endParaRPr kumimoji="1" lang="ja-JP" altLang="en-US" sz="2400" b="0"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4054892167"/>
                  </a:ext>
                </a:extLst>
              </a:tr>
            </a:tbl>
          </a:graphicData>
        </a:graphic>
      </p:graphicFrame>
      <p:sp>
        <p:nvSpPr>
          <p:cNvPr id="5" name="テキスト ボックス 4">
            <a:extLst>
              <a:ext uri="{FF2B5EF4-FFF2-40B4-BE49-F238E27FC236}">
                <a16:creationId xmlns:a16="http://schemas.microsoft.com/office/drawing/2014/main" id="{9003E0E5-5B96-77AC-3546-662BA28294B7}"/>
              </a:ext>
            </a:extLst>
          </p:cNvPr>
          <p:cNvSpPr txBox="1"/>
          <p:nvPr/>
        </p:nvSpPr>
        <p:spPr>
          <a:xfrm>
            <a:off x="3300704" y="6050519"/>
            <a:ext cx="5582652" cy="461665"/>
          </a:xfrm>
          <a:prstGeom prst="rect">
            <a:avLst/>
          </a:prstGeom>
          <a:noFill/>
        </p:spPr>
        <p:txBody>
          <a:bodyPr wrap="square" rtlCol="0">
            <a:spAutoFit/>
          </a:bodyPr>
          <a:lstStyle/>
          <a:p>
            <a:pPr algn="ctr"/>
            <a:r>
              <a:rPr lang="ja-JP" altLang="en-US" sz="2400" dirty="0"/>
              <a:t>各特性ごとの平均絶対誤差</a:t>
            </a:r>
            <a:endParaRPr kumimoji="1" lang="ja-JP" altLang="en-US" sz="2400" dirty="0"/>
          </a:p>
        </p:txBody>
      </p:sp>
    </p:spTree>
    <p:extLst>
      <p:ext uri="{BB962C8B-B14F-4D97-AF65-F5344CB8AC3E}">
        <p14:creationId xmlns:p14="http://schemas.microsoft.com/office/powerpoint/2010/main" val="3892118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25962-FFFD-A811-F007-447BA26E2F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FDDBA7-F299-08D2-6CF9-78CB2D5E8707}"/>
              </a:ext>
            </a:extLst>
          </p:cNvPr>
          <p:cNvSpPr>
            <a:spLocks noGrp="1"/>
          </p:cNvSpPr>
          <p:nvPr>
            <p:ph type="title"/>
          </p:nvPr>
        </p:nvSpPr>
        <p:spPr/>
        <p:txBody>
          <a:bodyPr/>
          <a:lstStyle/>
          <a:p>
            <a:r>
              <a:rPr lang="ja-JP" altLang="en-US" dirty="0"/>
              <a:t>結果：価値観ごとの捉えやすさ</a:t>
            </a:r>
            <a:endParaRPr kumimoji="1" lang="ja-JP" altLang="en-US" dirty="0"/>
          </a:p>
        </p:txBody>
      </p:sp>
      <p:graphicFrame>
        <p:nvGraphicFramePr>
          <p:cNvPr id="6" name="コンテンツ プレースホルダー 5">
            <a:extLst>
              <a:ext uri="{FF2B5EF4-FFF2-40B4-BE49-F238E27FC236}">
                <a16:creationId xmlns:a16="http://schemas.microsoft.com/office/drawing/2014/main" id="{78A346A6-9D8F-6961-0361-2154C8E84302}"/>
              </a:ext>
            </a:extLst>
          </p:cNvPr>
          <p:cNvGraphicFramePr>
            <a:graphicFrameLocks noGrp="1"/>
          </p:cNvGraphicFramePr>
          <p:nvPr>
            <p:ph idx="1"/>
            <p:extLst>
              <p:ext uri="{D42A27DB-BD31-4B8C-83A1-F6EECF244321}">
                <p14:modId xmlns:p14="http://schemas.microsoft.com/office/powerpoint/2010/main" val="3642516372"/>
              </p:ext>
            </p:extLst>
          </p:nvPr>
        </p:nvGraphicFramePr>
        <p:xfrm>
          <a:off x="339115" y="1122673"/>
          <a:ext cx="11576050" cy="5157511"/>
        </p:xfrm>
        <a:graphic>
          <a:graphicData uri="http://schemas.openxmlformats.org/drawingml/2006/table">
            <a:tbl>
              <a:tblPr bandRow="1">
                <a:tableStyleId>{00A15C55-8517-42AA-B614-E9B94910E393}</a:tableStyleId>
              </a:tblPr>
              <a:tblGrid>
                <a:gridCol w="2315210">
                  <a:extLst>
                    <a:ext uri="{9D8B030D-6E8A-4147-A177-3AD203B41FA5}">
                      <a16:colId xmlns:a16="http://schemas.microsoft.com/office/drawing/2014/main" val="1792084508"/>
                    </a:ext>
                  </a:extLst>
                </a:gridCol>
                <a:gridCol w="2315210">
                  <a:extLst>
                    <a:ext uri="{9D8B030D-6E8A-4147-A177-3AD203B41FA5}">
                      <a16:colId xmlns:a16="http://schemas.microsoft.com/office/drawing/2014/main" val="652516685"/>
                    </a:ext>
                  </a:extLst>
                </a:gridCol>
                <a:gridCol w="2315210">
                  <a:extLst>
                    <a:ext uri="{9D8B030D-6E8A-4147-A177-3AD203B41FA5}">
                      <a16:colId xmlns:a16="http://schemas.microsoft.com/office/drawing/2014/main" val="1738392474"/>
                    </a:ext>
                  </a:extLst>
                </a:gridCol>
                <a:gridCol w="2315210">
                  <a:extLst>
                    <a:ext uri="{9D8B030D-6E8A-4147-A177-3AD203B41FA5}">
                      <a16:colId xmlns:a16="http://schemas.microsoft.com/office/drawing/2014/main" val="1280232793"/>
                    </a:ext>
                  </a:extLst>
                </a:gridCol>
                <a:gridCol w="2315210">
                  <a:extLst>
                    <a:ext uri="{9D8B030D-6E8A-4147-A177-3AD203B41FA5}">
                      <a16:colId xmlns:a16="http://schemas.microsoft.com/office/drawing/2014/main" val="444360800"/>
                    </a:ext>
                  </a:extLst>
                </a:gridCol>
              </a:tblGrid>
              <a:tr h="372404">
                <a:tc rowSpan="2">
                  <a:txBody>
                    <a:bodyPr/>
                    <a:lstStyle/>
                    <a:p>
                      <a:pPr algn="ctr"/>
                      <a:r>
                        <a:rPr kumimoji="1" lang="ja-JP" altLang="en-US" sz="2000" b="1" dirty="0">
                          <a:solidFill>
                            <a:schemeClr val="tx1"/>
                          </a:solidFill>
                        </a:rPr>
                        <a:t>性格特性</a:t>
                      </a:r>
                    </a:p>
                  </a:txBody>
                  <a:tcPr>
                    <a:solidFill>
                      <a:schemeClr val="accent2">
                        <a:lumMod val="60000"/>
                        <a:lumOff val="40000"/>
                      </a:schemeClr>
                    </a:solidFill>
                  </a:tcPr>
                </a:tc>
                <a:tc gridSpan="2">
                  <a:txBody>
                    <a:bodyPr/>
                    <a:lstStyle/>
                    <a:p>
                      <a:pPr algn="ctr"/>
                      <a:r>
                        <a:rPr kumimoji="1" lang="ja-JP" altLang="en-US" sz="2000" b="1" dirty="0">
                          <a:solidFill>
                            <a:schemeClr val="tx1"/>
                          </a:solidFill>
                        </a:rPr>
                        <a:t>グラフなし</a:t>
                      </a:r>
                    </a:p>
                  </a:txBody>
                  <a:tcPr>
                    <a:solidFill>
                      <a:schemeClr val="accent2">
                        <a:lumMod val="60000"/>
                        <a:lumOff val="40000"/>
                      </a:schemeClr>
                    </a:solidFill>
                  </a:tcPr>
                </a:tc>
                <a:tc hMerge="1">
                  <a:txBody>
                    <a:bodyPr/>
                    <a:lstStyle/>
                    <a:p>
                      <a:endParaRPr kumimoji="1" lang="ja-JP" altLang="en-US" dirty="0"/>
                    </a:p>
                  </a:txBody>
                  <a:tcPr>
                    <a:solidFill>
                      <a:srgbClr val="4472C4"/>
                    </a:solidFill>
                  </a:tcPr>
                </a:tc>
                <a:tc gridSpan="2">
                  <a:txBody>
                    <a:bodyPr/>
                    <a:lstStyle/>
                    <a:p>
                      <a:pPr algn="ctr"/>
                      <a:r>
                        <a:rPr kumimoji="1" lang="ja-JP" altLang="en-US" sz="2000" b="1" dirty="0">
                          <a:solidFill>
                            <a:schemeClr val="tx1"/>
                          </a:solidFill>
                        </a:rPr>
                        <a:t>グラフあり</a:t>
                      </a:r>
                    </a:p>
                  </a:txBody>
                  <a:tcPr>
                    <a:solidFill>
                      <a:schemeClr val="accent2">
                        <a:lumMod val="60000"/>
                        <a:lumOff val="40000"/>
                      </a:schemeClr>
                    </a:solidFill>
                  </a:tcPr>
                </a:tc>
                <a:tc hMerge="1">
                  <a:txBody>
                    <a:bodyPr/>
                    <a:lstStyle/>
                    <a:p>
                      <a:endParaRPr kumimoji="1" lang="ja-JP" altLang="en-US" dirty="0"/>
                    </a:p>
                  </a:txBody>
                  <a:tcPr>
                    <a:solidFill>
                      <a:srgbClr val="4472C4"/>
                    </a:solidFill>
                  </a:tcPr>
                </a:tc>
                <a:extLst>
                  <a:ext uri="{0D108BD9-81ED-4DB2-BD59-A6C34878D82A}">
                    <a16:rowId xmlns:a16="http://schemas.microsoft.com/office/drawing/2014/main" val="4238020774"/>
                  </a:ext>
                </a:extLst>
              </a:tr>
              <a:tr h="372404">
                <a:tc vMerge="1">
                  <a:txBody>
                    <a:bodyPr/>
                    <a:lstStyle/>
                    <a:p>
                      <a:endParaRPr kumimoji="1" lang="ja-JP" altLang="en-US"/>
                    </a:p>
                  </a:txBody>
                  <a:tcPr/>
                </a:tc>
                <a:tc>
                  <a:txBody>
                    <a:bodyPr/>
                    <a:lstStyle/>
                    <a:p>
                      <a:pPr algn="ctr"/>
                      <a:r>
                        <a:rPr kumimoji="1" lang="en-US" altLang="ja-JP" sz="2000" b="1" dirty="0">
                          <a:solidFill>
                            <a:schemeClr val="tx1"/>
                          </a:solidFill>
                        </a:rPr>
                        <a:t>JSON</a:t>
                      </a:r>
                      <a:endParaRPr kumimoji="1" lang="ja-JP" altLang="en-US" sz="2000" b="1" dirty="0">
                        <a:solidFill>
                          <a:schemeClr val="tx1"/>
                        </a:solidFill>
                      </a:endParaRPr>
                    </a:p>
                  </a:txBody>
                  <a:tcPr>
                    <a:solidFill>
                      <a:schemeClr val="accent2">
                        <a:lumMod val="60000"/>
                        <a:lumOff val="40000"/>
                      </a:schemeClr>
                    </a:solidFill>
                  </a:tcPr>
                </a:tc>
                <a:tc>
                  <a:txBody>
                    <a:bodyPr/>
                    <a:lstStyle/>
                    <a:p>
                      <a:pPr algn="ctr"/>
                      <a:r>
                        <a:rPr kumimoji="1" lang="en-US" altLang="ja-JP" sz="2000" b="1" dirty="0">
                          <a:solidFill>
                            <a:schemeClr val="tx1"/>
                          </a:solidFill>
                        </a:rPr>
                        <a:t>Story</a:t>
                      </a:r>
                      <a:endParaRPr kumimoji="1" lang="ja-JP" altLang="en-US" sz="2000" b="1" dirty="0">
                        <a:solidFill>
                          <a:schemeClr val="tx1"/>
                        </a:solidFill>
                      </a:endParaRPr>
                    </a:p>
                  </a:txBody>
                  <a:tcPr>
                    <a:solidFill>
                      <a:schemeClr val="accent2">
                        <a:lumMod val="60000"/>
                        <a:lumOff val="40000"/>
                      </a:schemeClr>
                    </a:solidFill>
                  </a:tcPr>
                </a:tc>
                <a:tc>
                  <a:txBody>
                    <a:bodyPr/>
                    <a:lstStyle/>
                    <a:p>
                      <a:pPr algn="ctr"/>
                      <a:r>
                        <a:rPr kumimoji="1" lang="en-US" altLang="ja-JP" sz="2000" b="1" dirty="0">
                          <a:solidFill>
                            <a:schemeClr val="tx1"/>
                          </a:solidFill>
                        </a:rPr>
                        <a:t>JSON</a:t>
                      </a:r>
                      <a:endParaRPr kumimoji="1" lang="ja-JP" altLang="en-US" sz="2000" b="1" dirty="0">
                        <a:solidFill>
                          <a:schemeClr val="tx1"/>
                        </a:solidFill>
                      </a:endParaRPr>
                    </a:p>
                  </a:txBody>
                  <a:tcPr>
                    <a:solidFill>
                      <a:schemeClr val="accent2">
                        <a:lumMod val="60000"/>
                        <a:lumOff val="40000"/>
                      </a:schemeClr>
                    </a:solidFill>
                  </a:tcPr>
                </a:tc>
                <a:tc>
                  <a:txBody>
                    <a:bodyPr/>
                    <a:lstStyle/>
                    <a:p>
                      <a:pPr algn="ctr"/>
                      <a:r>
                        <a:rPr kumimoji="1" lang="en-US" altLang="ja-JP" sz="2000" b="1" dirty="0">
                          <a:solidFill>
                            <a:schemeClr val="tx1"/>
                          </a:solidFill>
                        </a:rPr>
                        <a:t>Story</a:t>
                      </a:r>
                      <a:endParaRPr kumimoji="1" lang="ja-JP" altLang="en-US" sz="2000" b="1"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2276908293"/>
                  </a:ext>
                </a:extLst>
              </a:tr>
              <a:tr h="372404">
                <a:tc>
                  <a:txBody>
                    <a:bodyPr/>
                    <a:lstStyle/>
                    <a:p>
                      <a:pPr algn="ctr"/>
                      <a:r>
                        <a:rPr kumimoji="1" lang="ja-JP" altLang="en-US" sz="2000" dirty="0"/>
                        <a:t>普遍性</a:t>
                      </a:r>
                    </a:p>
                  </a:txBody>
                  <a:tcPr/>
                </a:tc>
                <a:tc>
                  <a:txBody>
                    <a:bodyPr/>
                    <a:lstStyle/>
                    <a:p>
                      <a:pPr algn="ctr"/>
                      <a:r>
                        <a:rPr kumimoji="1" lang="en-US" altLang="ja-JP" sz="2000" b="0" dirty="0">
                          <a:solidFill>
                            <a:schemeClr val="tx1"/>
                          </a:solidFill>
                        </a:rPr>
                        <a:t>0.6003</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0.4470</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0.5737</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0.3161</a:t>
                      </a:r>
                      <a:endParaRPr kumimoji="1" lang="ja-JP" altLang="en-US" sz="2000" b="0" dirty="0">
                        <a:solidFill>
                          <a:schemeClr val="tx1"/>
                        </a:solidFill>
                      </a:endParaRPr>
                    </a:p>
                  </a:txBody>
                  <a:tcPr/>
                </a:tc>
                <a:extLst>
                  <a:ext uri="{0D108BD9-81ED-4DB2-BD59-A6C34878D82A}">
                    <a16:rowId xmlns:a16="http://schemas.microsoft.com/office/drawing/2014/main" val="2499244701"/>
                  </a:ext>
                </a:extLst>
              </a:tr>
              <a:tr h="372404">
                <a:tc>
                  <a:txBody>
                    <a:bodyPr/>
                    <a:lstStyle/>
                    <a:p>
                      <a:pPr algn="ctr"/>
                      <a:r>
                        <a:rPr kumimoji="1" lang="ja-JP" altLang="en-US" sz="2000" dirty="0"/>
                        <a:t>博愛</a:t>
                      </a:r>
                    </a:p>
                  </a:txBody>
                  <a:tcPr/>
                </a:tc>
                <a:tc>
                  <a:txBody>
                    <a:bodyPr/>
                    <a:lstStyle/>
                    <a:p>
                      <a:pPr algn="ctr"/>
                      <a:r>
                        <a:rPr kumimoji="1" lang="en-US" altLang="ja-JP" sz="2000" b="1" dirty="0">
                          <a:solidFill>
                            <a:srgbClr val="0070C0"/>
                          </a:solidFill>
                        </a:rPr>
                        <a:t>1.3349</a:t>
                      </a:r>
                      <a:endParaRPr kumimoji="1" lang="ja-JP" altLang="en-US" sz="2000" b="1" dirty="0">
                        <a:solidFill>
                          <a:srgbClr val="0070C0"/>
                        </a:solidFill>
                      </a:endParaRPr>
                    </a:p>
                  </a:txBody>
                  <a:tcPr/>
                </a:tc>
                <a:tc>
                  <a:txBody>
                    <a:bodyPr/>
                    <a:lstStyle/>
                    <a:p>
                      <a:pPr algn="ctr"/>
                      <a:r>
                        <a:rPr kumimoji="1" lang="en-US" altLang="ja-JP" sz="2000" b="1" dirty="0">
                          <a:solidFill>
                            <a:srgbClr val="0070C0"/>
                          </a:solidFill>
                        </a:rPr>
                        <a:t>1.0042</a:t>
                      </a:r>
                      <a:endParaRPr kumimoji="1" lang="ja-JP" altLang="en-US" sz="2000" b="1" dirty="0">
                        <a:solidFill>
                          <a:srgbClr val="0070C0"/>
                        </a:solidFill>
                      </a:endParaRPr>
                    </a:p>
                  </a:txBody>
                  <a:tcPr/>
                </a:tc>
                <a:tc>
                  <a:txBody>
                    <a:bodyPr/>
                    <a:lstStyle/>
                    <a:p>
                      <a:pPr algn="ctr"/>
                      <a:r>
                        <a:rPr kumimoji="1" lang="en-US" altLang="ja-JP" sz="2000" b="1" dirty="0">
                          <a:solidFill>
                            <a:srgbClr val="0070C0"/>
                          </a:solidFill>
                        </a:rPr>
                        <a:t>1.3302</a:t>
                      </a:r>
                      <a:endParaRPr kumimoji="1" lang="ja-JP" altLang="en-US" sz="2000" b="1" dirty="0">
                        <a:solidFill>
                          <a:srgbClr val="0070C0"/>
                        </a:solidFill>
                      </a:endParaRPr>
                    </a:p>
                  </a:txBody>
                  <a:tcPr/>
                </a:tc>
                <a:tc>
                  <a:txBody>
                    <a:bodyPr/>
                    <a:lstStyle/>
                    <a:p>
                      <a:pPr algn="ctr"/>
                      <a:r>
                        <a:rPr kumimoji="1" lang="en-US" altLang="ja-JP" sz="2000" b="0" dirty="0">
                          <a:solidFill>
                            <a:schemeClr val="tx1"/>
                          </a:solidFill>
                        </a:rPr>
                        <a:t>0.4517</a:t>
                      </a:r>
                      <a:endParaRPr kumimoji="1" lang="ja-JP" altLang="en-US" sz="2000" b="0" dirty="0">
                        <a:solidFill>
                          <a:schemeClr val="tx1"/>
                        </a:solidFill>
                      </a:endParaRPr>
                    </a:p>
                  </a:txBody>
                  <a:tcPr/>
                </a:tc>
                <a:extLst>
                  <a:ext uri="{0D108BD9-81ED-4DB2-BD59-A6C34878D82A}">
                    <a16:rowId xmlns:a16="http://schemas.microsoft.com/office/drawing/2014/main" val="3252077466"/>
                  </a:ext>
                </a:extLst>
              </a:tr>
              <a:tr h="372404">
                <a:tc>
                  <a:txBody>
                    <a:bodyPr/>
                    <a:lstStyle/>
                    <a:p>
                      <a:pPr algn="ctr"/>
                      <a:r>
                        <a:rPr kumimoji="1" lang="ja-JP" altLang="en-US" sz="2000" dirty="0"/>
                        <a:t>協調</a:t>
                      </a:r>
                    </a:p>
                  </a:txBody>
                  <a:tcPr/>
                </a:tc>
                <a:tc>
                  <a:txBody>
                    <a:bodyPr/>
                    <a:lstStyle/>
                    <a:p>
                      <a:pPr algn="ctr"/>
                      <a:r>
                        <a:rPr kumimoji="1" lang="en-US" altLang="ja-JP" sz="2000" b="0" dirty="0">
                          <a:solidFill>
                            <a:schemeClr val="tx1"/>
                          </a:solidFill>
                        </a:rPr>
                        <a:t>0.7133</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0.4998</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0.7567</a:t>
                      </a:r>
                      <a:endParaRPr kumimoji="1" lang="ja-JP" altLang="en-US" sz="2000" b="0" dirty="0">
                        <a:solidFill>
                          <a:schemeClr val="tx1"/>
                        </a:solidFill>
                      </a:endParaRPr>
                    </a:p>
                  </a:txBody>
                  <a:tcPr/>
                </a:tc>
                <a:tc>
                  <a:txBody>
                    <a:bodyPr/>
                    <a:lstStyle/>
                    <a:p>
                      <a:pPr algn="ctr"/>
                      <a:r>
                        <a:rPr kumimoji="1" lang="en-US" altLang="ja-JP" sz="2000" b="1" dirty="0">
                          <a:solidFill>
                            <a:srgbClr val="0070C0"/>
                          </a:solidFill>
                        </a:rPr>
                        <a:t>0.9595</a:t>
                      </a:r>
                      <a:endParaRPr kumimoji="1" lang="ja-JP" altLang="en-US" sz="2000" b="1" dirty="0">
                        <a:solidFill>
                          <a:srgbClr val="0070C0"/>
                        </a:solidFill>
                      </a:endParaRPr>
                    </a:p>
                  </a:txBody>
                  <a:tcPr/>
                </a:tc>
                <a:extLst>
                  <a:ext uri="{0D108BD9-81ED-4DB2-BD59-A6C34878D82A}">
                    <a16:rowId xmlns:a16="http://schemas.microsoft.com/office/drawing/2014/main" val="4216002777"/>
                  </a:ext>
                </a:extLst>
              </a:tr>
              <a:tr h="372404">
                <a:tc>
                  <a:txBody>
                    <a:bodyPr/>
                    <a:lstStyle/>
                    <a:p>
                      <a:pPr algn="ctr"/>
                      <a:r>
                        <a:rPr kumimoji="1" lang="ja-JP" altLang="en-US" sz="2000" dirty="0"/>
                        <a:t>伝統</a:t>
                      </a:r>
                    </a:p>
                  </a:txBody>
                  <a:tcPr/>
                </a:tc>
                <a:tc>
                  <a:txBody>
                    <a:bodyPr/>
                    <a:lstStyle/>
                    <a:p>
                      <a:pPr algn="ctr"/>
                      <a:r>
                        <a:rPr kumimoji="1" lang="en-US" altLang="ja-JP" sz="2000" b="0" dirty="0">
                          <a:solidFill>
                            <a:schemeClr val="tx1"/>
                          </a:solidFill>
                        </a:rPr>
                        <a:t>0.4726</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0.3475</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0.5070</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0.3505</a:t>
                      </a:r>
                      <a:endParaRPr kumimoji="1" lang="ja-JP" altLang="en-US" sz="2000" b="0" dirty="0">
                        <a:solidFill>
                          <a:schemeClr val="tx1"/>
                        </a:solidFill>
                      </a:endParaRPr>
                    </a:p>
                  </a:txBody>
                  <a:tcPr/>
                </a:tc>
                <a:extLst>
                  <a:ext uri="{0D108BD9-81ED-4DB2-BD59-A6C34878D82A}">
                    <a16:rowId xmlns:a16="http://schemas.microsoft.com/office/drawing/2014/main" val="1983970169"/>
                  </a:ext>
                </a:extLst>
              </a:tr>
              <a:tr h="372404">
                <a:tc>
                  <a:txBody>
                    <a:bodyPr/>
                    <a:lstStyle/>
                    <a:p>
                      <a:pPr algn="ctr"/>
                      <a:r>
                        <a:rPr kumimoji="1" lang="ja-JP" altLang="en-US" sz="2000" dirty="0"/>
                        <a:t>安全</a:t>
                      </a:r>
                    </a:p>
                  </a:txBody>
                  <a:tcPr/>
                </a:tc>
                <a:tc>
                  <a:txBody>
                    <a:bodyPr/>
                    <a:lstStyle/>
                    <a:p>
                      <a:pPr algn="ctr"/>
                      <a:r>
                        <a:rPr kumimoji="1" lang="en-US" altLang="ja-JP" sz="2000" b="0" dirty="0">
                          <a:solidFill>
                            <a:schemeClr val="tx1"/>
                          </a:solidFill>
                        </a:rPr>
                        <a:t>0.6088</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0.4418</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0.6334</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0.4949</a:t>
                      </a:r>
                      <a:endParaRPr kumimoji="1" lang="ja-JP" altLang="en-US" sz="2000" b="0" dirty="0">
                        <a:solidFill>
                          <a:schemeClr val="tx1"/>
                        </a:solidFill>
                      </a:endParaRPr>
                    </a:p>
                  </a:txBody>
                  <a:tcPr/>
                </a:tc>
                <a:extLst>
                  <a:ext uri="{0D108BD9-81ED-4DB2-BD59-A6C34878D82A}">
                    <a16:rowId xmlns:a16="http://schemas.microsoft.com/office/drawing/2014/main" val="2927338671"/>
                  </a:ext>
                </a:extLst>
              </a:tr>
              <a:tr h="372404">
                <a:tc>
                  <a:txBody>
                    <a:bodyPr/>
                    <a:lstStyle/>
                    <a:p>
                      <a:pPr algn="ctr"/>
                      <a:r>
                        <a:rPr kumimoji="1" lang="ja-JP" altLang="en-US" sz="2000" dirty="0"/>
                        <a:t>権力</a:t>
                      </a:r>
                    </a:p>
                  </a:txBody>
                  <a:tcPr/>
                </a:tc>
                <a:tc>
                  <a:txBody>
                    <a:bodyPr/>
                    <a:lstStyle/>
                    <a:p>
                      <a:pPr algn="ctr"/>
                      <a:r>
                        <a:rPr kumimoji="1" lang="en-US" altLang="ja-JP" sz="2000" b="0" dirty="0">
                          <a:solidFill>
                            <a:schemeClr val="tx1"/>
                          </a:solidFill>
                        </a:rPr>
                        <a:t>0.9388</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0.6943</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0.8529</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0.6925</a:t>
                      </a:r>
                      <a:endParaRPr kumimoji="1" lang="ja-JP" altLang="en-US" sz="2000" b="0" dirty="0">
                        <a:solidFill>
                          <a:schemeClr val="tx1"/>
                        </a:solidFill>
                      </a:endParaRPr>
                    </a:p>
                  </a:txBody>
                  <a:tcPr/>
                </a:tc>
                <a:extLst>
                  <a:ext uri="{0D108BD9-81ED-4DB2-BD59-A6C34878D82A}">
                    <a16:rowId xmlns:a16="http://schemas.microsoft.com/office/drawing/2014/main" val="1102426785"/>
                  </a:ext>
                </a:extLst>
              </a:tr>
              <a:tr h="372404">
                <a:tc>
                  <a:txBody>
                    <a:bodyPr/>
                    <a:lstStyle/>
                    <a:p>
                      <a:pPr algn="ctr"/>
                      <a:r>
                        <a:rPr kumimoji="1" lang="ja-JP" altLang="en-US" sz="2000" dirty="0"/>
                        <a:t>達成</a:t>
                      </a:r>
                    </a:p>
                  </a:txBody>
                  <a:tcPr/>
                </a:tc>
                <a:tc>
                  <a:txBody>
                    <a:bodyPr/>
                    <a:lstStyle/>
                    <a:p>
                      <a:pPr algn="ctr"/>
                      <a:r>
                        <a:rPr kumimoji="1" lang="en-US" altLang="ja-JP" sz="2000" b="0" dirty="0">
                          <a:solidFill>
                            <a:schemeClr val="tx1"/>
                          </a:solidFill>
                        </a:rPr>
                        <a:t>0.9724</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0.7323</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1.1986</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0.8427</a:t>
                      </a:r>
                      <a:endParaRPr kumimoji="1" lang="ja-JP" altLang="en-US" sz="2000" b="0" dirty="0">
                        <a:solidFill>
                          <a:schemeClr val="tx1"/>
                        </a:solidFill>
                      </a:endParaRPr>
                    </a:p>
                  </a:txBody>
                  <a:tcPr/>
                </a:tc>
                <a:extLst>
                  <a:ext uri="{0D108BD9-81ED-4DB2-BD59-A6C34878D82A}">
                    <a16:rowId xmlns:a16="http://schemas.microsoft.com/office/drawing/2014/main" val="3300331490"/>
                  </a:ext>
                </a:extLst>
              </a:tr>
              <a:tr h="402631">
                <a:tc>
                  <a:txBody>
                    <a:bodyPr/>
                    <a:lstStyle/>
                    <a:p>
                      <a:pPr algn="ctr"/>
                      <a:r>
                        <a:rPr kumimoji="1" lang="ja-JP" altLang="en-US" sz="2000" dirty="0"/>
                        <a:t>快楽主義</a:t>
                      </a:r>
                    </a:p>
                  </a:txBody>
                  <a:tcPr/>
                </a:tc>
                <a:tc>
                  <a:txBody>
                    <a:bodyPr/>
                    <a:lstStyle/>
                    <a:p>
                      <a:pPr algn="ctr"/>
                      <a:r>
                        <a:rPr kumimoji="1" lang="en-US" altLang="ja-JP" sz="2000" b="0" dirty="0">
                          <a:solidFill>
                            <a:schemeClr val="tx1"/>
                          </a:solidFill>
                        </a:rPr>
                        <a:t>0.6655</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0.4510</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0.6290</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0.5095</a:t>
                      </a:r>
                      <a:endParaRPr kumimoji="1" lang="ja-JP" altLang="en-US" sz="2000" b="0" dirty="0">
                        <a:solidFill>
                          <a:schemeClr val="tx1"/>
                        </a:solidFill>
                      </a:endParaRPr>
                    </a:p>
                  </a:txBody>
                  <a:tcPr/>
                </a:tc>
                <a:extLst>
                  <a:ext uri="{0D108BD9-81ED-4DB2-BD59-A6C34878D82A}">
                    <a16:rowId xmlns:a16="http://schemas.microsoft.com/office/drawing/2014/main" val="2514303048"/>
                  </a:ext>
                </a:extLst>
              </a:tr>
              <a:tr h="372404">
                <a:tc>
                  <a:txBody>
                    <a:bodyPr/>
                    <a:lstStyle/>
                    <a:p>
                      <a:pPr algn="ctr"/>
                      <a:r>
                        <a:rPr kumimoji="1" lang="ja-JP" altLang="en-US" sz="2000" dirty="0"/>
                        <a:t>刺激</a:t>
                      </a:r>
                    </a:p>
                  </a:txBody>
                  <a:tcPr/>
                </a:tc>
                <a:tc>
                  <a:txBody>
                    <a:bodyPr/>
                    <a:lstStyle/>
                    <a:p>
                      <a:pPr algn="ctr"/>
                      <a:r>
                        <a:rPr kumimoji="1" lang="en-US" altLang="ja-JP" sz="2000" b="0" dirty="0">
                          <a:solidFill>
                            <a:schemeClr val="tx1"/>
                          </a:solidFill>
                        </a:rPr>
                        <a:t>0.7429</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0.5968</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0.8935</a:t>
                      </a:r>
                      <a:endParaRPr kumimoji="1" lang="ja-JP" altLang="en-US" sz="2000" b="0" dirty="0">
                        <a:solidFill>
                          <a:schemeClr val="tx1"/>
                        </a:solidFill>
                      </a:endParaRPr>
                    </a:p>
                  </a:txBody>
                  <a:tcPr/>
                </a:tc>
                <a:tc>
                  <a:txBody>
                    <a:bodyPr/>
                    <a:lstStyle/>
                    <a:p>
                      <a:pPr algn="ctr"/>
                      <a:r>
                        <a:rPr kumimoji="1" lang="en-US" altLang="ja-JP" sz="2000" b="0" dirty="0">
                          <a:solidFill>
                            <a:schemeClr val="tx1"/>
                          </a:solidFill>
                        </a:rPr>
                        <a:t>0.6965</a:t>
                      </a:r>
                      <a:endParaRPr kumimoji="1" lang="ja-JP" altLang="en-US" sz="2000" b="0" dirty="0">
                        <a:solidFill>
                          <a:schemeClr val="tx1"/>
                        </a:solidFill>
                      </a:endParaRPr>
                    </a:p>
                  </a:txBody>
                  <a:tcPr/>
                </a:tc>
                <a:extLst>
                  <a:ext uri="{0D108BD9-81ED-4DB2-BD59-A6C34878D82A}">
                    <a16:rowId xmlns:a16="http://schemas.microsoft.com/office/drawing/2014/main" val="773598296"/>
                  </a:ext>
                </a:extLst>
              </a:tr>
              <a:tr h="372404">
                <a:tc>
                  <a:txBody>
                    <a:bodyPr/>
                    <a:lstStyle/>
                    <a:p>
                      <a:pPr algn="ctr"/>
                      <a:r>
                        <a:rPr kumimoji="1" lang="ja-JP" altLang="en-US" sz="2000" dirty="0"/>
                        <a:t>自己決定</a:t>
                      </a:r>
                    </a:p>
                  </a:txBody>
                  <a:tcPr/>
                </a:tc>
                <a:tc>
                  <a:txBody>
                    <a:bodyPr/>
                    <a:lstStyle/>
                    <a:p>
                      <a:pPr algn="ctr"/>
                      <a:r>
                        <a:rPr kumimoji="1" lang="en-US" altLang="ja-JP" sz="2000" b="1" dirty="0">
                          <a:solidFill>
                            <a:srgbClr val="FF0000"/>
                          </a:solidFill>
                        </a:rPr>
                        <a:t>0.4570</a:t>
                      </a:r>
                      <a:endParaRPr kumimoji="1" lang="ja-JP" altLang="en-US" sz="2000" b="1" dirty="0">
                        <a:solidFill>
                          <a:srgbClr val="FF0000"/>
                        </a:solidFill>
                      </a:endParaRPr>
                    </a:p>
                  </a:txBody>
                  <a:tcPr/>
                </a:tc>
                <a:tc>
                  <a:txBody>
                    <a:bodyPr/>
                    <a:lstStyle/>
                    <a:p>
                      <a:pPr algn="ctr"/>
                      <a:r>
                        <a:rPr kumimoji="1" lang="en-US" altLang="ja-JP" sz="2000" b="1" dirty="0">
                          <a:solidFill>
                            <a:srgbClr val="FF0000"/>
                          </a:solidFill>
                        </a:rPr>
                        <a:t>0.2787</a:t>
                      </a:r>
                      <a:endParaRPr kumimoji="1" lang="ja-JP" altLang="en-US" sz="2000" b="1" dirty="0">
                        <a:solidFill>
                          <a:srgbClr val="FF0000"/>
                        </a:solidFill>
                      </a:endParaRPr>
                    </a:p>
                  </a:txBody>
                  <a:tcPr/>
                </a:tc>
                <a:tc>
                  <a:txBody>
                    <a:bodyPr/>
                    <a:lstStyle/>
                    <a:p>
                      <a:pPr algn="ctr"/>
                      <a:r>
                        <a:rPr kumimoji="1" lang="en-US" altLang="ja-JP" sz="2000" b="1" dirty="0">
                          <a:solidFill>
                            <a:srgbClr val="FF0000"/>
                          </a:solidFill>
                        </a:rPr>
                        <a:t>0.4932</a:t>
                      </a:r>
                      <a:endParaRPr kumimoji="1" lang="ja-JP" altLang="en-US" sz="2000" b="1" dirty="0">
                        <a:solidFill>
                          <a:srgbClr val="FF0000"/>
                        </a:solidFill>
                      </a:endParaRPr>
                    </a:p>
                  </a:txBody>
                  <a:tcPr/>
                </a:tc>
                <a:tc>
                  <a:txBody>
                    <a:bodyPr/>
                    <a:lstStyle/>
                    <a:p>
                      <a:pPr algn="ctr"/>
                      <a:r>
                        <a:rPr kumimoji="1" lang="en-US" altLang="ja-JP" sz="2000" b="1" dirty="0">
                          <a:solidFill>
                            <a:srgbClr val="FF0000"/>
                          </a:solidFill>
                        </a:rPr>
                        <a:t>0.3062</a:t>
                      </a:r>
                      <a:endParaRPr kumimoji="1" lang="ja-JP" altLang="en-US" sz="2000" b="1" dirty="0">
                        <a:solidFill>
                          <a:srgbClr val="FF0000"/>
                        </a:solidFill>
                      </a:endParaRPr>
                    </a:p>
                  </a:txBody>
                  <a:tcPr/>
                </a:tc>
                <a:extLst>
                  <a:ext uri="{0D108BD9-81ED-4DB2-BD59-A6C34878D82A}">
                    <a16:rowId xmlns:a16="http://schemas.microsoft.com/office/drawing/2014/main" val="2669884574"/>
                  </a:ext>
                </a:extLst>
              </a:tr>
              <a:tr h="372404">
                <a:tc>
                  <a:txBody>
                    <a:bodyPr/>
                    <a:lstStyle/>
                    <a:p>
                      <a:pPr algn="ctr"/>
                      <a:r>
                        <a:rPr kumimoji="1" lang="ja-JP" altLang="en-US" sz="2000" dirty="0">
                          <a:solidFill>
                            <a:schemeClr val="tx1"/>
                          </a:solidFill>
                        </a:rPr>
                        <a:t>平均</a:t>
                      </a:r>
                    </a:p>
                  </a:txBody>
                  <a:tcPr>
                    <a:solidFill>
                      <a:schemeClr val="accent2">
                        <a:lumMod val="60000"/>
                        <a:lumOff val="40000"/>
                      </a:schemeClr>
                    </a:solidFill>
                  </a:tcPr>
                </a:tc>
                <a:tc>
                  <a:txBody>
                    <a:bodyPr/>
                    <a:lstStyle/>
                    <a:p>
                      <a:pPr algn="ctr"/>
                      <a:r>
                        <a:rPr kumimoji="1" lang="en-US" altLang="ja-JP" sz="2000" dirty="0">
                          <a:solidFill>
                            <a:schemeClr val="tx1"/>
                          </a:solidFill>
                        </a:rPr>
                        <a:t>0.7506</a:t>
                      </a:r>
                      <a:endParaRPr kumimoji="1" lang="ja-JP" altLang="en-US" sz="2000" dirty="0">
                        <a:solidFill>
                          <a:schemeClr val="tx1"/>
                        </a:solidFill>
                      </a:endParaRPr>
                    </a:p>
                  </a:txBody>
                  <a:tcPr>
                    <a:solidFill>
                      <a:schemeClr val="accent2">
                        <a:lumMod val="60000"/>
                        <a:lumOff val="40000"/>
                      </a:schemeClr>
                    </a:solidFill>
                  </a:tcPr>
                </a:tc>
                <a:tc>
                  <a:txBody>
                    <a:bodyPr/>
                    <a:lstStyle/>
                    <a:p>
                      <a:pPr algn="ctr"/>
                      <a:r>
                        <a:rPr kumimoji="1" lang="en-US" altLang="ja-JP" sz="2000" dirty="0">
                          <a:solidFill>
                            <a:schemeClr val="tx1"/>
                          </a:solidFill>
                        </a:rPr>
                        <a:t>0.5493</a:t>
                      </a:r>
                      <a:endParaRPr kumimoji="1" lang="ja-JP" altLang="en-US" sz="2000" dirty="0">
                        <a:solidFill>
                          <a:schemeClr val="tx1"/>
                        </a:solidFill>
                      </a:endParaRPr>
                    </a:p>
                  </a:txBody>
                  <a:tcPr>
                    <a:solidFill>
                      <a:schemeClr val="accent2">
                        <a:lumMod val="60000"/>
                        <a:lumOff val="40000"/>
                      </a:schemeClr>
                    </a:solidFill>
                  </a:tcPr>
                </a:tc>
                <a:tc>
                  <a:txBody>
                    <a:bodyPr/>
                    <a:lstStyle/>
                    <a:p>
                      <a:pPr algn="ctr"/>
                      <a:r>
                        <a:rPr kumimoji="1" lang="en-US" altLang="ja-JP" sz="2000" dirty="0">
                          <a:solidFill>
                            <a:schemeClr val="tx1"/>
                          </a:solidFill>
                        </a:rPr>
                        <a:t>0.7868</a:t>
                      </a:r>
                      <a:endParaRPr kumimoji="1" lang="ja-JP" altLang="en-US" sz="2000" dirty="0">
                        <a:solidFill>
                          <a:schemeClr val="tx1"/>
                        </a:solidFill>
                      </a:endParaRPr>
                    </a:p>
                  </a:txBody>
                  <a:tcPr>
                    <a:solidFill>
                      <a:schemeClr val="accent2">
                        <a:lumMod val="60000"/>
                        <a:lumOff val="40000"/>
                      </a:schemeClr>
                    </a:solidFill>
                  </a:tcPr>
                </a:tc>
                <a:tc>
                  <a:txBody>
                    <a:bodyPr/>
                    <a:lstStyle/>
                    <a:p>
                      <a:pPr algn="ctr"/>
                      <a:r>
                        <a:rPr kumimoji="1" lang="en-US" altLang="ja-JP" sz="2000" dirty="0">
                          <a:solidFill>
                            <a:schemeClr val="tx1"/>
                          </a:solidFill>
                        </a:rPr>
                        <a:t>0.5858</a:t>
                      </a:r>
                      <a:endParaRPr kumimoji="1" lang="ja-JP" altLang="en-US" sz="2000"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4054892167"/>
                  </a:ext>
                </a:extLst>
              </a:tr>
            </a:tbl>
          </a:graphicData>
        </a:graphic>
      </p:graphicFrame>
      <p:sp>
        <p:nvSpPr>
          <p:cNvPr id="5" name="テキスト ボックス 4">
            <a:extLst>
              <a:ext uri="{FF2B5EF4-FFF2-40B4-BE49-F238E27FC236}">
                <a16:creationId xmlns:a16="http://schemas.microsoft.com/office/drawing/2014/main" id="{1E087B15-E1B0-759A-8D22-E7A8C3E1B34D}"/>
              </a:ext>
            </a:extLst>
          </p:cNvPr>
          <p:cNvSpPr txBox="1"/>
          <p:nvPr/>
        </p:nvSpPr>
        <p:spPr>
          <a:xfrm>
            <a:off x="3304674" y="6248036"/>
            <a:ext cx="5582652" cy="369332"/>
          </a:xfrm>
          <a:prstGeom prst="rect">
            <a:avLst/>
          </a:prstGeom>
          <a:noFill/>
        </p:spPr>
        <p:txBody>
          <a:bodyPr wrap="square" rtlCol="0">
            <a:spAutoFit/>
          </a:bodyPr>
          <a:lstStyle/>
          <a:p>
            <a:pPr algn="ctr"/>
            <a:r>
              <a:rPr lang="ja-JP" altLang="en-US" dirty="0"/>
              <a:t>各価値観ごとの平均絶対誤差</a:t>
            </a:r>
            <a:endParaRPr kumimoji="1" lang="ja-JP" altLang="en-US" dirty="0"/>
          </a:p>
        </p:txBody>
      </p:sp>
    </p:spTree>
    <p:extLst>
      <p:ext uri="{BB962C8B-B14F-4D97-AF65-F5344CB8AC3E}">
        <p14:creationId xmlns:p14="http://schemas.microsoft.com/office/powerpoint/2010/main" val="446970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4720F5-3B24-E9DA-0F66-3AF9E9E435CB}"/>
              </a:ext>
            </a:extLst>
          </p:cNvPr>
          <p:cNvSpPr>
            <a:spLocks noGrp="1"/>
          </p:cNvSpPr>
          <p:nvPr>
            <p:ph type="title"/>
          </p:nvPr>
        </p:nvSpPr>
        <p:spPr/>
        <p:txBody>
          <a:bodyPr/>
          <a:lstStyle/>
          <a:p>
            <a:r>
              <a:rPr kumimoji="1" lang="ja-JP" altLang="en-US" dirty="0"/>
              <a:t>実験結果まとめ</a:t>
            </a:r>
          </a:p>
        </p:txBody>
      </p:sp>
      <p:sp>
        <p:nvSpPr>
          <p:cNvPr id="3" name="コンテンツ プレースホルダー 2">
            <a:extLst>
              <a:ext uri="{FF2B5EF4-FFF2-40B4-BE49-F238E27FC236}">
                <a16:creationId xmlns:a16="http://schemas.microsoft.com/office/drawing/2014/main" id="{B31FA0FB-BABA-C88D-E581-2B0FD94B634B}"/>
              </a:ext>
            </a:extLst>
          </p:cNvPr>
          <p:cNvSpPr>
            <a:spLocks noGrp="1"/>
          </p:cNvSpPr>
          <p:nvPr>
            <p:ph idx="1"/>
          </p:nvPr>
        </p:nvSpPr>
        <p:spPr/>
        <p:txBody>
          <a:bodyPr/>
          <a:lstStyle/>
          <a:p>
            <a:pPr>
              <a:lnSpc>
                <a:spcPct val="100000"/>
              </a:lnSpc>
            </a:pPr>
            <a:r>
              <a:rPr lang="ja-JP" altLang="en-US" dirty="0"/>
              <a:t>人生体験を与えることで、性格や価値観を</a:t>
            </a:r>
            <a:br>
              <a:rPr lang="en-US" altLang="ja-JP" dirty="0"/>
            </a:br>
            <a:r>
              <a:rPr lang="ja-JP" altLang="en-US" dirty="0"/>
              <a:t>再現可能であることを確認</a:t>
            </a:r>
            <a:endParaRPr lang="en-US" altLang="ja-JP" dirty="0"/>
          </a:p>
          <a:p>
            <a:pPr lvl="1">
              <a:lnSpc>
                <a:spcPct val="100000"/>
              </a:lnSpc>
            </a:pPr>
            <a:r>
              <a:rPr lang="en-US" altLang="ja-JP" dirty="0"/>
              <a:t>LLM</a:t>
            </a:r>
            <a:r>
              <a:rPr lang="ja-JP" altLang="en-US" dirty="0"/>
              <a:t>と参加者の間に強い相関</a:t>
            </a:r>
            <a:endParaRPr lang="en-US" altLang="ja-JP" dirty="0"/>
          </a:p>
          <a:p>
            <a:pPr lvl="1"/>
            <a:r>
              <a:rPr kumimoji="1" lang="ja-JP" altLang="en-US" dirty="0"/>
              <a:t>事前にペルソナを定義する既存手法に比べて、</a:t>
            </a:r>
            <a:br>
              <a:rPr kumimoji="1" lang="en-US" altLang="ja-JP" dirty="0"/>
            </a:br>
            <a:r>
              <a:rPr lang="ja-JP" altLang="en-US" dirty="0"/>
              <a:t>柔軟性が高い</a:t>
            </a:r>
            <a:endParaRPr lang="en-US" altLang="ja-JP" dirty="0"/>
          </a:p>
          <a:p>
            <a:pPr lvl="2"/>
            <a:r>
              <a:rPr kumimoji="1" lang="ja-JP" altLang="en-US" dirty="0"/>
              <a:t>ユーザーとの対話を通した動的なペルソナ構築</a:t>
            </a:r>
            <a:endParaRPr kumimoji="1" lang="en-US" altLang="ja-JP" dirty="0"/>
          </a:p>
        </p:txBody>
      </p:sp>
    </p:spTree>
    <p:extLst>
      <p:ext uri="{BB962C8B-B14F-4D97-AF65-F5344CB8AC3E}">
        <p14:creationId xmlns:p14="http://schemas.microsoft.com/office/powerpoint/2010/main" val="268792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A27642-25EC-B35B-DFE0-A3336474E12B}"/>
              </a:ext>
            </a:extLst>
          </p:cNvPr>
          <p:cNvSpPr>
            <a:spLocks noGrp="1"/>
          </p:cNvSpPr>
          <p:nvPr>
            <p:ph type="title"/>
          </p:nvPr>
        </p:nvSpPr>
        <p:spPr/>
        <p:txBody>
          <a:bodyPr/>
          <a:lstStyle/>
          <a:p>
            <a:r>
              <a:rPr kumimoji="1" lang="ja-JP" altLang="en-US" dirty="0"/>
              <a:t>実験結果まとめ</a:t>
            </a:r>
          </a:p>
        </p:txBody>
      </p:sp>
      <p:sp>
        <p:nvSpPr>
          <p:cNvPr id="3" name="コンテンツ プレースホルダー 2">
            <a:extLst>
              <a:ext uri="{FF2B5EF4-FFF2-40B4-BE49-F238E27FC236}">
                <a16:creationId xmlns:a16="http://schemas.microsoft.com/office/drawing/2014/main" id="{AA534970-8D89-E274-E083-FB709DE9E901}"/>
              </a:ext>
            </a:extLst>
          </p:cNvPr>
          <p:cNvSpPr>
            <a:spLocks noGrp="1"/>
          </p:cNvSpPr>
          <p:nvPr>
            <p:ph idx="1"/>
          </p:nvPr>
        </p:nvSpPr>
        <p:spPr/>
        <p:txBody>
          <a:bodyPr/>
          <a:lstStyle/>
          <a:p>
            <a:pPr>
              <a:lnSpc>
                <a:spcPct val="100000"/>
              </a:lnSpc>
            </a:pPr>
            <a:r>
              <a:rPr kumimoji="1" lang="ja-JP" altLang="en-US" dirty="0"/>
              <a:t>特に、性格特性における「協調性」や、</a:t>
            </a:r>
            <a:br>
              <a:rPr kumimoji="1" lang="en-US" altLang="ja-JP" dirty="0"/>
            </a:br>
            <a:r>
              <a:rPr kumimoji="1" lang="ja-JP" altLang="en-US" dirty="0"/>
              <a:t>「</a:t>
            </a:r>
            <a:r>
              <a:rPr lang="ja-JP" altLang="en-US" dirty="0"/>
              <a:t>自己決定」</a:t>
            </a:r>
            <a:r>
              <a:rPr kumimoji="1" lang="ja-JP" altLang="en-US" dirty="0"/>
              <a:t>の価値観を最も再現</a:t>
            </a:r>
            <a:endParaRPr kumimoji="1" lang="en-US" altLang="ja-JP" dirty="0"/>
          </a:p>
          <a:p>
            <a:pPr>
              <a:lnSpc>
                <a:spcPct val="100000"/>
              </a:lnSpc>
            </a:pPr>
            <a:r>
              <a:rPr lang="ja-JP" altLang="en-US" dirty="0"/>
              <a:t>一方で、「神経症傾向」の特性や「博愛」の価値観は</a:t>
            </a:r>
            <a:br>
              <a:rPr lang="en-US" altLang="ja-JP" dirty="0"/>
            </a:br>
            <a:r>
              <a:rPr lang="ja-JP" altLang="en-US" dirty="0"/>
              <a:t>再現度が低い</a:t>
            </a:r>
            <a:endParaRPr lang="en-US" altLang="ja-JP" dirty="0"/>
          </a:p>
          <a:p>
            <a:pPr lvl="1">
              <a:lnSpc>
                <a:spcPct val="100000"/>
              </a:lnSpc>
            </a:pPr>
            <a:r>
              <a:rPr lang="ja-JP" altLang="en-US" dirty="0"/>
              <a:t>なぜこのような違いが生まれるのか</a:t>
            </a:r>
            <a:endParaRPr lang="en-US" altLang="ja-JP" dirty="0"/>
          </a:p>
        </p:txBody>
      </p:sp>
    </p:spTree>
    <p:extLst>
      <p:ext uri="{BB962C8B-B14F-4D97-AF65-F5344CB8AC3E}">
        <p14:creationId xmlns:p14="http://schemas.microsoft.com/office/powerpoint/2010/main" val="1150727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2|0.1|0.6"/>
</p:tagLst>
</file>

<file path=ppt/theme/theme1.xml><?xml version="1.0" encoding="utf-8"?>
<a:theme xmlns:a="http://schemas.openxmlformats.org/drawingml/2006/main" name="スライドテンプレート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ba0f049-8b39-4824-86b1-9f396ac781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3C3CF217828E6042B0093F254B016BAC" ma:contentTypeVersion="8" ma:contentTypeDescription="新しいドキュメントを作成します。" ma:contentTypeScope="" ma:versionID="356846234a5a745d4d4fa178ae67ce0c">
  <xsd:schema xmlns:xsd="http://www.w3.org/2001/XMLSchema" xmlns:xs="http://www.w3.org/2001/XMLSchema" xmlns:p="http://schemas.microsoft.com/office/2006/metadata/properties" xmlns:ns3="eba0f049-8b39-4824-86b1-9f396ac78175" targetNamespace="http://schemas.microsoft.com/office/2006/metadata/properties" ma:root="true" ma:fieldsID="51a02b64f5a98bb4f00377f85fe5b238" ns3:_="">
    <xsd:import namespace="eba0f049-8b39-4824-86b1-9f396ac7817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0f049-8b39-4824-86b1-9f396ac781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66F44-862D-4F97-953A-712A235B3838}">
  <ds:schemaRefs>
    <ds:schemaRef ds:uri="http://schemas.microsoft.com/sharepoint/v3/contenttype/forms"/>
  </ds:schemaRefs>
</ds:datastoreItem>
</file>

<file path=customXml/itemProps2.xml><?xml version="1.0" encoding="utf-8"?>
<ds:datastoreItem xmlns:ds="http://schemas.openxmlformats.org/officeDocument/2006/customXml" ds:itemID="{BEB94748-61F7-4FB2-8036-61CEED3398EC}">
  <ds:schemaRefs>
    <ds:schemaRef ds:uri="http://schemas.openxmlformats.org/package/2006/metadata/core-properties"/>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eba0f049-8b39-4824-86b1-9f396ac78175"/>
    <ds:schemaRef ds:uri="http://www.w3.org/XML/1998/namespace"/>
    <ds:schemaRef ds:uri="http://purl.org/dc/dcmitype/"/>
  </ds:schemaRefs>
</ds:datastoreItem>
</file>

<file path=customXml/itemProps3.xml><?xml version="1.0" encoding="utf-8"?>
<ds:datastoreItem xmlns:ds="http://schemas.openxmlformats.org/officeDocument/2006/customXml" ds:itemID="{746598E4-6FB2-483F-8790-8C31838AD2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a0f049-8b39-4824-86b1-9f396ac781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スライドテンプレートv3</Template>
  <TotalTime>25658</TotalTime>
  <Words>1343</Words>
  <Application>Microsoft Office PowerPoint</Application>
  <PresentationFormat>ワイド画面</PresentationFormat>
  <Paragraphs>270</Paragraphs>
  <Slides>15</Slides>
  <Notes>15</Notes>
  <HiddenSlides>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Meiryo UI</vt:lpstr>
      <vt:lpstr>游ゴシック</vt:lpstr>
      <vt:lpstr>Arial</vt:lpstr>
      <vt:lpstr>スライドテンプレートv3</vt:lpstr>
      <vt:lpstr>人生体験の物語を与えることで LLMに性格や価値観は生まれるか</vt:lpstr>
      <vt:lpstr>背景</vt:lpstr>
      <vt:lpstr>人生グラフ</vt:lpstr>
      <vt:lpstr>実験デザイン</vt:lpstr>
      <vt:lpstr>データ収集手順</vt:lpstr>
      <vt:lpstr>データ収集手順</vt:lpstr>
      <vt:lpstr>データ収集</vt:lpstr>
      <vt:lpstr>データ収集</vt:lpstr>
      <vt:lpstr>分析方法</vt:lpstr>
      <vt:lpstr>分析方法</vt:lpstr>
      <vt:lpstr>結果：参加者との一致度</vt:lpstr>
      <vt:lpstr>結果：性格特性ごとの捉えやすさ</vt:lpstr>
      <vt:lpstr>結果：価値観ごとの捉えやすさ</vt:lpstr>
      <vt:lpstr>実験結果まとめ</vt:lpstr>
      <vt:lpstr>実験結果まとめ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f2210543</dc:creator>
  <cp:lastModifiedBy>f2210543</cp:lastModifiedBy>
  <cp:revision>67</cp:revision>
  <cp:lastPrinted>2025-09-25T13:51:22Z</cp:lastPrinted>
  <dcterms:created xsi:type="dcterms:W3CDTF">2025-09-22T08:22:16Z</dcterms:created>
  <dcterms:modified xsi:type="dcterms:W3CDTF">2026-02-08T15:30:59Z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0x0101003C3CF217828E6042B0093F254B016BAC</vt:lpwstr>
  </property>
</Properties>
</file>